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2f26a2f1ed14a5d" /><Relationship Type="http://schemas.openxmlformats.org/officeDocument/2006/relationships/extended-properties" Target="/docProps/app.xml" Id="R4cb42e6cbbe24107" /><Relationship Type="http://schemas.openxmlformats.org/officeDocument/2006/relationships/officeDocument" Target="/ppt/presentation.xml" Id="Rcf482790a92d4079" /></Relationships>
</file>

<file path=ppt/presentation.xml><?xml version="1.0" encoding="utf-8"?>
<p:presentation xmlns:p="http://schemas.openxmlformats.org/presentationml/2006/main">
  <p:sldMasterIdLst>
    <p:sldMasterId xmlns:r="http://schemas.openxmlformats.org/officeDocument/2006/relationships" id="2147483648" r:id="R6051b1b7c984488e"/>
  </p:sldMasterIdLst>
  <p:notesMasterIdLst>
    <p:notesMasterId xmlns:r="http://schemas.openxmlformats.org/officeDocument/2006/relationships" r:id="R5f4f4ac1d35d46b0"/>
  </p:notesMasterIdLst>
  <p:sldIdLst>
    <p:sldId xmlns:r="http://schemas.openxmlformats.org/officeDocument/2006/relationships" id="256" r:id="R472f67871f094c38"/>
    <p:sldId xmlns:r="http://schemas.openxmlformats.org/officeDocument/2006/relationships" id="257" r:id="R1aea549e1a3748ac"/>
    <p:sldId xmlns:r="http://schemas.openxmlformats.org/officeDocument/2006/relationships" id="258" r:id="Rfe310e4e1a5b4a45"/>
    <p:sldId xmlns:r="http://schemas.openxmlformats.org/officeDocument/2006/relationships" id="259" r:id="R04dc3bcb59a04da8"/>
    <p:sldId xmlns:r="http://schemas.openxmlformats.org/officeDocument/2006/relationships" id="260" r:id="Rbb4eeabf62dd47f6"/>
    <p:sldId xmlns:r="http://schemas.openxmlformats.org/officeDocument/2006/relationships" id="261" r:id="Rb62e45a574e04037"/>
    <p:sldId xmlns:r="http://schemas.openxmlformats.org/officeDocument/2006/relationships" id="262" r:id="R7749f36f96204694"/>
    <p:sldId xmlns:r="http://schemas.openxmlformats.org/officeDocument/2006/relationships" id="263" r:id="R3cf092f0641c40df"/>
    <p:sldId xmlns:r="http://schemas.openxmlformats.org/officeDocument/2006/relationships" id="264" r:id="R7fcf761ad2044416"/>
    <p:sldId xmlns:r="http://schemas.openxmlformats.org/officeDocument/2006/relationships" id="265" r:id="R9c70516b28f54f5e"/>
    <p:sldId xmlns:r="http://schemas.openxmlformats.org/officeDocument/2006/relationships" id="266" r:id="R0e5a371fc0b148cd"/>
    <p:sldId xmlns:r="http://schemas.openxmlformats.org/officeDocument/2006/relationships" id="267" r:id="Rae8d683ed8864e85"/>
    <p:sldId xmlns:r="http://schemas.openxmlformats.org/officeDocument/2006/relationships" id="268" r:id="R2a59389492ab46d0"/>
    <p:sldId xmlns:r="http://schemas.openxmlformats.org/officeDocument/2006/relationships" id="269" r:id="R51d32e891ef140b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95b0406b98c407f" /><Relationship Type="http://schemas.openxmlformats.org/officeDocument/2006/relationships/slideMaster" Target="/ppt/slideMasters/slideMaster1.xml" Id="R6051b1b7c984488e" /><Relationship Type="http://schemas.openxmlformats.org/officeDocument/2006/relationships/notesMaster" Target="/ppt/notesMasters/notesMaster1.xml" Id="R5f4f4ac1d35d46b0" /><Relationship Type="http://schemas.openxmlformats.org/officeDocument/2006/relationships/presProps" Target="/ppt/presProps.xml" Id="R5766141f685043ff" /><Relationship Type="http://schemas.openxmlformats.org/officeDocument/2006/relationships/tableStyles" Target="/ppt/tableStyles.xml" Id="Rb0ba85ee14174d02" /><Relationship Type="http://schemas.openxmlformats.org/officeDocument/2006/relationships/slide" Target="/ppt/slides/slide1.xml" Id="R472f67871f094c38" /><Relationship Type="http://schemas.openxmlformats.org/officeDocument/2006/relationships/slide" Target="/ppt/slides/slide2.xml" Id="R1aea549e1a3748ac" /><Relationship Type="http://schemas.openxmlformats.org/officeDocument/2006/relationships/slide" Target="/ppt/slides/slide3.xml" Id="Rfe310e4e1a5b4a45" /><Relationship Type="http://schemas.openxmlformats.org/officeDocument/2006/relationships/slide" Target="/ppt/slides/slide4.xml" Id="R04dc3bcb59a04da8" /><Relationship Type="http://schemas.openxmlformats.org/officeDocument/2006/relationships/slide" Target="/ppt/slides/slide5.xml" Id="Rbb4eeabf62dd47f6" /><Relationship Type="http://schemas.openxmlformats.org/officeDocument/2006/relationships/slide" Target="/ppt/slides/slide6.xml" Id="Rb62e45a574e04037" /><Relationship Type="http://schemas.openxmlformats.org/officeDocument/2006/relationships/slide" Target="/ppt/slides/slide7.xml" Id="R7749f36f96204694" /><Relationship Type="http://schemas.openxmlformats.org/officeDocument/2006/relationships/slide" Target="/ppt/slides/slide8.xml" Id="R3cf092f0641c40df" /><Relationship Type="http://schemas.openxmlformats.org/officeDocument/2006/relationships/slide" Target="/ppt/slides/slide9.xml" Id="R7fcf761ad2044416" /><Relationship Type="http://schemas.openxmlformats.org/officeDocument/2006/relationships/slide" Target="/ppt/slides/slide10.xml" Id="R9c70516b28f54f5e" /><Relationship Type="http://schemas.openxmlformats.org/officeDocument/2006/relationships/slide" Target="/ppt/slides/slide11.xml" Id="R0e5a371fc0b148cd" /><Relationship Type="http://schemas.openxmlformats.org/officeDocument/2006/relationships/slide" Target="/ppt/slides/slide12.xml" Id="Rae8d683ed8864e85" /><Relationship Type="http://schemas.openxmlformats.org/officeDocument/2006/relationships/slide" Target="/ppt/slides/slide13.xml" Id="R2a59389492ab46d0" /><Relationship Type="http://schemas.openxmlformats.org/officeDocument/2006/relationships/slide" Target="/ppt/slides/slide14.xml" Id="R51d32e891ef140b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eb6edef7084428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aa266c934af4226" /><Relationship Type="http://schemas.openxmlformats.org/officeDocument/2006/relationships/notesMaster" Target="/ppt/notesMasters/notesMaster1.xml" Id="R1501c46f865648c3" /></Relationships>
</file>

<file path=ppt/notesSlides/_rels/notesSlide2.xml.rels>&#65279;<?xml version="1.0" encoding="utf-8"?><Relationships xmlns="http://schemas.openxmlformats.org/package/2006/relationships"><Relationship Type="http://schemas.openxmlformats.org/officeDocument/2006/relationships/slide" Target="/ppt/slides/slide2.xml" Id="Rb4a6b9234cc44a03" /><Relationship Type="http://schemas.openxmlformats.org/officeDocument/2006/relationships/notesMaster" Target="/ppt/notesMasters/notesMaster1.xml" Id="Rb8653f1ba5f74b70" /></Relationships>
</file>

<file path=ppt/notesSlides/_rels/notesSlide3.xml.rels>&#65279;<?xml version="1.0" encoding="utf-8"?><Relationships xmlns="http://schemas.openxmlformats.org/package/2006/relationships"><Relationship Type="http://schemas.openxmlformats.org/officeDocument/2006/relationships/slide" Target="/ppt/slides/slide3.xml" Id="R5ad28883824f4294" /><Relationship Type="http://schemas.openxmlformats.org/officeDocument/2006/relationships/notesMaster" Target="/ppt/notesMasters/notesMaster1.xml" Id="R7e83649095bc4cee" /></Relationships>
</file>

<file path=ppt/notesSlides/_rels/notesSlide4.xml.rels>&#65279;<?xml version="1.0" encoding="utf-8"?><Relationships xmlns="http://schemas.openxmlformats.org/package/2006/relationships"><Relationship Type="http://schemas.openxmlformats.org/officeDocument/2006/relationships/slide" Target="/ppt/slides/slide4.xml" Id="Re706adfab1ec444f" /><Relationship Type="http://schemas.openxmlformats.org/officeDocument/2006/relationships/notesMaster" Target="/ppt/notesMasters/notesMaster1.xml" Id="R6b4d63f4654844ee" /></Relationships>
</file>

<file path=ppt/notesSlides/_rels/notesSlide5.xml.rels>&#65279;<?xml version="1.0" encoding="utf-8"?><Relationships xmlns="http://schemas.openxmlformats.org/package/2006/relationships"><Relationship Type="http://schemas.openxmlformats.org/officeDocument/2006/relationships/slide" Target="/ppt/slides/slide5.xml" Id="Rd437cafcc6aa4c6e" /><Relationship Type="http://schemas.openxmlformats.org/officeDocument/2006/relationships/notesMaster" Target="/ppt/notesMasters/notesMaster1.xml" Id="Rd486479b5ca34b6e" /></Relationships>
</file>

<file path=ppt/notesSlides/_rels/notesSlide6.xml.rels>&#65279;<?xml version="1.0" encoding="utf-8"?><Relationships xmlns="http://schemas.openxmlformats.org/package/2006/relationships"><Relationship Type="http://schemas.openxmlformats.org/officeDocument/2006/relationships/slide" Target="/ppt/slides/slide6.xml" Id="R2790ddab2f804d2c" /><Relationship Type="http://schemas.openxmlformats.org/officeDocument/2006/relationships/notesMaster" Target="/ppt/notesMasters/notesMaster1.xml" Id="R06ec421f76884c13" /></Relationships>
</file>

<file path=ppt/notesSlides/_rels/notesSlide7.xml.rels>&#65279;<?xml version="1.0" encoding="utf-8"?><Relationships xmlns="http://schemas.openxmlformats.org/package/2006/relationships"><Relationship Type="http://schemas.openxmlformats.org/officeDocument/2006/relationships/slide" Target="/ppt/slides/slide7.xml" Id="R64f107be346f49b4" /><Relationship Type="http://schemas.openxmlformats.org/officeDocument/2006/relationships/notesMaster" Target="/ppt/notesMasters/notesMaster1.xml" Id="R95582f3c4f9f4d9f" /></Relationships>
</file>

<file path=ppt/notesSlides/_rels/notesSlide8.xml.rels>&#65279;<?xml version="1.0" encoding="utf-8"?><Relationships xmlns="http://schemas.openxmlformats.org/package/2006/relationships"><Relationship Type="http://schemas.openxmlformats.org/officeDocument/2006/relationships/slide" Target="/ppt/slides/slide8.xml" Id="R57b2a007394e449e" /><Relationship Type="http://schemas.openxmlformats.org/officeDocument/2006/relationships/notesMaster" Target="/ppt/notesMasters/notesMaster1.xml" Id="Rce22b3183cf14efc" /></Relationships>
</file>

<file path=ppt/notesSlides/_rels/notesSlide9.xml.rels>&#65279;<?xml version="1.0" encoding="utf-8"?><Relationships xmlns="http://schemas.openxmlformats.org/package/2006/relationships"><Relationship Type="http://schemas.openxmlformats.org/officeDocument/2006/relationships/slide" Target="/ppt/slides/slide9.xml" Id="R2593512d409540ef" /><Relationship Type="http://schemas.openxmlformats.org/officeDocument/2006/relationships/notesMaster" Target="/ppt/notesMasters/notesMaster1.xml" Id="R19fddbb27d5749a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ecd951d7cad4a9f" /><Relationship Type="http://schemas.openxmlformats.org/officeDocument/2006/relationships/notesMaster" Target="/ppt/notesMasters/notesMaster1.xml" Id="Re9be0fd5de61411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95b77580d2149fd" /><Relationship Type="http://schemas.openxmlformats.org/officeDocument/2006/relationships/notesMaster" Target="/ppt/notesMasters/notesMaster1.xml" Id="R2bad23f5b3654cc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07477debc224be2" /><Relationship Type="http://schemas.openxmlformats.org/officeDocument/2006/relationships/notesMaster" Target="/ppt/notesMasters/notesMaster1.xml" Id="Re776dae7a3294f4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09b79ff41dc4db8" /><Relationship Type="http://schemas.openxmlformats.org/officeDocument/2006/relationships/notesMaster" Target="/ppt/notesMasters/notesMaster1.xml" Id="R77046a87494f44f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fe2b7ab6e5749ab" /><Relationship Type="http://schemas.openxmlformats.org/officeDocument/2006/relationships/notesMaster" Target="/ppt/notesMasters/notesMaster1.xml" Id="R0c13aa880b2e4b0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ユーザーが確認した日本語の違反判定一覧をPowerPoint形式で収録。対象はSunJSSEのTLS 1.3。</a:t>
            </a:r>
          </a:p>
          <a:p xmlns:a="http://schemas.openxmlformats.org/drawingml/2006/main">
            <a:r>
              <a:t/>
            </a:r>
          </a:p>
          <a:p xmlns:a="http://schemas.openxmlformats.org/drawingml/2006/main">
            <a:r>
              <a:t>根拠URL</a:t>
            </a:r>
          </a:p>
          <a:p xmlns:a="http://schemas.openxmlformats.org/drawingml/2006/main">
            <a:r>
              <a:t>https://www.ietf.org/ietf-ftp/rfc/rfc9846.html#section-6.2</a:t>
            </a:r>
          </a:p>
          <a:p xmlns:a="http://schemas.openxmlformats.org/drawingml/2006/main">
            <a:r>
              <a:t>https://github.com/openjdk/jdk21u/tree/9de4f68c88a0a1510373f291d1a95b1f6b0db8c8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対象コミット：9de4f68c88a0a1510373f291d1a95b1f6b0db8c8</a:t>
            </a:r>
          </a:p>
          <a:p xmlns:a="http://schemas.openxmlformats.org/drawingml/2006/main">
            <a:r>
              <a:t>比較GA：890adb6410dab4606a4f26a942aed02fb2f55387</a:t>
            </a:r>
          </a:p>
          <a:p xmlns:a="http://schemas.openxmlformats.org/drawingml/2006/main">
            <a:r>
              <a:t>133ファイルにはTLS 1.2以前・DTLSも同居する。484件はTLS 1.3専用の呼出し件数ではなく、対象26種類のAlert定数参照件数。そのうち直接fatal指定は466件。変数・戻り値による選択も別途追跡。全入力や全例外の適合性の形式証明ではない。</a:t>
            </a:r>
          </a:p>
          <a:p xmlns:a="http://schemas.openxmlformats.org/drawingml/2006/main">
            <a:r>
              <a:t/>
            </a:r>
          </a:p>
          <a:p xmlns:a="http://schemas.openxmlformats.org/drawingml/2006/main">
            <a:r>
              <a:t>根拠URL</a:t>
            </a:r>
          </a:p>
          <a:p xmlns:a="http://schemas.openxmlformats.org/drawingml/2006/main">
            <a:r>
              <a:t>https://github.com/openjdk/jdk21u/blob/9de4f68c88a0a1510373f291d1a95b1f6b0db8c8/src/java.base/share/classes/sun/security/ssl/Alert.java#L42</a:t>
            </a:r>
          </a:p>
          <a:p xmlns:a="http://schemas.openxmlformats.org/drawingml/2006/main">
            <a:r>
              <a:t>https://www.ietf.org/ietf-ftp/rfc/rfc9846.html#section-6.2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特定Xアラートで中止せよという規定は、アラートを送る場合にXを選ぶことを要求する。SHOULDは合理的な例外を許し得るが自由に無視できるわけではない。同じ事象を期待番号と実装番号の両行に記載するため、違反行数を独立した不具合件数として合算しない。</a:t>
            </a:r>
          </a:p>
          <a:p xmlns:a="http://schemas.openxmlformats.org/drawingml/2006/main">
            <a:r>
              <a:t/>
            </a:r>
          </a:p>
          <a:p xmlns:a="http://schemas.openxmlformats.org/drawingml/2006/main">
            <a:r>
              <a:t>根拠URL</a:t>
            </a:r>
          </a:p>
          <a:p xmlns:a="http://schemas.openxmlformats.org/drawingml/2006/main">
            <a:r>
              <a:t>https://www.ietf.org/ietf-ftp/rfc/rfc9846.html#section-6.2</a:t>
            </a:r>
          </a:p>
          <a:p xmlns:a="http://schemas.openxmlformats.org/drawingml/2006/main">
            <a:r>
              <a:t>https://www.rfc-editor.org/rfc/rfc2119.html#section-3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レコード長の例は、TLS 1.3の上限を超え、さらに実装の大きい互換上限を超える条件を含む。受信長チェックのSSLProtocolExceptionが共通処理で10になる。全長境界の異常入力試験は未実施。</a:t>
            </a:r>
          </a:p>
          <a:p xmlns:a="http://schemas.openxmlformats.org/drawingml/2006/main">
            <a:r>
              <a:t/>
            </a:r>
          </a:p>
          <a:p xmlns:a="http://schemas.openxmlformats.org/drawingml/2006/main">
            <a:r>
              <a:t>根拠URL</a:t>
            </a:r>
          </a:p>
          <a:p xmlns:a="http://schemas.openxmlformats.org/drawingml/2006/main">
            <a:r>
              <a:t>https://github.com/openjdk/jdk21u/blob/9de4f68c88a0a1510373f291d1a95b1f6b0db8c8/src/java.base/share/classes/sun/security/ssl/CertificateVerify.java#L1014</a:t>
            </a:r>
          </a:p>
          <a:p xmlns:a="http://schemas.openxmlformats.org/drawingml/2006/main">
            <a:r>
              <a:t>https://github.com/openjdk/jdk21u/blob/9de4f68c88a0a1510373f291d1a95b1f6b0db8c8/src/java.base/share/classes/sun/security/ssl/KeyUpdate.java#L80</a:t>
            </a:r>
          </a:p>
          <a:p xmlns:a="http://schemas.openxmlformats.org/drawingml/2006/main">
            <a:r>
              <a:t>https://github.com/openjdk/jdk21u/blob/9de4f68c88a0a1510373f291d1a95b1f6b0db8c8/src/java.base/share/classes/sun/security/ssl/SSLTransport.java#L144</a:t>
            </a:r>
          </a:p>
          <a:p xmlns:a="http://schemas.openxmlformats.org/drawingml/2006/main">
            <a:r>
              <a:t>https://github.com/openjdk/jdk21u/blob/9de4f68c88a0a1510373f291d1a95b1f6b0db8c8/src/java.base/share/classes/sun/security/ssl/AlpnExtension.java#L475</a:t>
            </a:r>
          </a:p>
          <a:p xmlns:a="http://schemas.openxmlformats.org/drawingml/2006/main">
            <a:r>
              <a:t>https://www.ietf.org/ietf-ftp/rfc/rfc9846.html#section-4.5.2</a:t>
            </a:r>
          </a:p>
          <a:p xmlns:a="http://schemas.openxmlformats.org/drawingml/2006/main">
            <a:r>
              <a:t>https://www.ietf.org/ietf-ftp/rfc/rfc9846.html#section-6</a:t>
            </a:r>
          </a:p>
          <a:p xmlns:a="http://schemas.openxmlformats.org/drawingml/2006/main">
            <a:r>
              <a:t>https://www.ietf.org/ietf-ftp/rfc/rfc9846.html#section-5.2</a:t>
            </a:r>
          </a:p>
          <a:p xmlns:a="http://schemas.openxmlformats.org/drawingml/2006/main">
            <a:r>
              <a:t>https://www.ietf.org/ietf-ftp/rfc/rfc9846.html#section-4.3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unexpected_message】</a:t>
            </a:r>
          </a:p>
          <a:p xmlns:a="http://schemas.openxmlformats.org/drawingml/2006/main">
            <a:r>
              <a:t>RFC条件：不適切なメッセージ、順序違反、早過ぎるApplication Data。</a:t>
            </a:r>
          </a:p>
          <a:p xmlns:a="http://schemas.openxmlformats.org/drawingml/2006/main">
            <a:r>
              <a:t>定義：あり</a:t>
            </a:r>
          </a:p>
          <a:p xmlns:a="http://schemas.openxmlformats.org/drawingml/2006/main">
            <a:r>
              <a:t>静的評価：経路あり・相違あり</a:t>
            </a:r>
          </a:p>
          <a:p xmlns:a="http://schemas.openxmlformats.org/drawingml/2006/main">
            <a:r>
              <a:t>RFC違反の判定：違反あり（MUST不一致）</a:t>
            </a:r>
          </a:p>
          <a:p xmlns:a="http://schemas.openxmlformats.org/drawingml/2006/main">
            <a:r>
              <a:t>判定理由：復号後に非ゼロのcontent typeがない条件では§5.4が10を指定するが、BadPaddingException経由で40または20を選ぶ。</a:t>
            </a:r>
          </a:p>
          <a:p xmlns:a="http://schemas.openxmlformats.org/drawingml/2006/main">
            <a:r>
              <a:t>詳細：通常の状態違反を10にする経路はある。一方、TLS 1.3復号後のinner plaintextに非ゼロのcontent typeがない場合は {SSLCipher.java:1928} のBadPaddingExceptionを {SSLTransport.java:124} が40または20に変換する。RFC §5.4はこの場合10を指定する。0-RTTやpost-handshake client authenticationの未提供機能まで対応したという意味ではない。</a:t>
            </a:r>
          </a:p>
          <a:p xmlns:a="http://schemas.openxmlformats.org/drawingml/2006/main">
            <a:r>
              <a:t>送信経路：メッセージ種別・順序検査 {TransportContext.java:174}、{HandshakeContext.java:471}。</a:t>
            </a:r>
          </a:p>
          <a:p xmlns:a="http://schemas.openxmlformats.org/drawingml/2006/main">
            <a:r>
              <a:t>根拠：</a:t>
            </a:r>
          </a:p>
          <a:p xmlns:a="http://schemas.openxmlformats.org/drawingml/2006/main">
            <a:r>
              <a:t>https://www.ietf.org/ietf-ftp/rfc/rfc9846.html#section-5.4</a:t>
            </a:r>
          </a:p>
          <a:p xmlns:a="http://schemas.openxmlformats.org/drawingml/2006/main">
            <a:r>
              <a:t>https://www.ietf.org/ietf-ftp/rfc/rfc9846.html#section-6.2</a:t>
            </a:r>
          </a:p>
          <a:p xmlns:a="http://schemas.openxmlformats.org/drawingml/2006/main">
            <a:r>
              <a:t>https://github.com/openjdk/jdk21u/blob/9de4f68c88a0a1510373f291d1a95b1f6b0db8c8/src/java.base/share/classes/sun/security/ssl/SSLCipher.java#L1928</a:t>
            </a:r>
          </a:p>
          <a:p xmlns:a="http://schemas.openxmlformats.org/drawingml/2006/main">
            <a:r>
              <a:t>https://github.com/openjdk/jdk21u/blob/9de4f68c88a0a1510373f291d1a95b1f6b0db8c8/src/java.base/share/classes/sun/security/ssl/SSLTransport.java#L132</a:t>
            </a:r>
          </a:p>
          <a:p xmlns:a="http://schemas.openxmlformats.org/drawingml/2006/main">
            <a:r>
              <a:t>https://github.com/openjdk/jdk21u/blob/9de4f68c88a0a1510373f291d1a95b1f6b0db8c8/src/java.base/share/classes/sun/security/ssl/TransportContext.java#L174</a:t>
            </a:r>
          </a:p>
          <a:p xmlns:a="http://schemas.openxmlformats.org/drawingml/2006/main">
            <a:r>
              <a:t>https://github.com/openjdk/jdk21u/blob/9de4f68c88a0a1510373f291d1a95b1f6b0db8c8/src/java.base/share/classes/sun/security/ssl/HandshakeContext.java#L471</a:t>
            </a:r>
          </a:p>
          <a:p xmlns:a="http://schemas.openxmlformats.org/drawingml/2006/main">
            <a:r>
              <a:t>https://github.com/openjdk/jdk21u/blob/9de4f68c88a0a1510373f291d1a95b1f6b0db8c8/src/java.base/share/classes/sun/security/ssl/SSLTransport.java#L124</a:t>
            </a:r>
          </a:p>
          <a:p xmlns:a="http://schemas.openxmlformats.org/drawingml/2006/main">
            <a:r>
              <a:t>https://github.com/openjdk/jdk21u/blob/9de4f68c88a0a1510373f291d1a95b1f6b0db8c8/src/java.base/share/classes/sun/security/ssl/Alert.java#L43</a:t>
            </a:r>
          </a:p>
          <a:p xmlns:a="http://schemas.openxmlformats.org/drawingml/2006/main">
            <a:r>
              <a:t>対象133ファイルにおける当該Alertの全明示参照索引（定義行を除く）：</a:t>
            </a:r>
          </a:p>
          <a:p xmlns:a="http://schemas.openxmlformats.org/drawingml/2006/main">
            <a:r>
              <a:t>Alert.java:244 [direct fatal call] https://github.com/openjdk/jdk21u/blob/9de4f68c88a0a1510373f291d1a95b1f6b0db8c8/src/java.base/share/classes/sun/security/ssl/Alert.java#L244</a:t>
            </a:r>
          </a:p>
          <a:p xmlns:a="http://schemas.openxmlformats.org/drawingml/2006/main">
            <a:r>
              <a:t>Alert.java:293 [receive / comparison] https://github.com/openjdk/jdk21u/blob/9de4f68c88a0a1510373f291d1a95b1f6b0db8c8/src/java.base/share/classes/sun/security/ssl/Alert.java#L293</a:t>
            </a:r>
          </a:p>
          <a:p xmlns:a="http://schemas.openxmlformats.org/drawingml/2006/main">
            <a:r>
              <a:t>AlpnExtension.java:475 [direct fatal call] https://github.com/openjdk/jdk21u/blob/9de4f68c88a0a1510373f291d1a95b1f6b0db8c8/src/java.base/share/classes/sun/security/ssl/AlpnExtension.java#L475</a:t>
            </a:r>
          </a:p>
          <a:p xmlns:a="http://schemas.openxmlformats.org/drawingml/2006/main">
            <a:r>
              <a:t>AlpnExtension.java:484 [direct fatal call] https://github.com/openjdk/jdk21u/blob/9de4f68c88a0a1510373f291d1a95b1f6b0db8c8/src/java.base/share/classes/sun/security/ssl/AlpnExtension.java#L484</a:t>
            </a:r>
          </a:p>
          <a:p xmlns:a="http://schemas.openxmlformats.org/drawingml/2006/main">
            <a:r>
              <a:t>AlpnExtension.java:493 [direct fatal call] https://github.com/openjdk/jdk21u/blob/9de4f68c88a0a1510373f291d1a95b1f6b0db8c8/src/java.base/share/classes/sun/security/ssl/AlpnExtension.java#L493</a:t>
            </a:r>
          </a:p>
          <a:p xmlns:a="http://schemas.openxmlformats.org/drawingml/2006/main">
            <a:r>
              <a:t>CertificateMessage.java:1097 [direct fatal call] https://github.com/openjdk/jdk21u/blob/9de4f68c88a0a1510373f291d1a95b1f6b0db8c8/src/java.base/share/classes/sun/security/ssl/CertificateMessage.java#L1097</a:t>
            </a:r>
          </a:p>
          <a:p xmlns:a="http://schemas.openxmlformats.org/drawingml/2006/main">
            <a:r>
              <a:t>CertificateRequest.java:348 [direct fatal call] https://github.com/openjdk/jdk21u/blob/9de4f68c88a0a1510373f291d1a95b1f6b0db8c8/src/java.base/share/classes/sun/security/ssl/CertificateRequest.java#L348</a:t>
            </a:r>
          </a:p>
          <a:p xmlns:a="http://schemas.openxmlformats.org/drawingml/2006/main">
            <a:r>
              <a:t>CertificateRequest.java:705 [direct fatal call] https://github.com/openjdk/jdk21u/blob/9de4f68c88a0a1510373f291d1a95b1f6b0db8c8/src/java.base/share/classes/sun/security/ssl/CertificateRequest.java#L705</a:t>
            </a:r>
          </a:p>
          <a:p xmlns:a="http://schemas.openxmlformats.org/drawingml/2006/main">
            <a:r>
              <a:t>CertificateRequest.java:982 [direct fatal call] https://github.com/openjdk/jdk21u/blob/9de4f68c88a0a1510373f291d1a95b1f6b0db8c8/src/java.base/share/classes/sun/security/ssl/CertificateRequest.java#L982</a:t>
            </a:r>
          </a:p>
          <a:p xmlns:a="http://schemas.openxmlformats.org/drawingml/2006/main">
            <a:r>
              <a:t>CertificateVerify.java:297 [direct fatal call] https://github.com/openjdk/jdk21u/blob/9de4f68c88a0a1510373f291d1a95b1f6b0db8c8/src/java.base/share/classes/sun/security/ssl/CertificateVerify.java#L297</a:t>
            </a:r>
          </a:p>
          <a:p xmlns:a="http://schemas.openxmlformats.org/drawingml/2006/main">
            <a:r>
              <a:t>CertificateVerify.java:552 [direct fatal call] https://github.com/openjdk/jdk21u/blob/9de4f68c88a0a1510373f291d1a95b1f6b0db8c8/src/java.base/share/classes/sun/security/ssl/CertificateVerify.java#L552</a:t>
            </a:r>
          </a:p>
          <a:p xmlns:a="http://schemas.openxmlformats.org/drawingml/2006/main">
            <a:r>
              <a:t>CertificateVerify.java:803 [direct fatal call] https://github.com/openjdk/jdk21u/blob/9de4f68c88a0a1510373f291d1a95b1f6b0db8c8/src/java.base/share/classes/sun/security/ssl/CertificateVerify.java#L803</a:t>
            </a:r>
          </a:p>
          <a:p xmlns:a="http://schemas.openxmlformats.org/drawingml/2006/main">
            <a:r>
              <a:t>CertificateVerify.java:1170 [direct fatal call] https://github.com/openjdk/jdk21u/blob/9de4f68c88a0a1510373f291d1a95b1f6b0db8c8/src/java.base/share/classes/sun/security/ssl/CertificateVerify.java#L1170</a:t>
            </a:r>
          </a:p>
          <a:p xmlns:a="http://schemas.openxmlformats.org/drawingml/2006/main">
            <a:r>
              <a:t>CertStatusExtension.java:711 [direct fatal call] https://github.com/openjdk/jdk21u/blob/9de4f68c88a0a1510373f291d1a95b1f6b0db8c8/src/java.base/share/classes/sun/security/ssl/CertStatusExtension.java#L711</a:t>
            </a:r>
          </a:p>
          <a:p xmlns:a="http://schemas.openxmlformats.org/drawingml/2006/main">
            <a:r>
              <a:t>CertStatusExtension.java:717 [direct fatal call] https://github.com/openjdk/jdk21u/blob/9de4f68c88a0a1510373f291d1a95b1f6b0db8c8/src/java.base/share/classes/sun/security/ssl/CertStatusExtension.java#L717</a:t>
            </a:r>
          </a:p>
          <a:p xmlns:a="http://schemas.openxmlformats.org/drawingml/2006/main">
            <a:r>
              <a:t>CertStatusExtension.java:1071 [direct fatal call] https://github.com/openjdk/jdk21u/blob/9de4f68c88a0a1510373f291d1a95b1f6b0db8c8/src/java.base/share/classes/sun/security/ssl/CertStatusExtension.java#L1071</a:t>
            </a:r>
          </a:p>
          <a:p xmlns:a="http://schemas.openxmlformats.org/drawingml/2006/main">
            <a:r>
              <a:t>CertStatusExtension.java:1077 [direct fatal call] https://github.com/openjdk/jdk21u/blob/9de4f68c88a0a1510373f291d1a95b1f6b0db8c8/src/java.base/share/classes/sun/security/ssl/CertStatusExtension.java#L1077</a:t>
            </a:r>
          </a:p>
          <a:p xmlns:a="http://schemas.openxmlformats.org/drawingml/2006/main">
            <a:r>
              <a:t>ChangeCipherSpec.java:144 [direct fatal call] https://github.com/openjdk/jdk21u/blob/9de4f68c88a0a1510373f291d1a95b1f6b0db8c8/src/java.base/share/classes/sun/security/ssl/ChangeCipherSpec.java#L144</a:t>
            </a:r>
          </a:p>
          <a:p xmlns:a="http://schemas.openxmlformats.org/drawingml/2006/main">
            <a:r>
              <a:t>ChangeCipherSpec.java:161 [direct fatal call] https://github.com/openjdk/jdk21u/blob/9de4f68c88a0a1510373f291d1a95b1f6b0db8c8/src/java.base/share/classes/sun/security/ssl/ChangeCipherSpec.java#L161</a:t>
            </a:r>
          </a:p>
          <a:p xmlns:a="http://schemas.openxmlformats.org/drawingml/2006/main">
            <a:r>
              <a:t>ChangeCipherSpec.java:240 [direct fatal call] https://github.com/openjdk/jdk21u/blob/9de4f68c88a0a1510373f291d1a95b1f6b0db8c8/src/java.base/share/classes/sun/security/ssl/ChangeCipherSpec.java#L240</a:t>
            </a:r>
          </a:p>
          <a:p xmlns:a="http://schemas.openxmlformats.org/drawingml/2006/main">
            <a:r>
              <a:t>ClientHello.java:781 [direct fatal call] https://github.com/openjdk/jdk21u/blob/9de4f68c88a0a1510373f291d1a95b1f6b0db8c8/src/java.base/share/classes/sun/security/ssl/ClientHello.java#L781</a:t>
            </a:r>
          </a:p>
          <a:p xmlns:a="http://schemas.openxmlformats.org/drawingml/2006/main">
            <a:r>
              <a:t>ClientHello.java:1138 [direct fatal call] https://github.com/openjdk/jdk21u/blob/9de4f68c88a0a1510373f291d1a95b1f6b0db8c8/src/java.base/share/classes/sun/security/ssl/ClientHello.java#L1138</a:t>
            </a:r>
          </a:p>
          <a:p xmlns:a="http://schemas.openxmlformats.org/drawingml/2006/main">
            <a:r>
              <a:t>ClientKeyExchange.java:71 [direct fatal call] https://github.com/openjdk/jdk21u/blob/9de4f68c88a0a1510373f291d1a95b1f6b0db8c8/src/java.base/share/classes/sun/security/ssl/ClientKeyExchange.java#L71</a:t>
            </a:r>
          </a:p>
          <a:p xmlns:a="http://schemas.openxmlformats.org/drawingml/2006/main">
            <a:r>
              <a:t>ClientKeyExchange.java:99 [direct fatal call] https://github.com/openjdk/jdk21u/blob/9de4f68c88a0a1510373f291d1a95b1f6b0db8c8/src/java.base/share/classes/sun/security/ssl/ClientKeyExchange.java#L99</a:t>
            </a:r>
          </a:p>
          <a:p xmlns:a="http://schemas.openxmlformats.org/drawingml/2006/main">
            <a:r>
              <a:t>ClientKeyExchange.java:117 [direct fatal call] https://github.com/openjdk/jdk21u/blob/9de4f68c88a0a1510373f291d1a95b1f6b0db8c8/src/java.base/share/classes/sun/security/ssl/ClientKeyExchange.java#L117</a:t>
            </a:r>
          </a:p>
          <a:p xmlns:a="http://schemas.openxmlformats.org/drawingml/2006/main">
            <a:r>
              <a:t>CookieExtension.java:199 [direct fatal call] https://github.com/openjdk/jdk21u/blob/9de4f68c88a0a1510373f291d1a95b1f6b0db8c8/src/java.base/share/classes/sun/security/ssl/CookieExtension.java#L199</a:t>
            </a:r>
          </a:p>
          <a:p xmlns:a="http://schemas.openxmlformats.org/drawingml/2006/main">
            <a:r>
              <a:t>ECDHClientKeyExchange.java:335 [direct fatal call] https://github.com/openjdk/jdk21u/blob/9de4f68c88a0a1510373f291d1a95b1f6b0db8c8/src/java.base/share/classes/sun/security/ssl/ECDHClientKeyExchange.java#L335</a:t>
            </a:r>
          </a:p>
          <a:p xmlns:a="http://schemas.openxmlformats.org/drawingml/2006/main">
            <a:r>
              <a:t>ECDHClientKeyExchange.java:519 [direct fatal call] https://github.com/openjdk/jdk21u/blob/9de4f68c88a0a1510373f291d1a95b1f6b0db8c8/src/java.base/share/classes/sun/security/ssl/ECDHClientKeyExchange.java#L519</a:t>
            </a:r>
          </a:p>
          <a:p xmlns:a="http://schemas.openxmlformats.org/drawingml/2006/main">
            <a:r>
              <a:t>ECDHServerKeyExchange.java:233 [direct fatal call] https://github.com/openjdk/jdk21u/blob/9de4f68c88a0a1510373f291d1a95b1f6b0db8c8/src/java.base/share/classes/sun/security/ssl/ECDHServerKeyExchange.java#L233</a:t>
            </a:r>
          </a:p>
          <a:p xmlns:a="http://schemas.openxmlformats.org/drawingml/2006/main">
            <a:r>
              <a:t>ECPointFormatsExtension.java:236 [direct fatal call] https://github.com/openjdk/jdk21u/blob/9de4f68c88a0a1510373f291d1a95b1f6b0db8c8/src/java.base/share/classes/sun/security/ssl/ECPointFormatsExtension.java#L236</a:t>
            </a:r>
          </a:p>
          <a:p xmlns:a="http://schemas.openxmlformats.org/drawingml/2006/main">
            <a:r>
              <a:t>ECPointFormatsExtension.java:271 [direct fatal call] https://github.com/openjdk/jdk21u/blob/9de4f68c88a0a1510373f291d1a95b1f6b0db8c8/src/java.base/share/classes/sun/security/ssl/ECPointFormatsExtension.java#L271</a:t>
            </a:r>
          </a:p>
          <a:p xmlns:a="http://schemas.openxmlformats.org/drawingml/2006/main">
            <a:r>
              <a:t>ECPointFormatsExtension.java:280 [direct fatal call] https://github.com/openjdk/jdk21u/blob/9de4f68c88a0a1510373f291d1a95b1f6b0db8c8/src/java.base/share/classes/sun/security/ssl/ECPointFormatsExtension.java#L280</a:t>
            </a:r>
          </a:p>
          <a:p xmlns:a="http://schemas.openxmlformats.org/drawingml/2006/main">
            <a:r>
              <a:t>Finished.java:533 [direct fatal call] https://github.com/openjdk/jdk21u/blob/9de4f68c88a0a1510373f291d1a95b1f6b0db8c8/src/java.base/share/classes/sun/security/ssl/Finished.java#L533</a:t>
            </a:r>
          </a:p>
          <a:p xmlns:a="http://schemas.openxmlformats.org/drawingml/2006/main">
            <a:r>
              <a:t>Finished.java:601 [direct fatal call] https://github.com/openjdk/jdk21u/blob/9de4f68c88a0a1510373f291d1a95b1f6b0db8c8/src/java.base/share/classes/sun/security/ssl/Finished.java#L601</a:t>
            </a:r>
          </a:p>
          <a:p xmlns:a="http://schemas.openxmlformats.org/drawingml/2006/main">
            <a:r>
              <a:t>Finished.java:907 [direct fatal call] https://github.com/openjdk/jdk21u/blob/9de4f68c88a0a1510373f291d1a95b1f6b0db8c8/src/java.base/share/classes/sun/security/ssl/Finished.java#L907</a:t>
            </a:r>
          </a:p>
          <a:p xmlns:a="http://schemas.openxmlformats.org/drawingml/2006/main">
            <a:r>
              <a:t>Finished.java:918 [direct fatal call] https://github.com/openjdk/jdk21u/blob/9de4f68c88a0a1510373f291d1a95b1f6b0db8c8/src/java.base/share/classes/sun/security/ssl/Finished.java#L918</a:t>
            </a:r>
          </a:p>
          <a:p xmlns:a="http://schemas.openxmlformats.org/drawingml/2006/main">
            <a:r>
              <a:t>Finished.java:1052 [direct fatal call] https://github.com/openjdk/jdk21u/blob/9de4f68c88a0a1510373f291d1a95b1f6b0db8c8/src/java.base/share/classes/sun/security/ssl/Finished.java#L1052</a:t>
            </a:r>
          </a:p>
          <a:p xmlns:a="http://schemas.openxmlformats.org/drawingml/2006/main">
            <a:r>
              <a:t>HandshakeContext.java:367 [direct fatal call] https://github.com/openjdk/jdk21u/blob/9de4f68c88a0a1510373f291d1a95b1f6b0db8c8/src/java.base/share/classes/sun/security/ssl/HandshakeContext.java#L367</a:t>
            </a:r>
          </a:p>
          <a:p xmlns:a="http://schemas.openxmlformats.org/drawingml/2006/main">
            <a:r>
              <a:t>HandshakeContext.java:374 [direct fatal call] https://github.com/openjdk/jdk21u/blob/9de4f68c88a0a1510373f291d1a95b1f6b0db8c8/src/java.base/share/classes/sun/security/ssl/HandshakeContext.java#L374</a:t>
            </a:r>
          </a:p>
          <a:p xmlns:a="http://schemas.openxmlformats.org/drawingml/2006/main">
            <a:r>
              <a:t>HandshakeContext.java:471 [direct fatal call] https://github.com/openjdk/jdk21u/blob/9de4f68c88a0a1510373f291d1a95b1f6b0db8c8/src/java.base/share/classes/sun/security/ssl/HandshakeContext.java#L471</a:t>
            </a:r>
          </a:p>
          <a:p xmlns:a="http://schemas.openxmlformats.org/drawingml/2006/main">
            <a:r>
              <a:t>HandshakeContext.java:479 [direct fatal call] https://github.com/openjdk/jdk21u/blob/9de4f68c88a0a1510373f291d1a95b1f6b0db8c8/src/java.base/share/classes/sun/security/ssl/HandshakeContext.java#L479</a:t>
            </a:r>
          </a:p>
          <a:p xmlns:a="http://schemas.openxmlformats.org/drawingml/2006/main">
            <a:r>
              <a:t>HelloVerifyRequest.java:190 [direct fatal call] https://github.com/openjdk/jdk21u/blob/9de4f68c88a0a1510373f291d1a95b1f6b0db8c8/src/java.base/share/classes/sun/security/ssl/HelloVerifyRequest.java#L190</a:t>
            </a:r>
          </a:p>
          <a:p xmlns:a="http://schemas.openxmlformats.org/drawingml/2006/main">
            <a:r>
              <a:t>KeyShareExtension.java:635 [direct fatal call] https://github.com/openjdk/jdk21u/blob/9de4f68c88a0a1510373f291d1a95b1f6b0db8c8/src/java.base/share/classes/sun/security/ssl/KeyShareExtension.java#L635</a:t>
            </a:r>
          </a:p>
          <a:p xmlns:a="http://schemas.openxmlformats.org/drawingml/2006/main">
            <a:r>
              <a:t>KeyShareExtension.java:641 [direct fatal call] https://github.com/openjdk/jdk21u/blob/9de4f68c88a0a1510373f291d1a95b1f6b0db8c8/src/java.base/share/classes/sun/security/ssl/KeyShareExtension.java#L641</a:t>
            </a:r>
          </a:p>
          <a:p xmlns:a="http://schemas.openxmlformats.org/drawingml/2006/main">
            <a:r>
              <a:t>KeyShareExtension.java:651 [direct fatal call] https://github.com/openjdk/jdk21u/blob/9de4f68c88a0a1510373f291d1a95b1f6b0db8c8/src/java.base/share/classes/sun/security/ssl/KeyShareExtension.java#L651</a:t>
            </a:r>
          </a:p>
          <a:p xmlns:a="http://schemas.openxmlformats.org/drawingml/2006/main">
            <a:r>
              <a:t>KeyShareExtension.java:658 [direct fatal call] https://github.com/openjdk/jdk21u/blob/9de4f68c88a0a1510373f291d1a95b1f6b0db8c8/src/java.base/share/classes/sun/security/ssl/KeyShareExtension.java#L658</a:t>
            </a:r>
          </a:p>
          <a:p xmlns:a="http://schemas.openxmlformats.org/drawingml/2006/main">
            <a:r>
              <a:t>KeyShareExtension.java:682 [direct fatal call] https://github.com/openjdk/jdk21u/blob/9de4f68c88a0a1510373f291d1a95b1f6b0db8c8/src/java.base/share/classes/sun/security/ssl/KeyShareExtension.java#L682</a:t>
            </a:r>
          </a:p>
          <a:p xmlns:a="http://schemas.openxmlformats.org/drawingml/2006/main">
            <a:r>
              <a:t>KeyShareExtension.java:688 [direct fatal call] https://github.com/openjdk/jdk21u/blob/9de4f68c88a0a1510373f291d1a95b1f6b0db8c8/src/java.base/share/classes/sun/security/ssl/KeyShareExtension.java#L688</a:t>
            </a:r>
          </a:p>
          <a:p xmlns:a="http://schemas.openxmlformats.org/drawingml/2006/main">
            <a:r>
              <a:t>KeyShareExtension.java:789 [direct fatal call] https://github.com/openjdk/jdk21u/blob/9de4f68c88a0a1510373f291d1a95b1f6b0db8c8/src/java.base/share/classes/sun/security/ssl/KeyShareExtension.java#L789</a:t>
            </a:r>
          </a:p>
          <a:p xmlns:a="http://schemas.openxmlformats.org/drawingml/2006/main">
            <a:r>
              <a:t>KeyShareExtension.java:796 [direct fatal call] https://github.com/openjdk/jdk21u/blob/9de4f68c88a0a1510373f291d1a95b1f6b0db8c8/src/java.base/share/classes/sun/security/ssl/KeyShareExtension.java#L796</a:t>
            </a:r>
          </a:p>
          <a:p xmlns:a="http://schemas.openxmlformats.org/drawingml/2006/main">
            <a:r>
              <a:t>KeyShareExtension.java:817 [direct fatal call] https://github.com/openjdk/jdk21u/blob/9de4f68c88a0a1510373f291d1a95b1f6b0db8c8/src/java.base/share/classes/sun/security/ssl/KeyShareExtension.java#L817</a:t>
            </a:r>
          </a:p>
          <a:p xmlns:a="http://schemas.openxmlformats.org/drawingml/2006/main">
            <a:r>
              <a:t>KeyShareExtension.java:853 [direct fatal call] https://github.com/openjdk/jdk21u/blob/9de4f68c88a0a1510373f291d1a95b1f6b0db8c8/src/java.base/share/classes/sun/security/ssl/KeyShareExtension.java#L853</a:t>
            </a:r>
          </a:p>
          <a:p xmlns:a="http://schemas.openxmlformats.org/drawingml/2006/main">
            <a:r>
              <a:t>KeyShareExtension.java:892 [direct fatal call] https://github.com/openjdk/jdk21u/blob/9de4f68c88a0a1510373f291d1a95b1f6b0db8c8/src/java.base/share/classes/sun/security/ssl/KeyShareExtension.java#L892</a:t>
            </a:r>
          </a:p>
          <a:p xmlns:a="http://schemas.openxmlformats.org/drawingml/2006/main">
            <a:r>
              <a:t>KeyShareExtension.java:899 [direct fatal call] https://github.com/openjdk/jdk21u/blob/9de4f68c88a0a1510373f291d1a95b1f6b0db8c8/src/java.base/share/classes/sun/security/ssl/KeyShareExtension.java#L899</a:t>
            </a:r>
          </a:p>
          <a:p xmlns:a="http://schemas.openxmlformats.org/drawingml/2006/main">
            <a:r>
              <a:t>MaxFragExtension.java:357 [direct fatal call] https://github.com/openjdk/jdk21u/blob/9de4f68c88a0a1510373f291d1a95b1f6b0db8c8/src/java.base/share/classes/sun/security/ssl/MaxFragExtension.java#L357</a:t>
            </a:r>
          </a:p>
          <a:p xmlns:a="http://schemas.openxmlformats.org/drawingml/2006/main">
            <a:r>
              <a:t>MaxFragExtension.java:523 [direct fatal call] https://github.com/openjdk/jdk21u/blob/9de4f68c88a0a1510373f291d1a95b1f6b0db8c8/src/java.base/share/classes/sun/security/ssl/MaxFragExtension.java#L523</a:t>
            </a:r>
          </a:p>
          <a:p xmlns:a="http://schemas.openxmlformats.org/drawingml/2006/main">
            <a:r>
              <a:t>PostHandshakeContext.java:42 [direct fatal call] https://github.com/openjdk/jdk21u/blob/9de4f68c88a0a1510373f291d1a95b1f6b0db8c8/src/java.base/share/classes/sun/security/ssl/PostHandshakeContext.java#L42</a:t>
            </a:r>
          </a:p>
          <a:p xmlns:a="http://schemas.openxmlformats.org/drawingml/2006/main">
            <a:r>
              <a:t>PostHandshakeContext.java:76 [direct fatal call] https://github.com/openjdk/jdk21u/blob/9de4f68c88a0a1510373f291d1a95b1f6b0db8c8/src/java.base/share/classes/sun/security/ssl/PostHandshakeContext.java#L76</a:t>
            </a:r>
          </a:p>
          <a:p xmlns:a="http://schemas.openxmlformats.org/drawingml/2006/main">
            <a:r>
              <a:t>PostHandshakeContext.java:84 [direct fatal call] https://github.com/openjdk/jdk21u/blob/9de4f68c88a0a1510373f291d1a95b1f6b0db8c8/src/java.base/share/classes/sun/security/ssl/PostHandshakeContext.java#L84</a:t>
            </a:r>
          </a:p>
          <a:p xmlns:a="http://schemas.openxmlformats.org/drawingml/2006/main">
            <a:r>
              <a:t>PreSharedKeyExtension.java:889 [direct fatal call] https://github.com/openjdk/jdk21u/blob/9de4f68c88a0a1510373f291d1a95b1f6b0db8c8/src/java.base/share/classes/sun/security/ssl/PreSharedKeyExtension.java#L889</a:t>
            </a:r>
          </a:p>
          <a:p xmlns:a="http://schemas.openxmlformats.org/drawingml/2006/main">
            <a:r>
              <a:t>RenegoInfoExtension.java:231 [direct fatal call] https://github.com/openjdk/jdk21u/blob/9de4f68c88a0a1510373f291d1a95b1f6b0db8c8/src/java.base/share/classes/sun/security/ssl/RenegoInfoExtension.java#L231</a:t>
            </a:r>
          </a:p>
          <a:p xmlns:a="http://schemas.openxmlformats.org/drawingml/2006/main">
            <a:r>
              <a:t>RenegoInfoExtension.java:246 [direct fatal call] https://github.com/openjdk/jdk21u/blob/9de4f68c88a0a1510373f291d1a95b1f6b0db8c8/src/java.base/share/classes/sun/security/ssl/RenegoInfoExtension.java#L246</a:t>
            </a:r>
          </a:p>
          <a:p xmlns:a="http://schemas.openxmlformats.org/drawingml/2006/main">
            <a:r>
              <a:t>ServerHello.java:872 [direct fatal call] https://github.com/openjdk/jdk21u/blob/9de4f68c88a0a1510373f291d1a95b1f6b0db8c8/src/java.base/share/classes/sun/security/ssl/ServerHello.java#L872</a:t>
            </a:r>
          </a:p>
          <a:p xmlns:a="http://schemas.openxmlformats.org/drawingml/2006/main">
            <a:r>
              <a:t>ServerKeyExchange.java:102 [direct fatal call] https://github.com/openjdk/jdk21u/blob/9de4f68c88a0a1510373f291d1a95b1f6b0db8c8/src/java.base/share/classes/sun/security/ssl/ServerKeyExchange.java#L102</a:t>
            </a:r>
          </a:p>
          <a:p xmlns:a="http://schemas.openxmlformats.org/drawingml/2006/main">
            <a:r>
              <a:t>ServerKeyExchange.java:129 [direct fatal call] https://github.com/openjdk/jdk21u/blob/9de4f68c88a0a1510373f291d1a95b1f6b0db8c8/src/java.base/share/classes/sun/security/ssl/ServerKeyExchange.java#L129</a:t>
            </a:r>
          </a:p>
          <a:p xmlns:a="http://schemas.openxmlformats.org/drawingml/2006/main">
            <a:r>
              <a:t>ServerNameExtension.java:490 [direct fatal call] https://github.com/openjdk/jdk21u/blob/9de4f68c88a0a1510373f291d1a95b1f6b0db8c8/src/java.base/share/classes/sun/security/ssl/ServerNameExtension.java#L490</a:t>
            </a:r>
          </a:p>
          <a:p xmlns:a="http://schemas.openxmlformats.org/drawingml/2006/main">
            <a:r>
              <a:t>ServerNameExtension.java:496 [direct fatal call] https://github.com/openjdk/jdk21u/blob/9de4f68c88a0a1510373f291d1a95b1f6b0db8c8/src/java.base/share/classes/sun/security/ssl/ServerNameExtension.java#L496</a:t>
            </a:r>
          </a:p>
          <a:p xmlns:a="http://schemas.openxmlformats.org/drawingml/2006/main">
            <a:r>
              <a:t>ServerNameExtension.java:577 [direct fatal call] https://github.com/openjdk/jdk21u/blob/9de4f68c88a0a1510373f291d1a95b1f6b0db8c8/src/java.base/share/classes/sun/security/ssl/ServerNameExtension.java#L577</a:t>
            </a:r>
          </a:p>
          <a:p xmlns:a="http://schemas.openxmlformats.org/drawingml/2006/main">
            <a:r>
              <a:t>ServerNameExtension.java:583 [direct fatal call] https://github.com/openjdk/jdk21u/blob/9de4f68c88a0a1510373f291d1a95b1f6b0db8c8/src/java.base/share/classes/sun/security/ssl/ServerNameExtension.java#L583</a:t>
            </a:r>
          </a:p>
          <a:p xmlns:a="http://schemas.openxmlformats.org/drawingml/2006/main">
            <a:r>
              <a:t>SSLEngineImpl.java:150 [direct fatal call] https://github.com/openjdk/jdk21u/blob/9de4f68c88a0a1510373f291d1a95b1f6b0db8c8/src/java.base/share/classes/sun/security/ssl/SSLEngineImpl.java#L150</a:t>
            </a:r>
          </a:p>
          <a:p xmlns:a="http://schemas.openxmlformats.org/drawingml/2006/main">
            <a:r>
              <a:t>SSLEngineImpl.java:311 [direct fatal call] https://github.com/openjdk/jdk21u/blob/9de4f68c88a0a1510373f291d1a95b1f6b0db8c8/src/java.base/share/classes/sun/security/ssl/SSLEngineImpl.java#L311</a:t>
            </a:r>
          </a:p>
          <a:p xmlns:a="http://schemas.openxmlformats.org/drawingml/2006/main">
            <a:r>
              <a:t>SSLEngineImpl.java:511 [direct fatal call] https://github.com/openjdk/jdk21u/blob/9de4f68c88a0a1510373f291d1a95b1f6b0db8c8/src/java.base/share/classes/sun/security/ssl/SSLEngineImpl.java#L511</a:t>
            </a:r>
          </a:p>
          <a:p xmlns:a="http://schemas.openxmlformats.org/drawingml/2006/main">
            <a:r>
              <a:t>SSLSocketImpl.java:1309 [direct fatal call] https://github.com/openjdk/jdk21u/blob/9de4f68c88a0a1510373f291d1a95b1f6b0db8c8/src/java.base/share/classes/sun/security/ssl/SSLSocketImpl.java#L1309</a:t>
            </a:r>
          </a:p>
          <a:p xmlns:a="http://schemas.openxmlformats.org/drawingml/2006/main">
            <a:r>
              <a:t>SSLSocketImpl.java:1688 [selection / comparison] https://github.com/openjdk/jdk21u/blob/9de4f68c88a0a1510373f291d1a95b1f6b0db8c8/src/java.base/share/classes/sun/security/ssl/SSLSocketImpl.java#L1688</a:t>
            </a:r>
          </a:p>
          <a:p xmlns:a="http://schemas.openxmlformats.org/drawingml/2006/main">
            <a:r>
              <a:t>SSLSocketImpl.java:1692 [selection / comparison] https://github.com/openjdk/jdk21u/blob/9de4f68c88a0a1510373f291d1a95b1f6b0db8c8/src/java.base/share/classes/sun/security/ssl/SSLSocketImpl.java#L1692</a:t>
            </a:r>
          </a:p>
          <a:p xmlns:a="http://schemas.openxmlformats.org/drawingml/2006/main">
            <a:r>
              <a:t>SSLTransport.java:121 [direct fatal call] https://github.com/openjdk/jdk21u/blob/9de4f68c88a0a1510373f291d1a95b1f6b0db8c8/src/java.base/share/classes/sun/security/ssl/SSLTransport.java#L121</a:t>
            </a:r>
          </a:p>
          <a:p xmlns:a="http://schemas.openxmlformats.org/drawingml/2006/main">
            <a:r>
              <a:t>SSLTransport.java:145 [direct fatal call] https://github.com/openjdk/jdk21u/blob/9de4f68c88a0a1510373f291d1a95b1f6b0db8c8/src/java.base/share/classes/sun/security/ssl/SSLTransport.java#L145</a:t>
            </a:r>
          </a:p>
          <a:p xmlns:a="http://schemas.openxmlformats.org/drawingml/2006/main">
            <a:r>
              <a:t>SSLTransport.java:189 [direct fatal call] https://github.com/openjdk/jdk21u/blob/9de4f68c88a0a1510373f291d1a95b1f6b0db8c8/src/java.base/share/classes/sun/security/ssl/SSLTransport.java#L189</a:t>
            </a:r>
          </a:p>
          <a:p xmlns:a="http://schemas.openxmlformats.org/drawingml/2006/main">
            <a:r>
              <a:t>TransportContext.java:174 [direct fatal call] https://github.com/openjdk/jdk21u/blob/9de4f68c88a0a1510373f291d1a95b1f6b0db8c8/src/java.base/share/classes/sun/security/ssl/TransportContext.java#L174</a:t>
            </a:r>
          </a:p>
          <a:p xmlns:a="http://schemas.openxmlformats.org/drawingml/2006/main">
            <a:r>
              <a:t>TransportContext.java:186 [direct fatal call] https://github.com/openjdk/jdk21u/blob/9de4f68c88a0a1510373f291d1a95b1f6b0db8c8/src/java.base/share/classes/sun/security/ssl/TransportContext.java#L186</a:t>
            </a:r>
          </a:p>
          <a:p xmlns:a="http://schemas.openxmlformats.org/drawingml/2006/main">
            <a:r>
              <a:t>TransportContext.java:193 [direct fatal call] https://github.com/openjdk/jdk21u/blob/9de4f68c88a0a1510373f291d1a95b1f6b0db8c8/src/java.base/share/classes/sun/security/ssl/TransportContext.java#L193</a:t>
            </a:r>
          </a:p>
          <a:p xmlns:a="http://schemas.openxmlformats.org/drawingml/2006/main">
            <a:r>
              <a:t>TransportContext.java:216 [direct fatal call] https://github.com/openjdk/jdk21u/blob/9de4f68c88a0a1510373f291d1a95b1f6b0db8c8/src/java.base/share/classes/sun/security/ssl/TransportContext.java#L216</a:t>
            </a:r>
          </a:p>
          <a:p xmlns:a="http://schemas.openxmlformats.org/drawingml/2006/main">
            <a:r>
              <a:t/>
            </a:r>
          </a:p>
          <a:p xmlns:a="http://schemas.openxmlformats.org/drawingml/2006/main">
            <a:r>
              <a:t>【20 bad_record_mac】</a:t>
            </a:r>
          </a:p>
          <a:p xmlns:a="http://schemas.openxmlformats.org/drawingml/2006/main">
            <a:r>
              <a:t>RFC条件：レコードの復号・認証失敗。</a:t>
            </a:r>
          </a:p>
          <a:p xmlns:a="http://schemas.openxmlformats.org/drawingml/2006/main">
            <a:r>
              <a:t>定義：あり</a:t>
            </a:r>
          </a:p>
          <a:p xmlns:a="http://schemas.openxmlformats.org/drawingml/2006/main">
            <a:r>
              <a:t>静的評価：経路あり・相違あり</a:t>
            </a:r>
          </a:p>
          <a:p xmlns:a="http://schemas.openxmlformats.org/drawingml/2006/main">
            <a:r>
              <a:t>RFC違反の判定：違反あり（MUST不一致）</a:t>
            </a:r>
          </a:p>
          <a:p xmlns:a="http://schemas.openxmlformats.org/drawingml/2006/main">
            <a:r>
              <a:t>判定理由：TLS 1.3の短過ぎるAEAD暗号文による保護解除失敗で、handshakeContextがあると40を選ぶ。§5.2は20を指定する。</a:t>
            </a:r>
          </a:p>
          <a:p xmlns:a="http://schemas.openxmlformats.org/drawingml/2006/main">
            <a:r>
              <a:t>詳細：通常のAEADタグ不一致は20。TLS 1.3 GCMの暗号文がタグ長以下の場合 {SSLCipher.java:1861} はBadPaddingExceptionを投げ、handshakeContextがあれば40、なければ20になる。従って全レコード保護解除失敗を20に統一しているとはいえない。ChaCha20-Poly1305にも同系統の検査がある {SSLCipher.java:2378}。</a:t>
            </a:r>
          </a:p>
          <a:p xmlns:a="http://schemas.openxmlformats.org/drawingml/2006/main">
            <a:r>
              <a:t>送信経路：AEADBadTagExceptionを20へ変換 {SSLTransport.java:122}。BadPaddingExceptionは同ファイルで条件分岐。</a:t>
            </a:r>
          </a:p>
          <a:p xmlns:a="http://schemas.openxmlformats.org/drawingml/2006/main">
            <a:r>
              <a:t>根拠：</a:t>
            </a:r>
          </a:p>
          <a:p xmlns:a="http://schemas.openxmlformats.org/drawingml/2006/main">
            <a:r>
              <a:t>https://www.ietf.org/ietf-ftp/rfc/rfc9846.html#section-5.2</a:t>
            </a:r>
          </a:p>
          <a:p xmlns:a="http://schemas.openxmlformats.org/drawingml/2006/main">
            <a:r>
              <a:t>https://www.ietf.org/ietf-ftp/rfc/rfc9846.html#section-6.2</a:t>
            </a:r>
          </a:p>
          <a:p xmlns:a="http://schemas.openxmlformats.org/drawingml/2006/main">
            <a:r>
              <a:t>https://github.com/openjdk/jdk21u/blob/9de4f68c88a0a1510373f291d1a95b1f6b0db8c8/src/java.base/share/classes/sun/security/ssl/SSLCipher.java#L1861</a:t>
            </a:r>
          </a:p>
          <a:p xmlns:a="http://schemas.openxmlformats.org/drawingml/2006/main">
            <a:r>
              <a:t>https://github.com/openjdk/jdk21u/blob/9de4f68c88a0a1510373f291d1a95b1f6b0db8c8/src/java.base/share/classes/sun/security/ssl/SSLTransport.java#L132</a:t>
            </a:r>
          </a:p>
          <a:p xmlns:a="http://schemas.openxmlformats.org/drawingml/2006/main">
            <a:r>
              <a:t>https://github.com/openjdk/jdk21u/blob/9de4f68c88a0a1510373f291d1a95b1f6b0db8c8/src/java.base/share/classes/sun/security/ssl/SSLTransport.java#L122</a:t>
            </a:r>
          </a:p>
          <a:p xmlns:a="http://schemas.openxmlformats.org/drawingml/2006/main">
            <a:r>
              <a:t>https://github.com/openjdk/jdk21u/blob/9de4f68c88a0a1510373f291d1a95b1f6b0db8c8/src/java.base/share/classes/sun/security/ssl/SSLCipher.java#L2378</a:t>
            </a:r>
          </a:p>
          <a:p xmlns:a="http://schemas.openxmlformats.org/drawingml/2006/main">
            <a:r>
              <a:t>https://github.com/openjdk/jdk21u/blob/9de4f68c88a0a1510373f291d1a95b1f6b0db8c8/src/java.base/share/classes/sun/security/ssl/Alert.java#L44</a:t>
            </a:r>
          </a:p>
          <a:p xmlns:a="http://schemas.openxmlformats.org/drawingml/2006/main">
            <a:r>
              <a:t>対象133ファイルにおける当該Alertの全明示参照索引（定義行を除く）：</a:t>
            </a:r>
          </a:p>
          <a:p xmlns:a="http://schemas.openxmlformats.org/drawingml/2006/main">
            <a:r>
              <a:t>SSLTransport.java:123 [direct fatal call] https://github.com/openjdk/jdk21u/blob/9de4f68c88a0a1510373f291d1a95b1f6b0db8c8/src/java.base/share/classes/sun/security/ssl/SSLTransport.java#L123</a:t>
            </a:r>
          </a:p>
          <a:p xmlns:a="http://schemas.openxmlformats.org/drawingml/2006/main">
            <a:r>
              <a:t>SSLTransport.java:133 [selection / comparison] https://github.com/openjdk/jdk21u/blob/9de4f68c88a0a1510373f291d1a95b1f6b0db8c8/src/java.base/share/classes/sun/security/ssl/SSLTransport.java#L133</a:t>
            </a:r>
          </a:p>
          <a:p xmlns:a="http://schemas.openxmlformats.org/drawingml/2006/main">
            <a:r>
              <a:t/>
            </a:r>
          </a:p>
          <a:p xmlns:a="http://schemas.openxmlformats.org/drawingml/2006/main">
            <a:r>
              <a:t>【22 record_overflow】</a:t>
            </a:r>
          </a:p>
          <a:p xmlns:a="http://schemas.openxmlformats.org/drawingml/2006/main">
            <a:r>
              <a:t>RFC条件：暗号文が2^14+256、平文が2^14または交渉上限を超える。</a:t>
            </a:r>
          </a:p>
          <a:p xmlns:a="http://schemas.openxmlformats.org/drawingml/2006/main">
            <a:r>
              <a:t>定義：あり</a:t>
            </a:r>
          </a:p>
          <a:p xmlns:a="http://schemas.openxmlformats.org/drawingml/2006/main">
            <a:r>
              <a:t>静的評価：定義のみ・相違あり</a:t>
            </a:r>
          </a:p>
          <a:p xmlns:a="http://schemas.openxmlformats.org/drawingml/2006/main">
            <a:r>
              <a:t>RFC違反の判定：違反あり（MUST不一致）</a:t>
            </a:r>
          </a:p>
          <a:p xmlns:a="http://schemas.openxmlformats.org/drawingml/2006/main">
            <a:r>
              <a:t>判定理由：§5.1/§5.2は長さ超過時22を指定するが、22を選ぶ経路がなく、大きい互換上限を超える分岐もSSLProtocolExceptionから10へ進む。</a:t>
            </a:r>
          </a:p>
          <a:p xmlns:a="http://schemas.openxmlformats.org/drawingml/2006/main">
            <a:r>
              <a:t>詳細：22を選ぶ送信経路は見つからない。受信上限にはTLS 1.3固有の16640ではなくmaxLargeRecordSizeを使う {SSLRecord.java:79}。この上限を超える場合もSSLProtocolExceptionとなり、共通例外処理で10へ向かう {SSLTransport.java:144}。16384/16640の境界と復号後の長さについて、RFC指定の22送信を保証できない。</a:t>
            </a:r>
          </a:p>
          <a:p xmlns:a="http://schemas.openxmlformats.org/drawingml/2006/main">
            <a:r>
              <a:t>送信経路：送信側参照なし。受信長検査 {SSLSocketInputRecord.java:225}、{SSLEngineInputRecord.java:224}。</a:t>
            </a:r>
          </a:p>
          <a:p xmlns:a="http://schemas.openxmlformats.org/drawingml/2006/main">
            <a:r>
              <a:t>根拠：</a:t>
            </a:r>
          </a:p>
          <a:p xmlns:a="http://schemas.openxmlformats.org/drawingml/2006/main">
            <a:r>
              <a:t>https://www.ietf.org/ietf-ftp/rfc/rfc9846.html#section-5.1</a:t>
            </a:r>
          </a:p>
          <a:p xmlns:a="http://schemas.openxmlformats.org/drawingml/2006/main">
            <a:r>
              <a:t>https://www.ietf.org/ietf-ftp/rfc/rfc9846.html#section-5.2</a:t>
            </a:r>
          </a:p>
          <a:p xmlns:a="http://schemas.openxmlformats.org/drawingml/2006/main">
            <a:r>
              <a:t>https://www.ietf.org/ietf-ftp/rfc/rfc9846.html#section-6.2</a:t>
            </a:r>
          </a:p>
          <a:p xmlns:a="http://schemas.openxmlformats.org/drawingml/2006/main">
            <a:r>
              <a:t>https://github.com/openjdk/jdk21u/blob/9de4f68c88a0a1510373f291d1a95b1f6b0db8c8/src/java.base/share/classes/sun/security/ssl/SSLSocketInputRecord.java#L225</a:t>
            </a:r>
          </a:p>
          <a:p xmlns:a="http://schemas.openxmlformats.org/drawingml/2006/main">
            <a:r>
              <a:t>https://github.com/openjdk/jdk21u/blob/9de4f68c88a0a1510373f291d1a95b1f6b0db8c8/src/java.base/share/classes/sun/security/ssl/SSLTransport.java#L144</a:t>
            </a:r>
          </a:p>
          <a:p xmlns:a="http://schemas.openxmlformats.org/drawingml/2006/main">
            <a:r>
              <a:t>https://github.com/openjdk/jdk21u/blob/9de4f68c88a0a1510373f291d1a95b1f6b0db8c8/src/java.base/share/classes/sun/security/ssl/SSLEngineInputRecord.java#L224</a:t>
            </a:r>
          </a:p>
          <a:p xmlns:a="http://schemas.openxmlformats.org/drawingml/2006/main">
            <a:r>
              <a:t>https://github.com/openjdk/jdk21u/blob/9de4f68c88a0a1510373f291d1a95b1f6b0db8c8/src/java.base/share/classes/sun/security/ssl/SSLRecord.java#L79</a:t>
            </a:r>
          </a:p>
          <a:p xmlns:a="http://schemas.openxmlformats.org/drawingml/2006/main">
            <a:r>
              <a:t>https://github.com/openjdk/jdk21u/blob/9de4f68c88a0a1510373f291d1a95b1f6b0db8c8/src/java.base/share/classes/sun/security/ssl/Alert.java#L46</a:t>
            </a:r>
          </a:p>
          <a:p xmlns:a="http://schemas.openxmlformats.org/drawingml/2006/main">
            <a:r>
              <a:t>対象133ファイルにおける当該Alertの全明示参照索引（定義行を除く）：</a:t>
            </a:r>
          </a:p>
          <a:p xmlns:a="http://schemas.openxmlformats.org/drawingml/2006/main">
            <a:r>
              <a:t>参照0件。未定義または定義のみであり、未実装だけから違反と断定しない。</a:t>
            </a:r>
          </a:p>
          <a:p xmlns:a="http://schemas.openxmlformats.org/drawingml/2006/main">
            <a:r>
              <a:t/>
            </a:r>
          </a:p>
          <a:p xmlns:a="http://schemas.openxmlformats.org/drawingml/2006/main">
            <a:r>
              <a:t>【40 handshake_failure】</a:t>
            </a:r>
          </a:p>
          <a:p xmlns:a="http://schemas.openxmlformats.org/drawingml/2006/main">
            <a:r>
              <a:t>RFC条件：受入可能なセキュリティパラメーターを交渉できない。</a:t>
            </a:r>
          </a:p>
          <a:p xmlns:a="http://schemas.openxmlformats.org/drawingml/2006/main">
            <a:r>
              <a:t>定義：あり</a:t>
            </a:r>
          </a:p>
          <a:p xmlns:a="http://schemas.openxmlformats.org/drawingml/2006/main">
            <a:r>
              <a:t>静的評価：経路あり・用途に相違</a:t>
            </a:r>
          </a:p>
          <a:p xmlns:a="http://schemas.openxmlformats.org/drawingml/2006/main">
            <a:r>
              <a:t>RFC違反の判定：違反あり（MUST不一致）</a:t>
            </a:r>
          </a:p>
          <a:p xmlns:a="http://schemas.openxmlformats.org/drawingml/2006/main">
            <a:r>
              <a:t>判定理由：CertificateVerifyの署名検証失敗に40を使用する。§4.5.2が指定する番号は51であり、交渉失敗に40を使う正常な経路とは区別する。</a:t>
            </a:r>
          </a:p>
          <a:p xmlns:a="http://schemas.openxmlformats.org/drawingml/2006/main">
            <a:r>
              <a:t>詳細：共通暗号スイートなしを40にする経路は定義に対応する。ただしCertificateVerify署名不一致にも40を使用 {CertificateVerify.java:1014}。またHRR生成時に共通named groupがない分岐は10 {KeyShareExtension.java:826} であり、RFC §4.2.1の40または71との相違がある。</a:t>
            </a:r>
          </a:p>
          <a:p xmlns:a="http://schemas.openxmlformats.org/drawingml/2006/main">
            <a:r>
              <a:t>送信経路：TLS 1.3の共通暗号スイートなし {ServerHello.java:519}。多数の署名・鍵交換エラーにも使用。</a:t>
            </a:r>
          </a:p>
          <a:p xmlns:a="http://schemas.openxmlformats.org/drawingml/2006/main">
            <a:r>
              <a:t>根拠：</a:t>
            </a:r>
          </a:p>
          <a:p xmlns:a="http://schemas.openxmlformats.org/drawingml/2006/main">
            <a:r>
              <a:t>https://www.ietf.org/ietf-ftp/rfc/rfc9846.html#section-4.5.2</a:t>
            </a:r>
          </a:p>
          <a:p xmlns:a="http://schemas.openxmlformats.org/drawingml/2006/main">
            <a:r>
              <a:t>https://www.ietf.org/ietf-ftp/rfc/rfc9846.html#section-6.2</a:t>
            </a:r>
          </a:p>
          <a:p xmlns:a="http://schemas.openxmlformats.org/drawingml/2006/main">
            <a:r>
              <a:t>https://github.com/openjdk/jdk21u/blob/9de4f68c88a0a1510373f291d1a95b1f6b0db8c8/src/java.base/share/classes/sun/security/ssl/CertificateVerify.java#L1014</a:t>
            </a:r>
          </a:p>
          <a:p xmlns:a="http://schemas.openxmlformats.org/drawingml/2006/main">
            <a:r>
              <a:t>https://github.com/openjdk/jdk21u/blob/9de4f68c88a0a1510373f291d1a95b1f6b0db8c8/src/java.base/share/classes/sun/security/ssl/ServerHello.java#L519</a:t>
            </a:r>
          </a:p>
          <a:p xmlns:a="http://schemas.openxmlformats.org/drawingml/2006/main">
            <a:r>
              <a:t>https://github.com/openjdk/jdk21u/blob/9de4f68c88a0a1510373f291d1a95b1f6b0db8c8/src/java.base/share/classes/sun/security/ssl/KeyShareExtension.java#L817</a:t>
            </a:r>
          </a:p>
          <a:p xmlns:a="http://schemas.openxmlformats.org/drawingml/2006/main">
            <a:r>
              <a:t>https://github.com/openjdk/jdk21u/blob/9de4f68c88a0a1510373f291d1a95b1f6b0db8c8/src/java.base/share/classes/sun/security/ssl/Alert.java#L48</a:t>
            </a:r>
          </a:p>
          <a:p xmlns:a="http://schemas.openxmlformats.org/drawingml/2006/main">
            <a:r>
              <a:t>対象133ファイルにおける当該Alertの全明示参照索引（定義行を除く）：</a:t>
            </a:r>
          </a:p>
          <a:p xmlns:a="http://schemas.openxmlformats.org/drawingml/2006/main">
            <a:r>
              <a:t>Alert.java:281 [direct fatal call] https://github.com/openjdk/jdk21u/blob/9de4f68c88a0a1510373f291d1a95b1f6b0db8c8/src/java.base/share/classes/sun/security/ssl/Alert.java#L281</a:t>
            </a:r>
          </a:p>
          <a:p xmlns:a="http://schemas.openxmlformats.org/drawingml/2006/main">
            <a:r>
              <a:t>Alert.java:286 [direct fatal call] https://github.com/openjdk/jdk21u/blob/9de4f68c88a0a1510373f291d1a95b1f6b0db8c8/src/java.base/share/classes/sun/security/ssl/Alert.java#L286</a:t>
            </a:r>
          </a:p>
          <a:p xmlns:a="http://schemas.openxmlformats.org/drawingml/2006/main">
            <a:r>
              <a:t>CertificateMessage.java:384 [direct fatal call] https://github.com/openjdk/jdk21u/blob/9de4f68c88a0a1510373f291d1a95b1f6b0db8c8/src/java.base/share/classes/sun/security/ssl/CertificateMessage.java#L384</a:t>
            </a:r>
          </a:p>
          <a:p xmlns:a="http://schemas.openxmlformats.org/drawingml/2006/main">
            <a:r>
              <a:t>CertificateMessage.java:927 [direct fatal call] https://github.com/openjdk/jdk21u/blob/9de4f68c88a0a1510373f291d1a95b1f6b0db8c8/src/java.base/share/classes/sun/security/ssl/CertificateMessage.java#L927</a:t>
            </a:r>
          </a:p>
          <a:p xmlns:a="http://schemas.openxmlformats.org/drawingml/2006/main">
            <a:r>
              <a:t>CertificateMessage.java:932 [direct fatal call] https://github.com/openjdk/jdk21u/blob/9de4f68c88a0a1510373f291d1a95b1f6b0db8c8/src/java.base/share/classes/sun/security/ssl/CertificateMessage.java#L932</a:t>
            </a:r>
          </a:p>
          <a:p xmlns:a="http://schemas.openxmlformats.org/drawingml/2006/main">
            <a:r>
              <a:t>CertificateMessage.java:938 [direct fatal call] https://github.com/openjdk/jdk21u/blob/9de4f68c88a0a1510373f291d1a95b1f6b0db8c8/src/java.base/share/classes/sun/security/ssl/CertificateMessage.java#L938</a:t>
            </a:r>
          </a:p>
          <a:p xmlns:a="http://schemas.openxmlformats.org/drawingml/2006/main">
            <a:r>
              <a:t>CertificateMessage.java:951 [direct fatal call] https://github.com/openjdk/jdk21u/blob/9de4f68c88a0a1510373f291d1a95b1f6b0db8c8/src/java.base/share/classes/sun/security/ssl/CertificateMessage.java#L951</a:t>
            </a:r>
          </a:p>
          <a:p xmlns:a="http://schemas.openxmlformats.org/drawingml/2006/main">
            <a:r>
              <a:t>CertificateMessage.java:1059 [direct fatal call] https://github.com/openjdk/jdk21u/blob/9de4f68c88a0a1510373f291d1a95b1f6b0db8c8/src/java.base/share/classes/sun/security/ssl/CertificateMessage.java#L1059</a:t>
            </a:r>
          </a:p>
          <a:p xmlns:a="http://schemas.openxmlformats.org/drawingml/2006/main">
            <a:r>
              <a:t>CertificateRequest.java:649 [direct fatal call] https://github.com/openjdk/jdk21u/blob/9de4f68c88a0a1510373f291d1a95b1f6b0db8c8/src/java.base/share/classes/sun/security/ssl/CertificateRequest.java#L649</a:t>
            </a:r>
          </a:p>
          <a:p xmlns:a="http://schemas.openxmlformats.org/drawingml/2006/main">
            <a:r>
              <a:t>CertificateRequest.java:753 [direct fatal call] https://github.com/openjdk/jdk21u/blob/9de4f68c88a0a1510373f291d1a95b1f6b0db8c8/src/java.base/share/classes/sun/security/ssl/CertificateRequest.java#L753</a:t>
            </a:r>
          </a:p>
          <a:p xmlns:a="http://schemas.openxmlformats.org/drawingml/2006/main">
            <a:r>
              <a:t>CertificateStatus.java:160 [direct fatal call] https://github.com/openjdk/jdk21u/blob/9de4f68c88a0a1510373f291d1a95b1f6b0db8c8/src/java.base/share/classes/sun/security/ssl/CertificateStatus.java#L160</a:t>
            </a:r>
          </a:p>
          <a:p xmlns:a="http://schemas.openxmlformats.org/drawingml/2006/main">
            <a:r>
              <a:t>CertificateStatus.java:184 [direct fatal call] https://github.com/openjdk/jdk21u/blob/9de4f68c88a0a1510373f291d1a95b1f6b0db8c8/src/java.base/share/classes/sun/security/ssl/CertificateStatus.java#L184</a:t>
            </a:r>
          </a:p>
          <a:p xmlns:a="http://schemas.openxmlformats.org/drawingml/2006/main">
            <a:r>
              <a:t>CertificateVerify.java:92 [direct fatal call] https://github.com/openjdk/jdk21u/blob/9de4f68c88a0a1510373f291d1a95b1f6b0db8c8/src/java.base/share/classes/sun/security/ssl/CertificateVerify.java#L92</a:t>
            </a:r>
          </a:p>
          <a:p xmlns:a="http://schemas.openxmlformats.org/drawingml/2006/main">
            <a:r>
              <a:t>CertificateVerify.java:133 [direct fatal call] https://github.com/openjdk/jdk21u/blob/9de4f68c88a0a1510373f291d1a95b1f6b0db8c8/src/java.base/share/classes/sun/security/ssl/CertificateVerify.java#L133</a:t>
            </a:r>
          </a:p>
          <a:p xmlns:a="http://schemas.openxmlformats.org/drawingml/2006/main">
            <a:r>
              <a:t>CertificateVerify.java:145 [direct fatal call] https://github.com/openjdk/jdk21u/blob/9de4f68c88a0a1510373f291d1a95b1f6b0db8c8/src/java.base/share/classes/sun/security/ssl/CertificateVerify.java#L145</a:t>
            </a:r>
          </a:p>
          <a:p xmlns:a="http://schemas.openxmlformats.org/drawingml/2006/main">
            <a:r>
              <a:t>CertificateVerify.java:153 [direct fatal call] https://github.com/openjdk/jdk21u/blob/9de4f68c88a0a1510373f291d1a95b1f6b0db8c8/src/java.base/share/classes/sun/security/ssl/CertificateVerify.java#L153</a:t>
            </a:r>
          </a:p>
          <a:p xmlns:a="http://schemas.openxmlformats.org/drawingml/2006/main">
            <a:r>
              <a:t>CertificateVerify.java:346 [direct fatal call] https://github.com/openjdk/jdk21u/blob/9de4f68c88a0a1510373f291d1a95b1f6b0db8c8/src/java.base/share/classes/sun/security/ssl/CertificateVerify.java#L346</a:t>
            </a:r>
          </a:p>
          <a:p xmlns:a="http://schemas.openxmlformats.org/drawingml/2006/main">
            <a:r>
              <a:t>CertificateVerify.java:387 [direct fatal call] https://github.com/openjdk/jdk21u/blob/9de4f68c88a0a1510373f291d1a95b1f6b0db8c8/src/java.base/share/classes/sun/security/ssl/CertificateVerify.java#L387</a:t>
            </a:r>
          </a:p>
          <a:p xmlns:a="http://schemas.openxmlformats.org/drawingml/2006/main">
            <a:r>
              <a:t>CertificateVerify.java:398 [direct fatal call] https://github.com/openjdk/jdk21u/blob/9de4f68c88a0a1510373f291d1a95b1f6b0db8c8/src/java.base/share/classes/sun/security/ssl/CertificateVerify.java#L398</a:t>
            </a:r>
          </a:p>
          <a:p xmlns:a="http://schemas.openxmlformats.org/drawingml/2006/main">
            <a:r>
              <a:t>CertificateVerify.java:406 [direct fatal call] https://github.com/openjdk/jdk21u/blob/9de4f68c88a0a1510373f291d1a95b1f6b0db8c8/src/java.base/share/classes/sun/security/ssl/CertificateVerify.java#L406</a:t>
            </a:r>
          </a:p>
          <a:p xmlns:a="http://schemas.openxmlformats.org/drawingml/2006/main">
            <a:r>
              <a:t>CertificateVerify.java:614 [direct fatal call] https://github.com/openjdk/jdk21u/blob/9de4f68c88a0a1510373f291d1a95b1f6b0db8c8/src/java.base/share/classes/sun/security/ssl/CertificateVerify.java#L614</a:t>
            </a:r>
          </a:p>
          <a:p xmlns:a="http://schemas.openxmlformats.org/drawingml/2006/main">
            <a:r>
              <a:t>CertificateVerify.java:642 [direct fatal call] https://github.com/openjdk/jdk21u/blob/9de4f68c88a0a1510373f291d1a95b1f6b0db8c8/src/java.base/share/classes/sun/security/ssl/CertificateVerify.java#L642</a:t>
            </a:r>
          </a:p>
          <a:p xmlns:a="http://schemas.openxmlformats.org/drawingml/2006/main">
            <a:r>
              <a:t>CertificateVerify.java:648 [direct fatal call] https://github.com/openjdk/jdk21u/blob/9de4f68c88a0a1510373f291d1a95b1f6b0db8c8/src/java.base/share/classes/sun/security/ssl/CertificateVerify.java#L648</a:t>
            </a:r>
          </a:p>
          <a:p xmlns:a="http://schemas.openxmlformats.org/drawingml/2006/main">
            <a:r>
              <a:t>CertificateVerify.java:665 [direct fatal call] https://github.com/openjdk/jdk21u/blob/9de4f68c88a0a1510373f291d1a95b1f6b0db8c8/src/java.base/share/classes/sun/security/ssl/CertificateVerify.java#L665</a:t>
            </a:r>
          </a:p>
          <a:p xmlns:a="http://schemas.openxmlformats.org/drawingml/2006/main">
            <a:r>
              <a:t>CertificateVerify.java:676 [direct fatal call] https://github.com/openjdk/jdk21u/blob/9de4f68c88a0a1510373f291d1a95b1f6b0db8c8/src/java.base/share/classes/sun/security/ssl/CertificateVerify.java#L676</a:t>
            </a:r>
          </a:p>
          <a:p xmlns:a="http://schemas.openxmlformats.org/drawingml/2006/main">
            <a:r>
              <a:t>CertificateVerify.java:686 [direct fatal call] https://github.com/openjdk/jdk21u/blob/9de4f68c88a0a1510373f291d1a95b1f6b0db8c8/src/java.base/share/classes/sun/security/ssl/CertificateVerify.java#L686</a:t>
            </a:r>
          </a:p>
          <a:p xmlns:a="http://schemas.openxmlformats.org/drawingml/2006/main">
            <a:r>
              <a:t>CertificateVerify.java:941 [direct fatal call] https://github.com/openjdk/jdk21u/blob/9de4f68c88a0a1510373f291d1a95b1f6b0db8c8/src/java.base/share/classes/sun/security/ssl/CertificateVerify.java#L941</a:t>
            </a:r>
          </a:p>
          <a:p xmlns:a="http://schemas.openxmlformats.org/drawingml/2006/main">
            <a:r>
              <a:t>CertificateVerify.java:965 [direct fatal call] https://github.com/openjdk/jdk21u/blob/9de4f68c88a0a1510373f291d1a95b1f6b0db8c8/src/java.base/share/classes/sun/security/ssl/CertificateVerify.java#L965</a:t>
            </a:r>
          </a:p>
          <a:p xmlns:a="http://schemas.openxmlformats.org/drawingml/2006/main">
            <a:r>
              <a:t>CertificateVerify.java:971 [direct fatal call] https://github.com/openjdk/jdk21u/blob/9de4f68c88a0a1510373f291d1a95b1f6b0db8c8/src/java.base/share/classes/sun/security/ssl/CertificateVerify.java#L971</a:t>
            </a:r>
          </a:p>
          <a:p xmlns:a="http://schemas.openxmlformats.org/drawingml/2006/main">
            <a:r>
              <a:t>CertificateVerify.java:988 [direct fatal call] https://github.com/openjdk/jdk21u/blob/9de4f68c88a0a1510373f291d1a95b1f6b0db8c8/src/java.base/share/classes/sun/security/ssl/CertificateVerify.java#L988</a:t>
            </a:r>
          </a:p>
          <a:p xmlns:a="http://schemas.openxmlformats.org/drawingml/2006/main">
            <a:r>
              <a:t>CertificateVerify.java:1014 [direct fatal call] https://github.com/openjdk/jdk21u/blob/9de4f68c88a0a1510373f291d1a95b1f6b0db8c8/src/java.base/share/classes/sun/security/ssl/CertificateVerify.java#L1014</a:t>
            </a:r>
          </a:p>
          <a:p xmlns:a="http://schemas.openxmlformats.org/drawingml/2006/main">
            <a:r>
              <a:t>CertificateVerify.java:1024 [direct fatal call] https://github.com/openjdk/jdk21u/blob/9de4f68c88a0a1510373f291d1a95b1f6b0db8c8/src/java.base/share/classes/sun/security/ssl/CertificateVerify.java#L1024</a:t>
            </a:r>
          </a:p>
          <a:p xmlns:a="http://schemas.openxmlformats.org/drawingml/2006/main">
            <a:r>
              <a:t>ChangeCipherSpec.java:153 [direct fatal call] https://github.com/openjdk/jdk21u/blob/9de4f68c88a0a1510373f291d1a95b1f6b0db8c8/src/java.base/share/classes/sun/security/ssl/ChangeCipherSpec.java#L153</a:t>
            </a:r>
          </a:p>
          <a:p xmlns:a="http://schemas.openxmlformats.org/drawingml/2006/main">
            <a:r>
              <a:t>ClientHello.java:693 [direct fatal call] https://github.com/openjdk/jdk21u/blob/9de4f68c88a0a1510373f291d1a95b1f6b0db8c8/src/java.base/share/classes/sun/security/ssl/ClientHello.java#L693</a:t>
            </a:r>
          </a:p>
          <a:p xmlns:a="http://schemas.openxmlformats.org/drawingml/2006/main">
            <a:r>
              <a:t>ClientHello.java:938 [selection / comparison] https://github.com/openjdk/jdk21u/blob/9de4f68c88a0a1510373f291d1a95b1f6b0db8c8/src/java.base/share/classes/sun/security/ssl/ClientHello.java#L938</a:t>
            </a:r>
          </a:p>
          <a:p xmlns:a="http://schemas.openxmlformats.org/drawingml/2006/main">
            <a:r>
              <a:t>ClientHello.java:950 [direct fatal call] https://github.com/openjdk/jdk21u/blob/9de4f68c88a0a1510373f291d1a95b1f6b0db8c8/src/java.base/share/classes/sun/security/ssl/ClientHello.java#L950</a:t>
            </a:r>
          </a:p>
          <a:p xmlns:a="http://schemas.openxmlformats.org/drawingml/2006/main">
            <a:r>
              <a:t>ClientHello.java:956 [direct fatal call] https://github.com/openjdk/jdk21u/blob/9de4f68c88a0a1510373f291d1a95b1f6b0db8c8/src/java.base/share/classes/sun/security/ssl/ClientHello.java#L956</a:t>
            </a:r>
          </a:p>
          <a:p xmlns:a="http://schemas.openxmlformats.org/drawingml/2006/main">
            <a:r>
              <a:t>ClientHello.java:1196 [direct fatal call] https://github.com/openjdk/jdk21u/blob/9de4f68c88a0a1510373f291d1a95b1f6b0db8c8/src/java.base/share/classes/sun/security/ssl/ClientHello.java#L1196</a:t>
            </a:r>
          </a:p>
          <a:p xmlns:a="http://schemas.openxmlformats.org/drawingml/2006/main">
            <a:r>
              <a:t>ClientHello.java:1202 [direct fatal call] https://github.com/openjdk/jdk21u/blob/9de4f68c88a0a1510373f291d1a95b1f6b0db8c8/src/java.base/share/classes/sun/security/ssl/ClientHello.java#L1202</a:t>
            </a:r>
          </a:p>
          <a:p xmlns:a="http://schemas.openxmlformats.org/drawingml/2006/main">
            <a:r>
              <a:t>ClientHello.java:1278 [selection / comparison] https://github.com/openjdk/jdk21u/blob/9de4f68c88a0a1510373f291d1a95b1f6b0db8c8/src/java.base/share/classes/sun/security/ssl/ClientHello.java#L1278</a:t>
            </a:r>
          </a:p>
          <a:p xmlns:a="http://schemas.openxmlformats.org/drawingml/2006/main">
            <a:r>
              <a:t>ClientHello.java:1290 [direct fatal call] https://github.com/openjdk/jdk21u/blob/9de4f68c88a0a1510373f291d1a95b1f6b0db8c8/src/java.base/share/classes/sun/security/ssl/ClientHello.java#L1290</a:t>
            </a:r>
          </a:p>
          <a:p xmlns:a="http://schemas.openxmlformats.org/drawingml/2006/main">
            <a:r>
              <a:t>ClientHello.java:1296 [direct fatal call] https://github.com/openjdk/jdk21u/blob/9de4f68c88a0a1510373f291d1a95b1f6b0db8c8/src/java.base/share/classes/sun/security/ssl/ClientHello.java#L1296</a:t>
            </a:r>
          </a:p>
          <a:p xmlns:a="http://schemas.openxmlformats.org/drawingml/2006/main">
            <a:r>
              <a:t>DHClientKeyExchange.java:89 [direct fatal call] https://github.com/openjdk/jdk21u/blob/9de4f68c88a0a1510373f291d1a95b1f6b0db8c8/src/java.base/share/classes/sun/security/ssl/DHClientKeyExchange.java#L89</a:t>
            </a:r>
          </a:p>
          <a:p xmlns:a="http://schemas.openxmlformats.org/drawingml/2006/main">
            <a:r>
              <a:t>DHClientKeyExchange.java:106 [direct fatal call] https://github.com/openjdk/jdk21u/blob/9de4f68c88a0a1510373f291d1a95b1f6b0db8c8/src/java.base/share/classes/sun/security/ssl/DHClientKeyExchange.java#L106</a:t>
            </a:r>
          </a:p>
          <a:p xmlns:a="http://schemas.openxmlformats.org/drawingml/2006/main">
            <a:r>
              <a:t>DHClientKeyExchange.java:113 [direct fatal call] https://github.com/openjdk/jdk21u/blob/9de4f68c88a0a1510373f291d1a95b1f6b0db8c8/src/java.base/share/classes/sun/security/ssl/DHClientKeyExchange.java#L113</a:t>
            </a:r>
          </a:p>
          <a:p xmlns:a="http://schemas.openxmlformats.org/drawingml/2006/main">
            <a:r>
              <a:t>DHClientKeyExchange.java:180 [direct fatal call] https://github.com/openjdk/jdk21u/blob/9de4f68c88a0a1510373f291d1a95b1f6b0db8c8/src/java.base/share/classes/sun/security/ssl/DHClientKeyExchange.java#L180</a:t>
            </a:r>
          </a:p>
          <a:p xmlns:a="http://schemas.openxmlformats.org/drawingml/2006/main">
            <a:r>
              <a:t>DHClientKeyExchange.java:257 [direct fatal call] https://github.com/openjdk/jdk21u/blob/9de4f68c88a0a1510373f291d1a95b1f6b0db8c8/src/java.base/share/classes/sun/security/ssl/DHClientKeyExchange.java#L257</a:t>
            </a:r>
          </a:p>
          <a:p xmlns:a="http://schemas.openxmlformats.org/drawingml/2006/main">
            <a:r>
              <a:t>DHKeyExchange.java:441 [direct fatal call] https://github.com/openjdk/jdk21u/blob/9de4f68c88a0a1510373f291d1a95b1f6b0db8c8/src/java.base/share/classes/sun/security/ssl/DHKeyExchange.java#L441</a:t>
            </a:r>
          </a:p>
          <a:p xmlns:a="http://schemas.openxmlformats.org/drawingml/2006/main">
            <a:r>
              <a:t>DHServerKeyExchange.java:191 [direct fatal call] https://github.com/openjdk/jdk21u/blob/9de4f68c88a0a1510373f291d1a95b1f6b0db8c8/src/java.base/share/classes/sun/security/ssl/DHServerKeyExchange.java#L191</a:t>
            </a:r>
          </a:p>
          <a:p xmlns:a="http://schemas.openxmlformats.org/drawingml/2006/main">
            <a:r>
              <a:t>DHServerKeyExchange.java:206 [direct fatal call] https://github.com/openjdk/jdk21u/blob/9de4f68c88a0a1510373f291d1a95b1f6b0db8c8/src/java.base/share/classes/sun/security/ssl/DHServerKeyExchange.java#L206</a:t>
            </a:r>
          </a:p>
          <a:p xmlns:a="http://schemas.openxmlformats.org/drawingml/2006/main">
            <a:r>
              <a:t>DHServerKeyExchange.java:223 [direct fatal call] https://github.com/openjdk/jdk21u/blob/9de4f68c88a0a1510373f291d1a95b1f6b0db8c8/src/java.base/share/classes/sun/security/ssl/DHServerKeyExchange.java#L223</a:t>
            </a:r>
          </a:p>
          <a:p xmlns:a="http://schemas.openxmlformats.org/drawingml/2006/main">
            <a:r>
              <a:t>DHServerKeyExchange.java:229 [direct fatal call] https://github.com/openjdk/jdk21u/blob/9de4f68c88a0a1510373f291d1a95b1f6b0db8c8/src/java.base/share/classes/sun/security/ssl/DHServerKeyExchange.java#L229</a:t>
            </a:r>
          </a:p>
          <a:p xmlns:a="http://schemas.openxmlformats.org/drawingml/2006/main">
            <a:r>
              <a:t>DHServerKeyExchange.java:269 [direct fatal call] https://github.com/openjdk/jdk21u/blob/9de4f68c88a0a1510373f291d1a95b1f6b0db8c8/src/java.base/share/classes/sun/security/ssl/DHServerKeyExchange.java#L269</a:t>
            </a:r>
          </a:p>
          <a:p xmlns:a="http://schemas.openxmlformats.org/drawingml/2006/main">
            <a:r>
              <a:t>DHServerKeyExchange.java:273 [direct fatal call] https://github.com/openjdk/jdk21u/blob/9de4f68c88a0a1510373f291d1a95b1f6b0db8c8/src/java.base/share/classes/sun/security/ssl/DHServerKeyExchange.java#L273</a:t>
            </a:r>
          </a:p>
          <a:p xmlns:a="http://schemas.openxmlformats.org/drawingml/2006/main">
            <a:r>
              <a:t>ECDHKeyExchange.java:326 [direct fatal call] https://github.com/openjdk/jdk21u/blob/9de4f68c88a0a1510373f291d1a95b1f6b0db8c8/src/java.base/share/classes/sun/security/ssl/ECDHKeyExchange.java#L326</a:t>
            </a:r>
          </a:p>
          <a:p xmlns:a="http://schemas.openxmlformats.org/drawingml/2006/main">
            <a:r>
              <a:t>ECDHKeyExchange.java:375 [direct fatal call] https://github.com/openjdk/jdk21u/blob/9de4f68c88a0a1510373f291d1a95b1f6b0db8c8/src/java.base/share/classes/sun/security/ssl/ECDHKeyExchange.java#L375</a:t>
            </a:r>
          </a:p>
          <a:p xmlns:a="http://schemas.openxmlformats.org/drawingml/2006/main">
            <a:r>
              <a:t>ECDHKeyExchange.java:419 [direct fatal call] https://github.com/openjdk/jdk21u/blob/9de4f68c88a0a1510373f291d1a95b1f6b0db8c8/src/java.base/share/classes/sun/security/ssl/ECDHKeyExchange.java#L419</a:t>
            </a:r>
          </a:p>
          <a:p xmlns:a="http://schemas.openxmlformats.org/drawingml/2006/main">
            <a:r>
              <a:t>ECDHKeyExchange.java:470 [direct fatal call] https://github.com/openjdk/jdk21u/blob/9de4f68c88a0a1510373f291d1a95b1f6b0db8c8/src/java.base/share/classes/sun/security/ssl/ECDHKeyExchange.java#L470</a:t>
            </a:r>
          </a:p>
          <a:p xmlns:a="http://schemas.openxmlformats.org/drawingml/2006/main">
            <a:r>
              <a:t>ECDHServerKeyExchange.java:249 [direct fatal call] https://github.com/openjdk/jdk21u/blob/9de4f68c88a0a1510373f291d1a95b1f6b0db8c8/src/java.base/share/classes/sun/security/ssl/ECDHServerKeyExchange.java#L249</a:t>
            </a:r>
          </a:p>
          <a:p xmlns:a="http://schemas.openxmlformats.org/drawingml/2006/main">
            <a:r>
              <a:t>ECDHServerKeyExchange.java:265 [direct fatal call] https://github.com/openjdk/jdk21u/blob/9de4f68c88a0a1510373f291d1a95b1f6b0db8c8/src/java.base/share/classes/sun/security/ssl/ECDHServerKeyExchange.java#L265</a:t>
            </a:r>
          </a:p>
          <a:p xmlns:a="http://schemas.openxmlformats.org/drawingml/2006/main">
            <a:r>
              <a:t>ECDHServerKeyExchange.java:271 [direct fatal call] https://github.com/openjdk/jdk21u/blob/9de4f68c88a0a1510373f291d1a95b1f6b0db8c8/src/java.base/share/classes/sun/security/ssl/ECDHServerKeyExchange.java#L271</a:t>
            </a:r>
          </a:p>
          <a:p xmlns:a="http://schemas.openxmlformats.org/drawingml/2006/main">
            <a:r>
              <a:t>ECDHServerKeyExchange.java:312 [direct fatal call] https://github.com/openjdk/jdk21u/blob/9de4f68c88a0a1510373f291d1a95b1f6b0db8c8/src/java.base/share/classes/sun/security/ssl/ECDHServerKeyExchange.java#L312</a:t>
            </a:r>
          </a:p>
          <a:p xmlns:a="http://schemas.openxmlformats.org/drawingml/2006/main">
            <a:r>
              <a:t>ECDHServerKeyExchange.java:316 [direct fatal call] https://github.com/openjdk/jdk21u/blob/9de4f68c88a0a1510373f291d1a95b1f6b0db8c8/src/java.base/share/classes/sun/security/ssl/ECDHServerKeyExchange.java#L316</a:t>
            </a:r>
          </a:p>
          <a:p xmlns:a="http://schemas.openxmlformats.org/drawingml/2006/main">
            <a:r>
              <a:t>ExtendedMasterSecretExtension.java:231 [direct fatal call] https://github.com/openjdk/jdk21u/blob/9de4f68c88a0a1510373f291d1a95b1f6b0db8c8/src/java.base/share/classes/sun/security/ssl/ExtendedMasterSecretExtension.java#L231</a:t>
            </a:r>
          </a:p>
          <a:p xmlns:a="http://schemas.openxmlformats.org/drawingml/2006/main">
            <a:r>
              <a:t>ExtendedMasterSecretExtension.java:241 [direct fatal call] https://github.com/openjdk/jdk21u/blob/9de4f68c88a0a1510373f291d1a95b1f6b0db8c8/src/java.base/share/classes/sun/security/ssl/ExtendedMasterSecretExtension.java#L241</a:t>
            </a:r>
          </a:p>
          <a:p xmlns:a="http://schemas.openxmlformats.org/drawingml/2006/main">
            <a:r>
              <a:t>ExtendedMasterSecretExtension.java:249 [direct fatal call] https://github.com/openjdk/jdk21u/blob/9de4f68c88a0a1510373f291d1a95b1f6b0db8c8/src/java.base/share/classes/sun/security/ssl/ExtendedMasterSecretExtension.java#L249</a:t>
            </a:r>
          </a:p>
          <a:p xmlns:a="http://schemas.openxmlformats.org/drawingml/2006/main">
            <a:r>
              <a:t>ExtendedMasterSecretExtension.java:357 [direct fatal call] https://github.com/openjdk/jdk21u/blob/9de4f68c88a0a1510373f291d1a95b1f6b0db8c8/src/java.base/share/classes/sun/security/ssl/ExtendedMasterSecretExtension.java#L357</a:t>
            </a:r>
          </a:p>
          <a:p xmlns:a="http://schemas.openxmlformats.org/drawingml/2006/main">
            <a:r>
              <a:t>ExtendedMasterSecretExtension.java:367 [direct fatal call] https://github.com/openjdk/jdk21u/blob/9de4f68c88a0a1510373f291d1a95b1f6b0db8c8/src/java.base/share/classes/sun/security/ssl/ExtendedMasterSecretExtension.java#L367</a:t>
            </a:r>
          </a:p>
          <a:p xmlns:a="http://schemas.openxmlformats.org/drawingml/2006/main">
            <a:r>
              <a:t>ExtendedMasterSecretExtension.java:374 [direct fatal call] https://github.com/openjdk/jdk21u/blob/9de4f68c88a0a1510373f291d1a95b1f6b0db8c8/src/java.base/share/classes/sun/security/ssl/ExtendedMasterSecretExtension.java#L374</a:t>
            </a:r>
          </a:p>
          <a:p xmlns:a="http://schemas.openxmlformats.org/drawingml/2006/main">
            <a:r>
              <a:t>HelloRequest.java:188 [direct fatal call] https://github.com/openjdk/jdk21u/blob/9de4f68c88a0a1510373f291d1a95b1f6b0db8c8/src/java.base/share/classes/sun/security/ssl/HelloRequest.java#L188</a:t>
            </a:r>
          </a:p>
          <a:p xmlns:a="http://schemas.openxmlformats.org/drawingml/2006/main">
            <a:r>
              <a:t>PskKeyExchangeModesExtension.java:324 [direct fatal call] https://github.com/openjdk/jdk21u/blob/9de4f68c88a0a1510373f291d1a95b1f6b0db8c8/src/java.base/share/classes/sun/security/ssl/PskKeyExchangeModesExtension.java#L324</a:t>
            </a:r>
          </a:p>
          <a:p xmlns:a="http://schemas.openxmlformats.org/drawingml/2006/main">
            <a:r>
              <a:t>RenegoInfoExtension.java:192 [direct fatal call] https://github.com/openjdk/jdk21u/blob/9de4f68c88a0a1510373f291d1a95b1f6b0db8c8/src/java.base/share/classes/sun/security/ssl/RenegoInfoExtension.java#L192</a:t>
            </a:r>
          </a:p>
          <a:p xmlns:a="http://schemas.openxmlformats.org/drawingml/2006/main">
            <a:r>
              <a:t>RenegoInfoExtension.java:239 [direct fatal call] https://github.com/openjdk/jdk21u/blob/9de4f68c88a0a1510373f291d1a95b1f6b0db8c8/src/java.base/share/classes/sun/security/ssl/RenegoInfoExtension.java#L239</a:t>
            </a:r>
          </a:p>
          <a:p xmlns:a="http://schemas.openxmlformats.org/drawingml/2006/main">
            <a:r>
              <a:t>RenegoInfoExtension.java:293 [direct fatal call] https://github.com/openjdk/jdk21u/blob/9de4f68c88a0a1510373f291d1a95b1f6b0db8c8/src/java.base/share/classes/sun/security/ssl/RenegoInfoExtension.java#L293</a:t>
            </a:r>
          </a:p>
          <a:p xmlns:a="http://schemas.openxmlformats.org/drawingml/2006/main">
            <a:r>
              <a:t>RenegoInfoExtension.java:305 [direct fatal call] https://github.com/openjdk/jdk21u/blob/9de4f68c88a0a1510373f291d1a95b1f6b0db8c8/src/java.base/share/classes/sun/security/ssl/RenegoInfoExtension.java#L305</a:t>
            </a:r>
          </a:p>
          <a:p xmlns:a="http://schemas.openxmlformats.org/drawingml/2006/main">
            <a:r>
              <a:t>RenegoInfoExtension.java:318 [direct fatal call] https://github.com/openjdk/jdk21u/blob/9de4f68c88a0a1510373f291d1a95b1f6b0db8c8/src/java.base/share/classes/sun/security/ssl/RenegoInfoExtension.java#L318</a:t>
            </a:r>
          </a:p>
          <a:p xmlns:a="http://schemas.openxmlformats.org/drawingml/2006/main">
            <a:r>
              <a:t>RenegoInfoExtension.java:442 [direct fatal call] https://github.com/openjdk/jdk21u/blob/9de4f68c88a0a1510373f291d1a95b1f6b0db8c8/src/java.base/share/classes/sun/security/ssl/RenegoInfoExtension.java#L442</a:t>
            </a:r>
          </a:p>
          <a:p xmlns:a="http://schemas.openxmlformats.org/drawingml/2006/main">
            <a:r>
              <a:t>RenegoInfoExtension.java:457 [direct fatal call] https://github.com/openjdk/jdk21u/blob/9de4f68c88a0a1510373f291d1a95b1f6b0db8c8/src/java.base/share/classes/sun/security/ssl/RenegoInfoExtension.java#L457</a:t>
            </a:r>
          </a:p>
          <a:p xmlns:a="http://schemas.openxmlformats.org/drawingml/2006/main">
            <a:r>
              <a:t>RenegoInfoExtension.java:466 [direct fatal call] https://github.com/openjdk/jdk21u/blob/9de4f68c88a0a1510373f291d1a95b1f6b0db8c8/src/java.base/share/classes/sun/security/ssl/RenegoInfoExtension.java#L466</a:t>
            </a:r>
          </a:p>
          <a:p xmlns:a="http://schemas.openxmlformats.org/drawingml/2006/main">
            <a:r>
              <a:t>RenegoInfoExtension.java:473 [direct fatal call] https://github.com/openjdk/jdk21u/blob/9de4f68c88a0a1510373f291d1a95b1f6b0db8c8/src/java.base/share/classes/sun/security/ssl/RenegoInfoExtension.java#L473</a:t>
            </a:r>
          </a:p>
          <a:p xmlns:a="http://schemas.openxmlformats.org/drawingml/2006/main">
            <a:r>
              <a:t>RenegoInfoExtension.java:514 [direct fatal call] https://github.com/openjdk/jdk21u/blob/9de4f68c88a0a1510373f291d1a95b1f6b0db8c8/src/java.base/share/classes/sun/security/ssl/RenegoInfoExtension.java#L514</a:t>
            </a:r>
          </a:p>
          <a:p xmlns:a="http://schemas.openxmlformats.org/drawingml/2006/main">
            <a:r>
              <a:t>RenegoInfoExtension.java:526 [direct fatal call] https://github.com/openjdk/jdk21u/blob/9de4f68c88a0a1510373f291d1a95b1f6b0db8c8/src/java.base/share/classes/sun/security/ssl/RenegoInfoExtension.java#L526</a:t>
            </a:r>
          </a:p>
          <a:p xmlns:a="http://schemas.openxmlformats.org/drawingml/2006/main">
            <a:r>
              <a:t>RenegoInfoExtension.java:539 [direct fatal call] https://github.com/openjdk/jdk21u/blob/9de4f68c88a0a1510373f291d1a95b1f6b0db8c8/src/java.base/share/classes/sun/security/ssl/RenegoInfoExtension.java#L539</a:t>
            </a:r>
          </a:p>
          <a:p xmlns:a="http://schemas.openxmlformats.org/drawingml/2006/main">
            <a:r>
              <a:t>RSAClientKeyExchange.java:78 [direct fatal call] https://github.com/openjdk/jdk21u/blob/9de4f68c88a0a1510373f291d1a95b1f6b0db8c8/src/java.base/share/classes/sun/security/ssl/RSAClientKeyExchange.java#L78</a:t>
            </a:r>
          </a:p>
          <a:p xmlns:a="http://schemas.openxmlformats.org/drawingml/2006/main">
            <a:r>
              <a:t>RSAKeyExchange.java:276 [direct fatal call] https://github.com/openjdk/jdk21u/blob/9de4f68c88a0a1510373f291d1a95b1f6b0db8c8/src/java.base/share/classes/sun/security/ssl/RSAKeyExchange.java#L276</a:t>
            </a:r>
          </a:p>
          <a:p xmlns:a="http://schemas.openxmlformats.org/drawingml/2006/main">
            <a:r>
              <a:t>RSAServerKeyExchange.java:136 [direct fatal call] https://github.com/openjdk/jdk21u/blob/9de4f68c88a0a1510373f291d1a95b1f6b0db8c8/src/java.base/share/classes/sun/security/ssl/RSAServerKeyExchange.java#L136</a:t>
            </a:r>
          </a:p>
          <a:p xmlns:a="http://schemas.openxmlformats.org/drawingml/2006/main">
            <a:r>
              <a:t>ServerHello.java:287 [direct fatal call] https://github.com/openjdk/jdk21u/blob/9de4f68c88a0a1510373f291d1a95b1f6b0db8c8/src/java.base/share/classes/sun/security/ssl/ServerHello.java#L287</a:t>
            </a:r>
          </a:p>
          <a:p xmlns:a="http://schemas.openxmlformats.org/drawingml/2006/main">
            <a:r>
              <a:t>ServerHello.java:459 [direct fatal call] https://github.com/openjdk/jdk21u/blob/9de4f68c88a0a1510373f291d1a95b1f6b0db8c8/src/java.base/share/classes/sun/security/ssl/ServerHello.java#L459</a:t>
            </a:r>
          </a:p>
          <a:p xmlns:a="http://schemas.openxmlformats.org/drawingml/2006/main">
            <a:r>
              <a:t>ServerHello.java:520 [direct fatal call] https://github.com/openjdk/jdk21u/blob/9de4f68c88a0a1510373f291d1a95b1f6b0db8c8/src/java.base/share/classes/sun/security/ssl/ServerHello.java#L520</a:t>
            </a:r>
          </a:p>
          <a:p xmlns:a="http://schemas.openxmlformats.org/drawingml/2006/main">
            <a:r>
              <a:t>ServerHello.java:622 [direct fatal call] https://github.com/openjdk/jdk21u/blob/9de4f68c88a0a1510373f291d1a95b1f6b0db8c8/src/java.base/share/classes/sun/security/ssl/ServerHello.java#L622</a:t>
            </a:r>
          </a:p>
          <a:p xmlns:a="http://schemas.openxmlformats.org/drawingml/2006/main">
            <a:r>
              <a:t>ServerHello.java:656 [direct fatal call] https://github.com/openjdk/jdk21u/blob/9de4f68c88a0a1510373f291d1a95b1f6b0db8c8/src/java.base/share/classes/sun/security/ssl/ServerHello.java#L656</a:t>
            </a:r>
          </a:p>
          <a:p xmlns:a="http://schemas.openxmlformats.org/drawingml/2006/main">
            <a:r>
              <a:t>ServerHello.java:753 [direct fatal call] https://github.com/openjdk/jdk21u/blob/9de4f68c88a0a1510373f291d1a95b1f6b0db8c8/src/java.base/share/classes/sun/security/ssl/ServerHello.java#L753</a:t>
            </a:r>
          </a:p>
          <a:p xmlns:a="http://schemas.openxmlformats.org/drawingml/2006/main">
            <a:r>
              <a:t>ServerHello.java:1321 [direct fatal call] https://github.com/openjdk/jdk21u/blob/9de4f68c88a0a1510373f291d1a95b1f6b0db8c8/src/java.base/share/classes/sun/security/ssl/ServerHello.java#L1321</a:t>
            </a:r>
          </a:p>
          <a:p xmlns:a="http://schemas.openxmlformats.org/drawingml/2006/main">
            <a:r>
              <a:t>ServerHello.java:1355 [direct fatal call] https://github.com/openjdk/jdk21u/blob/9de4f68c88a0a1510373f291d1a95b1f6b0db8c8/src/java.base/share/classes/sun/security/ssl/ServerHello.java#L1355</a:t>
            </a:r>
          </a:p>
          <a:p xmlns:a="http://schemas.openxmlformats.org/drawingml/2006/main">
            <a:r>
              <a:t>ServerHello.java:1455 [direct fatal call] https://github.com/openjdk/jdk21u/blob/9de4f68c88a0a1510373f291d1a95b1f6b0db8c8/src/java.base/share/classes/sun/security/ssl/ServerHello.java#L1455</a:t>
            </a:r>
          </a:p>
          <a:p xmlns:a="http://schemas.openxmlformats.org/drawingml/2006/main">
            <a:r>
              <a:t>ServerKeyExchange.java:71 [direct fatal call] https://github.com/openjdk/jdk21u/blob/9de4f68c88a0a1510373f291d1a95b1f6b0db8c8/src/java.base/share/classes/sun/security/ssl/ServerKeyExchange.java#L71</a:t>
            </a:r>
          </a:p>
          <a:p xmlns:a="http://schemas.openxmlformats.org/drawingml/2006/main">
            <a:r>
              <a:t>SignatureAlgorithmsExtension.java:436 [direct fatal call] https://github.com/openjdk/jdk21u/blob/9de4f68c88a0a1510373f291d1a95b1f6b0db8c8/src/java.base/share/classes/sun/security/ssl/SignatureAlgorithmsExtension.java#L436</a:t>
            </a:r>
          </a:p>
          <a:p xmlns:a="http://schemas.openxmlformats.org/drawingml/2006/main">
            <a:r>
              <a:t>SignatureAlgorithmsExtension.java:518 [direct fatal call] https://github.com/openjdk/jdk21u/blob/9de4f68c88a0a1510373f291d1a95b1f6b0db8c8/src/java.base/share/classes/sun/security/ssl/SignatureAlgorithmsExtension.java#L518</a:t>
            </a:r>
          </a:p>
          <a:p xmlns:a="http://schemas.openxmlformats.org/drawingml/2006/main">
            <a:r>
              <a:t>SignatureAlgorithmsExtension.java:541 [direct fatal call] https://github.com/openjdk/jdk21u/blob/9de4f68c88a0a1510373f291d1a95b1f6b0db8c8/src/java.base/share/classes/sun/security/ssl/SignatureAlgorithmsExtension.java#L541</a:t>
            </a:r>
          </a:p>
          <a:p xmlns:a="http://schemas.openxmlformats.org/drawingml/2006/main">
            <a:r>
              <a:t>SSLEngineImpl.java:109 [direct fatal call] https://github.com/openjdk/jdk21u/blob/9de4f68c88a0a1510373f291d1a95b1f6b0db8c8/src/java.base/share/classes/sun/security/ssl/SSLEngineImpl.java#L109</a:t>
            </a:r>
          </a:p>
          <a:p xmlns:a="http://schemas.openxmlformats.org/drawingml/2006/main">
            <a:r>
              <a:t>SSLEngineImpl.java:309 [direct fatal call] https://github.com/openjdk/jdk21u/blob/9de4f68c88a0a1510373f291d1a95b1f6b0db8c8/src/java.base/share/classes/sun/security/ssl/SSLEngineImpl.java#L309</a:t>
            </a:r>
          </a:p>
          <a:p xmlns:a="http://schemas.openxmlformats.org/drawingml/2006/main">
            <a:r>
              <a:t>SSLSocketImpl.java:461 [direct fatal call] https://github.com/openjdk/jdk21u/blob/9de4f68c88a0a1510373f291d1a95b1f6b0db8c8/src/java.base/share/classes/sun/security/ssl/SSLSocketImpl.java#L461</a:t>
            </a:r>
          </a:p>
          <a:p xmlns:a="http://schemas.openxmlformats.org/drawingml/2006/main">
            <a:r>
              <a:t>SSLSocketImpl.java:467 [direct fatal call] https://github.com/openjdk/jdk21u/blob/9de4f68c88a0a1510373f291d1a95b1f6b0db8c8/src/java.base/share/classes/sun/security/ssl/SSLSocketImpl.java#L467</a:t>
            </a:r>
          </a:p>
          <a:p xmlns:a="http://schemas.openxmlformats.org/drawingml/2006/main">
            <a:r>
              <a:t>SSLSocketImpl.java:1307 [direct fatal call] https://github.com/openjdk/jdk21u/blob/9de4f68c88a0a1510373f291d1a95b1f6b0db8c8/src/java.base/share/classes/sun/security/ssl/SSLSocketImpl.java#L1307</a:t>
            </a:r>
          </a:p>
          <a:p xmlns:a="http://schemas.openxmlformats.org/drawingml/2006/main">
            <a:r>
              <a:t>SSLSocketImpl.java:1686 [selection / comparison] https://github.com/openjdk/jdk21u/blob/9de4f68c88a0a1510373f291d1a95b1f6b0db8c8/src/java.base/share/classes/sun/security/ssl/SSLSocketImpl.java#L1686</a:t>
            </a:r>
          </a:p>
          <a:p xmlns:a="http://schemas.openxmlformats.org/drawingml/2006/main">
            <a:r>
              <a:t>SSLTransport.java:132 [selection / comparison] https://github.com/openjdk/jdk21u/blob/9de4f68c88a0a1510373f291d1a95b1f6b0db8c8/src/java.base/share/classes/sun/security/ssl/SSLTransport.java#L132</a:t>
            </a:r>
          </a:p>
          <a:p xmlns:a="http://schemas.openxmlformats.org/drawingml/2006/main">
            <a:r>
              <a:t>SSLTransport.java:137 [direct fatal call] https://github.com/openjdk/jdk21u/blob/9de4f68c88a0a1510373f291d1a95b1f6b0db8c8/src/java.base/share/classes/sun/security/ssl/SSLTransport.java#L137</a:t>
            </a:r>
          </a:p>
          <a:p xmlns:a="http://schemas.openxmlformats.org/drawingml/2006/main">
            <a:r>
              <a:t>XDHKeyExchange.java:200 [direct fatal call] https://github.com/openjdk/jdk21u/blob/9de4f68c88a0a1510373f291d1a95b1f6b0db8c8/src/java.base/share/classes/sun/security/ssl/XDHKeyExchange.java#L200</a:t>
            </a:r>
          </a:p>
          <a:p xmlns:a="http://schemas.openxmlformats.org/drawingml/2006/main">
            <a:r>
              <a:t/>
            </a:r>
          </a:p>
          <a:p xmlns:a="http://schemas.openxmlformats.org/drawingml/2006/main">
            <a:r>
              <a:t/>
            </a:r>
          </a:p>
          <a:p xmlns:a="http://schemas.openxmlformats.org/drawingml/2006/main">
            <a:r>
              <a:t>根拠URL</a:t>
            </a:r>
          </a:p>
          <a:p xmlns:a="http://schemas.openxmlformats.org/drawingml/2006/main">
            <a:r>
              <a:t>https://www.ietf.org/ietf-ftp/rfc/rfc9846.html#section-5.4</a:t>
            </a:r>
          </a:p>
          <a:p xmlns:a="http://schemas.openxmlformats.org/drawingml/2006/main">
            <a:r>
              <a:t>https://www.ietf.org/ietf-ftp/rfc/rfc9846.html#section-6.2</a:t>
            </a:r>
          </a:p>
          <a:p xmlns:a="http://schemas.openxmlformats.org/drawingml/2006/main">
            <a:r>
              <a:t>https://github.com/openjdk/jdk21u/blob/9de4f68c88a0a1510373f291d1a95b1f6b0db8c8/src/java.base/share/classes/sun/security/ssl/SSLCipher.java#L1928</a:t>
            </a:r>
          </a:p>
          <a:p xmlns:a="http://schemas.openxmlformats.org/drawingml/2006/main">
            <a:r>
              <a:t>https://github.com/openjdk/jdk21u/blob/9de4f68c88a0a1510373f291d1a95b1f6b0db8c8/src/java.base/share/classes/sun/security/ssl/SSLTransport.java#L132</a:t>
            </a:r>
          </a:p>
          <a:p xmlns:a="http://schemas.openxmlformats.org/drawingml/2006/main">
            <a:r>
              <a:t>https://github.com/openjdk/jdk21u/blob/9de4f68c88a0a1510373f291d1a95b1f6b0db8c8/src/java.base/share/classes/sun/security/ssl/TransportContext.java#L174</a:t>
            </a:r>
          </a:p>
          <a:p xmlns:a="http://schemas.openxmlformats.org/drawingml/2006/main">
            <a:r>
              <a:t>https://github.com/openjdk/jdk21u/blob/9de4f68c88a0a1510373f291d1a95b1f6b0db8c8/src/java.base/share/classes/sun/security/ssl/HandshakeContext.java#L471</a:t>
            </a:r>
          </a:p>
          <a:p xmlns:a="http://schemas.openxmlformats.org/drawingml/2006/main">
            <a:r>
              <a:t>https://github.com/openjdk/jdk21u/blob/9de4f68c88a0a1510373f291d1a95b1f6b0db8c8/src/java.base/share/classes/sun/security/ssl/SSLTransport.java#L124</a:t>
            </a:r>
          </a:p>
          <a:p xmlns:a="http://schemas.openxmlformats.org/drawingml/2006/main">
            <a:r>
              <a:t>https://github.com/openjdk/jdk21u/blob/9de4f68c88a0a1510373f291d1a95b1f6b0db8c8/src/java.base/share/classes/sun/security/ssl/Alert.java#L43</a:t>
            </a:r>
          </a:p>
          <a:p xmlns:a="http://schemas.openxmlformats.org/drawingml/2006/main">
            <a:r>
              <a:t>https://www.ietf.org/ietf-ftp/rfc/rfc9846.html#section-5.2</a:t>
            </a:r>
          </a:p>
          <a:p xmlns:a="http://schemas.openxmlformats.org/drawingml/2006/main">
            <a:r>
              <a:t>https://github.com/openjdk/jdk21u/blob/9de4f68c88a0a1510373f291d1a95b1f6b0db8c8/src/java.base/share/classes/sun/security/ssl/SSLCipher.java#L1861</a:t>
            </a:r>
          </a:p>
          <a:p xmlns:a="http://schemas.openxmlformats.org/drawingml/2006/main">
            <a:r>
              <a:t>https://github.com/openjdk/jdk21u/blob/9de4f68c88a0a1510373f291d1a95b1f6b0db8c8/src/java.base/share/classes/sun/security/ssl/SSLTransport.java#L122</a:t>
            </a:r>
          </a:p>
          <a:p xmlns:a="http://schemas.openxmlformats.org/drawingml/2006/main">
            <a:r>
              <a:t>https://github.com/openjdk/jdk21u/blob/9de4f68c88a0a1510373f291d1a95b1f6b0db8c8/src/java.base/share/classes/sun/security/ssl/SSLCipher.java#L2378</a:t>
            </a:r>
          </a:p>
          <a:p xmlns:a="http://schemas.openxmlformats.org/drawingml/2006/main">
            <a:r>
              <a:t>https://github.com/openjdk/jdk21u/blob/9de4f68c88a0a1510373f291d1a95b1f6b0db8c8/src/java.base/share/classes/sun/security/ssl/Alert.java#L44</a:t>
            </a:r>
          </a:p>
          <a:p xmlns:a="http://schemas.openxmlformats.org/drawingml/2006/main">
            <a:r>
              <a:t>https://www.ietf.org/ietf-ftp/rfc/rfc9846.html#section-5.1</a:t>
            </a:r>
          </a:p>
          <a:p xmlns:a="http://schemas.openxmlformats.org/drawingml/2006/main">
            <a:r>
              <a:t>https://github.com/openjdk/jdk21u/blob/9de4f68c88a0a1510373f291d1a95b1f6b0db8c8/src/java.base/share/classes/sun/security/ssl/SSLSocketInputRecord.java#L225</a:t>
            </a:r>
          </a:p>
          <a:p xmlns:a="http://schemas.openxmlformats.org/drawingml/2006/main">
            <a:r>
              <a:t>https://github.com/openjdk/jdk21u/blob/9de4f68c88a0a1510373f291d1a95b1f6b0db8c8/src/java.base/share/classes/sun/security/ssl/SSLTransport.java#L144</a:t>
            </a:r>
          </a:p>
          <a:p xmlns:a="http://schemas.openxmlformats.org/drawingml/2006/main">
            <a:r>
              <a:t>https://github.com/openjdk/jdk21u/blob/9de4f68c88a0a1510373f291d1a95b1f6b0db8c8/src/java.base/share/classes/sun/security/ssl/SSLEngineInputRecord.java#L224</a:t>
            </a:r>
          </a:p>
          <a:p xmlns:a="http://schemas.openxmlformats.org/drawingml/2006/main">
            <a:r>
              <a:t>https://github.com/openjdk/jdk21u/blob/9de4f68c88a0a1510373f291d1a95b1f6b0db8c8/src/java.base/share/classes/sun/security/ssl/SSLRecord.java#L79</a:t>
            </a:r>
          </a:p>
          <a:p xmlns:a="http://schemas.openxmlformats.org/drawingml/2006/main">
            <a:r>
              <a:t>https://github.com/openjdk/jdk21u/blob/9de4f68c88a0a1510373f291d1a95b1f6b0db8c8/src/java.base/share/classes/sun/security/ssl/Alert.java#L46</a:t>
            </a:r>
          </a:p>
          <a:p xmlns:a="http://schemas.openxmlformats.org/drawingml/2006/main">
            <a:r>
              <a:t>https://www.ietf.org/ietf-ftp/rfc/rfc9846.html#section-4.5.2</a:t>
            </a:r>
          </a:p>
          <a:p xmlns:a="http://schemas.openxmlformats.org/drawingml/2006/main">
            <a:r>
              <a:t>https://github.com/openjdk/jdk21u/blob/9de4f68c88a0a1510373f291d1a95b1f6b0db8c8/src/java.base/share/classes/sun/security/ssl/CertificateVerify.java#L1014</a:t>
            </a:r>
          </a:p>
          <a:p xmlns:a="http://schemas.openxmlformats.org/drawingml/2006/main">
            <a:r>
              <a:t>https://github.com/openjdk/jdk21u/blob/9de4f68c88a0a1510373f291d1a95b1f6b0db8c8/src/java.base/share/classes/sun/security/ssl/ServerHello.java#L519</a:t>
            </a:r>
          </a:p>
          <a:p xmlns:a="http://schemas.openxmlformats.org/drawingml/2006/main">
            <a:r>
              <a:t>https://github.com/openjdk/jdk21u/blob/9de4f68c88a0a1510373f291d1a95b1f6b0db8c8/src/java.base/share/classes/sun/security/ssl/KeyShareExtension.java#L817</a:t>
            </a:r>
          </a:p>
          <a:p xmlns:a="http://schemas.openxmlformats.org/drawingml/2006/main">
            <a:r>
              <a:t>https://github.com/openjdk/jdk21u/blob/9de4f68c88a0a1510373f291d1a95b1f6b0db8c8/src/java.base/share/classes/sun/security/ssl/Alert.java#L48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【42 bad_certificate】</a:t>
            </a:r>
          </a:p>
          <a:p xmlns:a="http://schemas.openxmlformats.org/drawingml/2006/main">
            <a:r>
              <a:t>RFC条件：証明書破損、証明書署名不正など。</a:t>
            </a:r>
          </a:p>
          <a:p xmlns:a="http://schemas.openxmlformats.org/drawingml/2006/main">
            <a:r>
              <a:t>定義：あり</a:t>
            </a:r>
          </a:p>
          <a:p xmlns:a="http://schemas.openxmlformats.org/drawingml/2006/main">
            <a:r>
              <a:t>静的評価：経路あり・条件付き</a:t>
            </a:r>
          </a:p>
          <a:p xmlns:a="http://schemas.openxmlformats.org/drawingml/2006/main">
            <a:r>
              <a:t>RFC違反の判定：条件付き違反（MD5拒否時）</a:t>
            </a:r>
          </a:p>
          <a:p xmlns:a="http://schemas.openxmlformats.org/drawingml/2006/main">
            <a:r>
              <a:t>判定理由：自己署名・信頼アンカー等の除外を除き、MD5での検証を要するクライアント証明書をTrustManagerがCertificateExceptionで拒否した場合、サーバー側は46を選ぶ。§4.5.1.3の42指定に反する。その具体的な到達は未テスト。</a:t>
            </a:r>
          </a:p>
          <a:p xmlns:a="http://schemas.openxmlformats.org/drawingml/2006/main">
            <a:r>
              <a:t>詳細：X.509パース失敗と、クライアント側で認識できたINVALID_SIGNATUREを42にする。NOT_YET_VALIDも42であり45ではない。TLS 1.3のMD5/SHA-1拒否は例外メッセージのMD5WITH/SHA1WITH検出で42へ変える {CertificateMessage.java:1328}。サーバー側のクライアント証明書検証失敗は一律46のため、全証明書・両方向で42を保証する実装ではない。</a:t>
            </a:r>
          </a:p>
          <a:p xmlns:a="http://schemas.openxmlformats.org/drawingml/2006/main">
            <a:r>
              <a:t>送信経路：クライアント／サーバー証明書のパース失敗 {CertificateMessage.java:1188}、{CertificateMessage.java:1252}。原因変換 {CertificateMessage.java:1322}。</a:t>
            </a:r>
          </a:p>
          <a:p xmlns:a="http://schemas.openxmlformats.org/drawingml/2006/main">
            <a:r>
              <a:t>根拠：</a:t>
            </a:r>
          </a:p>
          <a:p xmlns:a="http://schemas.openxmlformats.org/drawingml/2006/main">
            <a:r>
              <a:t>https://www.ietf.org/ietf-ftp/rfc/rfc9846.html#section-4.5.1.3</a:t>
            </a:r>
          </a:p>
          <a:p xmlns:a="http://schemas.openxmlformats.org/drawingml/2006/main">
            <a:r>
              <a:t>https://www.ietf.org/ietf-ftp/rfc/rfc9846.html#section-6.2</a:t>
            </a:r>
          </a:p>
          <a:p xmlns:a="http://schemas.openxmlformats.org/drawingml/2006/main">
            <a:r>
              <a:t>https://github.com/openjdk/jdk21u/blob/9de4f68c88a0a1510373f291d1a95b1f6b0db8c8/src/java.base/share/classes/sun/security/ssl/CertificateMessage.java#L1210</a:t>
            </a:r>
          </a:p>
          <a:p xmlns:a="http://schemas.openxmlformats.org/drawingml/2006/main">
            <a:r>
              <a:t>https://github.com/openjdk/jdk21u/blob/9de4f68c88a0a1510373f291d1a95b1f6b0db8c8/src/java.base/share/classes/sun/security/ssl/CertificateMessage.java#L1232</a:t>
            </a:r>
          </a:p>
          <a:p xmlns:a="http://schemas.openxmlformats.org/drawingml/2006/main">
            <a:r>
              <a:t>https://github.com/openjdk/jdk21u/blob/9de4f68c88a0a1510373f291d1a95b1f6b0db8c8/src/java.base/share/classes/sun/security/ssl/CertificateMessage.java#L1188</a:t>
            </a:r>
          </a:p>
          <a:p xmlns:a="http://schemas.openxmlformats.org/drawingml/2006/main">
            <a:r>
              <a:t>https://github.com/openjdk/jdk21u/blob/9de4f68c88a0a1510373f291d1a95b1f6b0db8c8/src/java.base/share/classes/sun/security/ssl/CertificateMessage.java#L1252</a:t>
            </a:r>
          </a:p>
          <a:p xmlns:a="http://schemas.openxmlformats.org/drawingml/2006/main">
            <a:r>
              <a:t>https://github.com/openjdk/jdk21u/blob/9de4f68c88a0a1510373f291d1a95b1f6b0db8c8/src/java.base/share/classes/sun/security/ssl/CertificateMessage.java#L1322</a:t>
            </a:r>
          </a:p>
          <a:p xmlns:a="http://schemas.openxmlformats.org/drawingml/2006/main">
            <a:r>
              <a:t>https://github.com/openjdk/jdk21u/blob/9de4f68c88a0a1510373f291d1a95b1f6b0db8c8/src/java.base/share/classes/sun/security/ssl/CertificateMessage.java#L1328</a:t>
            </a:r>
          </a:p>
          <a:p xmlns:a="http://schemas.openxmlformats.org/drawingml/2006/main">
            <a:r>
              <a:t>https://github.com/openjdk/jdk21u/blob/9de4f68c88a0a1510373f291d1a95b1f6b0db8c8/src/java.base/share/classes/sun/security/ssl/Alert.java#L50</a:t>
            </a:r>
          </a:p>
          <a:p xmlns:a="http://schemas.openxmlformats.org/drawingml/2006/main">
            <a:r>
              <a:t>対象133ファイルにおける当該Alertの全明示参照索引（定義行を除く）：</a:t>
            </a:r>
          </a:p>
          <a:p xmlns:a="http://schemas.openxmlformats.org/drawingml/2006/main">
            <a:r>
              <a:t>CertificateMessage.java:401 [direct fatal call] https://github.com/openjdk/jdk21u/blob/9de4f68c88a0a1510373f291d1a95b1f6b0db8c8/src/java.base/share/classes/sun/security/ssl/CertificateMessage.java#L401</a:t>
            </a:r>
          </a:p>
          <a:p xmlns:a="http://schemas.openxmlformats.org/drawingml/2006/main">
            <a:r>
              <a:t>CertificateMessage.java:419 [direct fatal call] https://github.com/openjdk/jdk21u/blob/9de4f68c88a0a1510373f291d1a95b1f6b0db8c8/src/java.base/share/classes/sun/security/ssl/CertificateMessage.java#L419</a:t>
            </a:r>
          </a:p>
          <a:p xmlns:a="http://schemas.openxmlformats.org/drawingml/2006/main">
            <a:r>
              <a:t>CertificateMessage.java:433 [direct fatal call] https://github.com/openjdk/jdk21u/blob/9de4f68c88a0a1510373f291d1a95b1f6b0db8c8/src/java.base/share/classes/sun/security/ssl/CertificateMessage.java#L433</a:t>
            </a:r>
          </a:p>
          <a:p xmlns:a="http://schemas.openxmlformats.org/drawingml/2006/main">
            <a:r>
              <a:t>CertificateMessage.java:452 [direct fatal call] https://github.com/openjdk/jdk21u/blob/9de4f68c88a0a1510373f291d1a95b1f6b0db8c8/src/java.base/share/classes/sun/security/ssl/CertificateMessage.java#L452</a:t>
            </a:r>
          </a:p>
          <a:p xmlns:a="http://schemas.openxmlformats.org/drawingml/2006/main">
            <a:r>
              <a:t>CertificateMessage.java:1187 [direct fatal call] https://github.com/openjdk/jdk21u/blob/9de4f68c88a0a1510373f291d1a95b1f6b0db8c8/src/java.base/share/classes/sun/security/ssl/CertificateMessage.java#L1187</a:t>
            </a:r>
          </a:p>
          <a:p xmlns:a="http://schemas.openxmlformats.org/drawingml/2006/main">
            <a:r>
              <a:t>CertificateMessage.java:1251 [direct fatal call] https://github.com/openjdk/jdk21u/blob/9de4f68c88a0a1510373f291d1a95b1f6b0db8c8/src/java.base/share/classes/sun/security/ssl/CertificateMessage.java#L1251</a:t>
            </a:r>
          </a:p>
          <a:p xmlns:a="http://schemas.openxmlformats.org/drawingml/2006/main">
            <a:r>
              <a:t>CertificateMessage.java:1324 [certificate alert mapping] https://github.com/openjdk/jdk21u/blob/9de4f68c88a0a1510373f291d1a95b1f6b0db8c8/src/java.base/share/classes/sun/security/ssl/CertificateMessage.java#L1324</a:t>
            </a:r>
          </a:p>
          <a:p xmlns:a="http://schemas.openxmlformats.org/drawingml/2006/main">
            <a:r>
              <a:t>CertificateMessage.java:1337 [certificate alert mapping] https://github.com/openjdk/jdk21u/blob/9de4f68c88a0a1510373f291d1a95b1f6b0db8c8/src/java.base/share/classes/sun/security/ssl/CertificateMessage.java#L1337</a:t>
            </a:r>
          </a:p>
          <a:p xmlns:a="http://schemas.openxmlformats.org/drawingml/2006/main">
            <a:r>
              <a:t>CertStatusExtension.java:1165 [direct fatal call] https://github.com/openjdk/jdk21u/blob/9de4f68c88a0a1510373f291d1a95b1f6b0db8c8/src/java.base/share/classes/sun/security/ssl/CertStatusExtension.java#L1165</a:t>
            </a:r>
          </a:p>
          <a:p xmlns:a="http://schemas.openxmlformats.org/drawingml/2006/main">
            <a:r>
              <a:t/>
            </a:r>
          </a:p>
          <a:p xmlns:a="http://schemas.openxmlformats.org/drawingml/2006/main">
            <a:r>
              <a:t>【43 unsupported_certificate】</a:t>
            </a:r>
          </a:p>
          <a:p xmlns:a="http://schemas.openxmlformats.org/drawingml/2006/main">
            <a:r>
              <a:t>RFC条件：未対応の証明書種別。</a:t>
            </a:r>
          </a:p>
          <a:p xmlns:a="http://schemas.openxmlformats.org/drawingml/2006/main">
            <a:r>
              <a:t>定義：あり</a:t>
            </a:r>
          </a:p>
          <a:p xmlns:a="http://schemas.openxmlformats.org/drawingml/2006/main">
            <a:r>
              <a:t>静的評価：変換経路あり・限定的</a:t>
            </a:r>
          </a:p>
          <a:p xmlns:a="http://schemas.openxmlformats.org/drawingml/2006/main">
            <a:r>
              <a:t>RFC違反の判定：違反未確認（確認範囲）</a:t>
            </a:r>
          </a:p>
          <a:p xmlns:a="http://schemas.openxmlformats.org/drawingml/2006/main">
            <a:r>
              <a:t>判定理由：アルゴリズム制約違反に43を選ぶことや任意の証明書形式を提供しないことだけでは違反といえない。§4.5.1.2は受入不能チェーンに適切な証明書関連アラートを要求し、既定例として43を挙げる。全条件適合を証明したものではない。</a:t>
            </a:r>
          </a:p>
          <a:p xmlns:a="http://schemas.openxmlformats.org/drawingml/2006/main">
            <a:r>
              <a:t>詳細：直接fatal(UNSUPPORTED_CERTIFICATE,...)を呼ぶ箇所はないが、getCertificateAlertの戻り値として43を送れる。TLS 1.3のMD5/SHA-1判定では42を優先する。主な実装用途はアルゴリズム制約であり、あらゆる未対応証明書形式に対する43送信を意味しない。RawPublicKeyは未対応とのコメントがある {CertificateMessage.java:732}。</a:t>
            </a:r>
          </a:p>
          <a:p xmlns:a="http://schemas.openxmlformats.org/drawingml/2006/main">
            <a:r>
              <a:t>送信経路：原因変換ALGORITHM_CONSTRAINED {CertificateMessage.java:1325} → checkServerCertsのfatal呼出し。</a:t>
            </a:r>
          </a:p>
          <a:p xmlns:a="http://schemas.openxmlformats.org/drawingml/2006/main">
            <a:r>
              <a:t>根拠：</a:t>
            </a:r>
          </a:p>
          <a:p xmlns:a="http://schemas.openxmlformats.org/drawingml/2006/main">
            <a:r>
              <a:t>https://www.ietf.org/ietf-ftp/rfc/rfc9846.html#section-4.5.1.2</a:t>
            </a:r>
          </a:p>
          <a:p xmlns:a="http://schemas.openxmlformats.org/drawingml/2006/main">
            <a:r>
              <a:t>https://www.ietf.org/ietf-ftp/rfc/rfc9846.html#section-6.2</a:t>
            </a:r>
          </a:p>
          <a:p xmlns:a="http://schemas.openxmlformats.org/drawingml/2006/main">
            <a:r>
              <a:t>https://github.com/openjdk/jdk21u/blob/9de4f68c88a0a1510373f291d1a95b1f6b0db8c8/src/java.base/share/classes/sun/security/ssl/CertificateMessage.java#L1325</a:t>
            </a:r>
          </a:p>
          <a:p xmlns:a="http://schemas.openxmlformats.org/drawingml/2006/main">
            <a:r>
              <a:t>https://github.com/openjdk/jdk21u/blob/9de4f68c88a0a1510373f291d1a95b1f6b0db8c8/src/java.base/share/classes/sun/security/ssl/CertificateMessage.java#L733</a:t>
            </a:r>
          </a:p>
          <a:p xmlns:a="http://schemas.openxmlformats.org/drawingml/2006/main">
            <a:r>
              <a:t>https://github.com/openjdk/jdk21u/blob/9de4f68c88a0a1510373f291d1a95b1f6b0db8c8/src/java.base/share/classes/sun/security/ssl/Alert.java#L51</a:t>
            </a:r>
          </a:p>
          <a:p xmlns:a="http://schemas.openxmlformats.org/drawingml/2006/main">
            <a:r>
              <a:t>対象133ファイルにおける当該Alertの全明示参照索引（定義行を除く）：</a:t>
            </a:r>
          </a:p>
          <a:p xmlns:a="http://schemas.openxmlformats.org/drawingml/2006/main">
            <a:r>
              <a:t>CertificateMessage.java:1326 [certificate alert mapping] https://github.com/openjdk/jdk21u/blob/9de4f68c88a0a1510373f291d1a95b1f6b0db8c8/src/java.base/share/classes/sun/security/ssl/CertificateMessage.java#L1326</a:t>
            </a:r>
          </a:p>
          <a:p xmlns:a="http://schemas.openxmlformats.org/drawingml/2006/main">
            <a:r>
              <a:t/>
            </a:r>
          </a:p>
          <a:p xmlns:a="http://schemas.openxmlformats.org/drawingml/2006/main">
            <a:r>
              <a:t>【44 certificate_revoked】</a:t>
            </a:r>
          </a:p>
          <a:p xmlns:a="http://schemas.openxmlformats.org/drawingml/2006/main">
            <a:r>
              <a:t>RFC条件：証明書が失効済み。</a:t>
            </a:r>
          </a:p>
          <a:p xmlns:a="http://schemas.openxmlformats.org/drawingml/2006/main">
            <a:r>
              <a:t>定義：あり</a:t>
            </a:r>
          </a:p>
          <a:p xmlns:a="http://schemas.openxmlformats.org/drawingml/2006/main">
            <a:r>
              <a:t>静的評価：変換経路あり・両方向一致せず</a:t>
            </a:r>
          </a:p>
          <a:p xmlns:a="http://schemas.openxmlformats.org/drawingml/2006/main">
            <a:r>
              <a:t>RFC違反の判定：SHOULDとの差・違反断定保留</a:t>
            </a:r>
          </a:p>
          <a:p xmlns:a="http://schemas.openxmlformats.org/drawingml/2006/main">
            <a:r>
              <a:t>判定理由：失効したクライアント証明書の拒否を44でなく46へ集約する。§6.2の適切なアラート選択というSHOULDとの差はあるが、引用した条件には常に44を送れという個別MUSTはない。stapling時113は別途評価が必要。</a:t>
            </a:r>
          </a:p>
          <a:p xmlns:a="http://schemas.openxmlformats.org/drawingml/2006/main">
            <a:r>
              <a:t>詳細：クライアントがサーバー証明書を検証し、CertificateExceptionの直下のcauseがCertPathValidatorException(REVOKED)の場合に44を選ぶ。staplingActive=trueなら113。サーバーがクライアント証明書を検証する経路はCertificateExceptionを一律46へ変換 {CertificateMessage.java:1231}。失効検査の有効化・TrustManagerの例外構造にも依存する。</a:t>
            </a:r>
          </a:p>
          <a:p xmlns:a="http://schemas.openxmlformats.org/drawingml/2006/main">
            <a:r>
              <a:t>送信経路：原因REVOKEDかつstaplingActive=false {CertificateMessage.java:1312}。</a:t>
            </a:r>
          </a:p>
          <a:p xmlns:a="http://schemas.openxmlformats.org/drawingml/2006/main">
            <a:r>
              <a:t>根拠：</a:t>
            </a:r>
          </a:p>
          <a:p xmlns:a="http://schemas.openxmlformats.org/drawingml/2006/main">
            <a:r>
              <a:t>https://www.ietf.org/ietf-ftp/rfc/rfc9846.html#section-6.2</a:t>
            </a:r>
          </a:p>
          <a:p xmlns:a="http://schemas.openxmlformats.org/drawingml/2006/main">
            <a:r>
              <a:t>https://www.ietf.org/ietf-ftp/rfc/rfc9846.html#section-4.5.1.3</a:t>
            </a:r>
          </a:p>
          <a:p xmlns:a="http://schemas.openxmlformats.org/drawingml/2006/main">
            <a:r>
              <a:t>https://github.com/openjdk/jdk21u/blob/9de4f68c88a0a1510373f291d1a95b1f6b0db8c8/src/java.base/share/classes/sun/security/ssl/CertificateMessage.java#L1232</a:t>
            </a:r>
          </a:p>
          <a:p xmlns:a="http://schemas.openxmlformats.org/drawingml/2006/main">
            <a:r>
              <a:t>https://github.com/openjdk/jdk21u/blob/9de4f68c88a0a1510373f291d1a95b1f6b0db8c8/src/java.base/share/classes/sun/security/ssl/CertificateMessage.java#L1312</a:t>
            </a:r>
          </a:p>
          <a:p xmlns:a="http://schemas.openxmlformats.org/drawingml/2006/main">
            <a:r>
              <a:t>https://github.com/openjdk/jdk21u/blob/9de4f68c88a0a1510373f291d1a95b1f6b0db8c8/src/java.base/share/classes/sun/security/ssl/CertificateMessage.java#L1231</a:t>
            </a:r>
          </a:p>
          <a:p xmlns:a="http://schemas.openxmlformats.org/drawingml/2006/main">
            <a:r>
              <a:t>https://github.com/openjdk/jdk21u/blob/9de4f68c88a0a1510373f291d1a95b1f6b0db8c8/src/java.base/share/classes/sun/security/ssl/Alert.java#L52</a:t>
            </a:r>
          </a:p>
          <a:p xmlns:a="http://schemas.openxmlformats.org/drawingml/2006/main">
            <a:r>
              <a:t>対象133ファイルにおける当該Alertの全明示参照索引（定義行を除く）：</a:t>
            </a:r>
          </a:p>
          <a:p xmlns:a="http://schemas.openxmlformats.org/drawingml/2006/main">
            <a:r>
              <a:t>CertificateMessage.java:1315 [certificate alert mapping] https://github.com/openjdk/jdk21u/blob/9de4f68c88a0a1510373f291d1a95b1f6b0db8c8/src/java.base/share/classes/sun/security/ssl/CertificateMessage.java#L1315</a:t>
            </a:r>
          </a:p>
          <a:p xmlns:a="http://schemas.openxmlformats.org/drawingml/2006/main">
            <a:r>
              <a:t/>
            </a:r>
          </a:p>
          <a:p xmlns:a="http://schemas.openxmlformats.org/drawingml/2006/main">
            <a:r>
              <a:t>【45 certificate_expired】</a:t>
            </a:r>
          </a:p>
          <a:p xmlns:a="http://schemas.openxmlformats.org/drawingml/2006/main">
            <a:r>
              <a:t>RFC条件：期限切れ、または現在有効でない証明書。</a:t>
            </a:r>
          </a:p>
          <a:p xmlns:a="http://schemas.openxmlformats.org/drawingml/2006/main">
            <a:r>
              <a:t>定義：あり</a:t>
            </a:r>
          </a:p>
          <a:p xmlns:a="http://schemas.openxmlformats.org/drawingml/2006/main">
            <a:r>
              <a:t>静的評価：変換経路あり・相違あり</a:t>
            </a:r>
          </a:p>
          <a:p xmlns:a="http://schemas.openxmlformats.org/drawingml/2006/main">
            <a:r>
              <a:t>RFC違反の判定：SHOULDとの差・違反断定保留</a:t>
            </a:r>
          </a:p>
          <a:p xmlns:a="http://schemas.openxmlformats.org/drawingml/2006/main">
            <a:r>
              <a:t>判定理由：NOT_YET_VALIDを42へ、クライアント証明書の期限エラーを46へ変換する。45の定義とは異なるが、全有効期間エラーに45を指定する個別MUSTは今回の根拠では確認していない。</a:t>
            </a:r>
          </a:p>
          <a:p xmlns:a="http://schemas.openxmlformats.org/drawingml/2006/main">
            <a:r>
              <a:t>詳細：クライアント側の直下causeがCertPathValidatorException(EXPIRED)なら45。しかしNOT_YET_VALIDは42 {CertificateMessage.java:1322}。サーバー側のクライアント証明書検証失敗は46。期限関連の全条件で45になるとはいえない。</a:t>
            </a:r>
          </a:p>
          <a:p xmlns:a="http://schemas.openxmlformats.org/drawingml/2006/main">
            <a:r>
              <a:t>送信経路：原因EXPIRED {CertificateMessage.java:1320} → 45。</a:t>
            </a:r>
          </a:p>
          <a:p xmlns:a="http://schemas.openxmlformats.org/drawingml/2006/main">
            <a:r>
              <a:t>根拠：</a:t>
            </a:r>
          </a:p>
          <a:p xmlns:a="http://schemas.openxmlformats.org/drawingml/2006/main">
            <a:r>
              <a:t>https://www.ietf.org/ietf-ftp/rfc/rfc9846.html#section-6.2</a:t>
            </a:r>
          </a:p>
          <a:p xmlns:a="http://schemas.openxmlformats.org/drawingml/2006/main">
            <a:r>
              <a:t>https://github.com/openjdk/jdk21u/blob/9de4f68c88a0a1510373f291d1a95b1f6b0db8c8/src/java.base/share/classes/sun/security/ssl/CertificateMessage.java#L1322</a:t>
            </a:r>
          </a:p>
          <a:p xmlns:a="http://schemas.openxmlformats.org/drawingml/2006/main">
            <a:r>
              <a:t>https://github.com/openjdk/jdk21u/blob/9de4f68c88a0a1510373f291d1a95b1f6b0db8c8/src/java.base/share/classes/sun/security/ssl/CertificateMessage.java#L1232</a:t>
            </a:r>
          </a:p>
          <a:p xmlns:a="http://schemas.openxmlformats.org/drawingml/2006/main">
            <a:r>
              <a:t>https://github.com/openjdk/jdk21u/blob/9de4f68c88a0a1510373f291d1a95b1f6b0db8c8/src/java.base/share/classes/sun/security/ssl/CertificateMessage.java#L1320</a:t>
            </a:r>
          </a:p>
          <a:p xmlns:a="http://schemas.openxmlformats.org/drawingml/2006/main">
            <a:r>
              <a:t>https://github.com/openjdk/jdk21u/blob/9de4f68c88a0a1510373f291d1a95b1f6b0db8c8/src/java.base/share/classes/sun/security/ssl/Alert.java#L53</a:t>
            </a:r>
          </a:p>
          <a:p xmlns:a="http://schemas.openxmlformats.org/drawingml/2006/main">
            <a:r>
              <a:t>対象133ファイルにおける当該Alertの全明示参照索引（定義行を除く）：</a:t>
            </a:r>
          </a:p>
          <a:p xmlns:a="http://schemas.openxmlformats.org/drawingml/2006/main">
            <a:r>
              <a:t>CertificateMessage.java:1321 [certificate alert mapping] https://github.com/openjdk/jdk21u/blob/9de4f68c88a0a1510373f291d1a95b1f6b0db8c8/src/java.base/share/classes/sun/security/ssl/CertificateMessage.java#L1321</a:t>
            </a:r>
          </a:p>
          <a:p xmlns:a="http://schemas.openxmlformats.org/drawingml/2006/main">
            <a:r>
              <a:t/>
            </a:r>
          </a:p>
          <a:p xmlns:a="http://schemas.openxmlformats.org/drawingml/2006/main">
            <a:r>
              <a:t/>
            </a:r>
          </a:p>
          <a:p xmlns:a="http://schemas.openxmlformats.org/drawingml/2006/main">
            <a:r>
              <a:t>根拠URL</a:t>
            </a:r>
          </a:p>
          <a:p xmlns:a="http://schemas.openxmlformats.org/drawingml/2006/main">
            <a:r>
              <a:t>https://www.ietf.org/ietf-ftp/rfc/rfc9846.html#section-4.5.1.3</a:t>
            </a:r>
          </a:p>
          <a:p xmlns:a="http://schemas.openxmlformats.org/drawingml/2006/main">
            <a:r>
              <a:t>https://www.ietf.org/ietf-ftp/rfc/rfc9846.html#section-6.2</a:t>
            </a:r>
          </a:p>
          <a:p xmlns:a="http://schemas.openxmlformats.org/drawingml/2006/main">
            <a:r>
              <a:t>https://github.com/openjdk/jdk21u/blob/9de4f68c88a0a1510373f291d1a95b1f6b0db8c8/src/java.base/share/classes/sun/security/ssl/CertificateMessage.java#L1210</a:t>
            </a:r>
          </a:p>
          <a:p xmlns:a="http://schemas.openxmlformats.org/drawingml/2006/main">
            <a:r>
              <a:t>https://github.com/openjdk/jdk21u/blob/9de4f68c88a0a1510373f291d1a95b1f6b0db8c8/src/java.base/share/classes/sun/security/ssl/CertificateMessage.java#L1232</a:t>
            </a:r>
          </a:p>
          <a:p xmlns:a="http://schemas.openxmlformats.org/drawingml/2006/main">
            <a:r>
              <a:t>https://github.com/openjdk/jdk21u/blob/9de4f68c88a0a1510373f291d1a95b1f6b0db8c8/src/java.base/share/classes/sun/security/ssl/CertificateMessage.java#L1188</a:t>
            </a:r>
          </a:p>
          <a:p xmlns:a="http://schemas.openxmlformats.org/drawingml/2006/main">
            <a:r>
              <a:t>https://github.com/openjdk/jdk21u/blob/9de4f68c88a0a1510373f291d1a95b1f6b0db8c8/src/java.base/share/classes/sun/security/ssl/CertificateMessage.java#L1252</a:t>
            </a:r>
          </a:p>
          <a:p xmlns:a="http://schemas.openxmlformats.org/drawingml/2006/main">
            <a:r>
              <a:t>https://github.com/openjdk/jdk21u/blob/9de4f68c88a0a1510373f291d1a95b1f6b0db8c8/src/java.base/share/classes/sun/security/ssl/CertificateMessage.java#L1322</a:t>
            </a:r>
          </a:p>
          <a:p xmlns:a="http://schemas.openxmlformats.org/drawingml/2006/main">
            <a:r>
              <a:t>https://github.com/openjdk/jdk21u/blob/9de4f68c88a0a1510373f291d1a95b1f6b0db8c8/src/java.base/share/classes/sun/security/ssl/CertificateMessage.java#L1328</a:t>
            </a:r>
          </a:p>
          <a:p xmlns:a="http://schemas.openxmlformats.org/drawingml/2006/main">
            <a:r>
              <a:t>https://github.com/openjdk/jdk21u/blob/9de4f68c88a0a1510373f291d1a95b1f6b0db8c8/src/java.base/share/classes/sun/security/ssl/Alert.java#L50</a:t>
            </a:r>
          </a:p>
          <a:p xmlns:a="http://schemas.openxmlformats.org/drawingml/2006/main">
            <a:r>
              <a:t>https://www.ietf.org/ietf-ftp/rfc/rfc9846.html#section-4.5.1.2</a:t>
            </a:r>
          </a:p>
          <a:p xmlns:a="http://schemas.openxmlformats.org/drawingml/2006/main">
            <a:r>
              <a:t>https://github.com/openjdk/jdk21u/blob/9de4f68c88a0a1510373f291d1a95b1f6b0db8c8/src/java.base/share/classes/sun/security/ssl/CertificateMessage.java#L1325</a:t>
            </a:r>
          </a:p>
          <a:p xmlns:a="http://schemas.openxmlformats.org/drawingml/2006/main">
            <a:r>
              <a:t>https://github.com/openjdk/jdk21u/blob/9de4f68c88a0a1510373f291d1a95b1f6b0db8c8/src/java.base/share/classes/sun/security/ssl/CertificateMessage.java#L733</a:t>
            </a:r>
          </a:p>
          <a:p xmlns:a="http://schemas.openxmlformats.org/drawingml/2006/main">
            <a:r>
              <a:t>https://github.com/openjdk/jdk21u/blob/9de4f68c88a0a1510373f291d1a95b1f6b0db8c8/src/java.base/share/classes/sun/security/ssl/Alert.java#L51</a:t>
            </a:r>
          </a:p>
          <a:p xmlns:a="http://schemas.openxmlformats.org/drawingml/2006/main">
            <a:r>
              <a:t>https://github.com/openjdk/jdk21u/blob/9de4f68c88a0a1510373f291d1a95b1f6b0db8c8/src/java.base/share/classes/sun/security/ssl/CertificateMessage.java#L1312</a:t>
            </a:r>
          </a:p>
          <a:p xmlns:a="http://schemas.openxmlformats.org/drawingml/2006/main">
            <a:r>
              <a:t>https://github.com/openjdk/jdk21u/blob/9de4f68c88a0a1510373f291d1a95b1f6b0db8c8/src/java.base/share/classes/sun/security/ssl/CertificateMessage.java#L1231</a:t>
            </a:r>
          </a:p>
          <a:p xmlns:a="http://schemas.openxmlformats.org/drawingml/2006/main">
            <a:r>
              <a:t>https://github.com/openjdk/jdk21u/blob/9de4f68c88a0a1510373f291d1a95b1f6b0db8c8/src/java.base/share/classes/sun/security/ssl/Alert.java#L52</a:t>
            </a:r>
          </a:p>
          <a:p xmlns:a="http://schemas.openxmlformats.org/drawingml/2006/main">
            <a:r>
              <a:t>https://github.com/openjdk/jdk21u/blob/9de4f68c88a0a1510373f291d1a95b1f6b0db8c8/src/java.base/share/classes/sun/security/ssl/CertificateMessage.java#L1320</a:t>
            </a:r>
          </a:p>
          <a:p xmlns:a="http://schemas.openxmlformats.org/drawingml/2006/main">
            <a:r>
              <a:t>https://github.com/openjdk/jdk21u/blob/9de4f68c88a0a1510373f291d1a95b1f6b0db8c8/src/java.base/share/classes/sun/security/ssl/Alert.java#L53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【46 certificate_unknown】</a:t>
            </a:r>
          </a:p>
          <a:p xmlns:a="http://schemas.openxmlformats.org/drawingml/2006/main">
            <a:r>
              <a:t>RFC条件：その他の証明書処理上の問題で受入不可。</a:t>
            </a:r>
          </a:p>
          <a:p xmlns:a="http://schemas.openxmlformats.org/drawingml/2006/main">
            <a:r>
              <a:t>定義：あり</a:t>
            </a:r>
          </a:p>
          <a:p xmlns:a="http://schemas.openxmlformats.org/drawingml/2006/main">
            <a:r>
              <a:t>静的評価：経路あり・広い集約</a:t>
            </a:r>
          </a:p>
          <a:p xmlns:a="http://schemas.openxmlformats.org/drawingml/2006/main">
            <a:r>
              <a:t>RFC違反の判定：条件付き違反（MD5拒否時）</a:t>
            </a:r>
          </a:p>
          <a:p xmlns:a="http://schemas.openxmlformats.org/drawingml/2006/main">
            <a:r>
              <a:t>判定理由：MD5によるクライアント証明書拒否まで46へ集約する場合は、§4.5.1.3の42指定に反する。bad_certificate行と同じ事象であり、その他の証明書エラーを46にすること全般が違反という意味ではない。</a:t>
            </a:r>
          </a:p>
          <a:p xmlns:a="http://schemas.openxmlformats.org/drawingml/2006/main">
            <a:r>
              <a:t>詳細：一般的な証明書エラーに46を選ぶ。クライアント証明書検証での失効・期限・信頼CA不明もこの共通catchに入り得る。クライアント側も認識するcause/reasonでなければ46。この集約のため、より具体的な番号を全条件で送り分ける実装とはいえない。</a:t>
            </a:r>
          </a:p>
          <a:p xmlns:a="http://schemas.openxmlformats.org/drawingml/2006/main">
            <a:r>
              <a:t>送信経路：サーバー側の検証例外 {CertificateMessage.java:692}、{CertificateMessage.java:1232}。クライアント側の変換既定値 {CertificateMessage.java:1307}。</a:t>
            </a:r>
          </a:p>
          <a:p xmlns:a="http://schemas.openxmlformats.org/drawingml/2006/main">
            <a:r>
              <a:t>根拠：</a:t>
            </a:r>
          </a:p>
          <a:p xmlns:a="http://schemas.openxmlformats.org/drawingml/2006/main">
            <a:r>
              <a:t>https://www.ietf.org/ietf-ftp/rfc/rfc9846.html#section-4.5.1.3</a:t>
            </a:r>
          </a:p>
          <a:p xmlns:a="http://schemas.openxmlformats.org/drawingml/2006/main">
            <a:r>
              <a:t>https://www.ietf.org/ietf-ftp/rfc/rfc9846.html#section-6.2</a:t>
            </a:r>
          </a:p>
          <a:p xmlns:a="http://schemas.openxmlformats.org/drawingml/2006/main">
            <a:r>
              <a:t>https://github.com/openjdk/jdk21u/blob/9de4f68c88a0a1510373f291d1a95b1f6b0db8c8/src/java.base/share/classes/sun/security/ssl/CertificateMessage.java#L1232</a:t>
            </a:r>
          </a:p>
          <a:p xmlns:a="http://schemas.openxmlformats.org/drawingml/2006/main">
            <a:r>
              <a:t>https://github.com/openjdk/jdk21u/blob/9de4f68c88a0a1510373f291d1a95b1f6b0db8c8/src/java.base/share/classes/sun/security/ssl/CertificateMessage.java#L692</a:t>
            </a:r>
          </a:p>
          <a:p xmlns:a="http://schemas.openxmlformats.org/drawingml/2006/main">
            <a:r>
              <a:t>https://github.com/openjdk/jdk21u/blob/9de4f68c88a0a1510373f291d1a95b1f6b0db8c8/src/java.base/share/classes/sun/security/ssl/CertificateMessage.java#L1307</a:t>
            </a:r>
          </a:p>
          <a:p xmlns:a="http://schemas.openxmlformats.org/drawingml/2006/main">
            <a:r>
              <a:t>https://github.com/openjdk/jdk21u/blob/9de4f68c88a0a1510373f291d1a95b1f6b0db8c8/src/java.base/share/classes/sun/security/ssl/Alert.java#L54</a:t>
            </a:r>
          </a:p>
          <a:p xmlns:a="http://schemas.openxmlformats.org/drawingml/2006/main">
            <a:r>
              <a:t>対象133ファイルにおける当該Alertの全明示参照索引（定義行を除く）：</a:t>
            </a:r>
          </a:p>
          <a:p xmlns:a="http://schemas.openxmlformats.org/drawingml/2006/main">
            <a:r>
              <a:t>CertificateMessage.java:692 [direct fatal call] https://github.com/openjdk/jdk21u/blob/9de4f68c88a0a1510373f291d1a95b1f6b0db8c8/src/java.base/share/classes/sun/security/ssl/CertificateMessage.java#L692</a:t>
            </a:r>
          </a:p>
          <a:p xmlns:a="http://schemas.openxmlformats.org/drawingml/2006/main">
            <a:r>
              <a:t>CertificateMessage.java:1232 [direct fatal call] https://github.com/openjdk/jdk21u/blob/9de4f68c88a0a1510373f291d1a95b1f6b0db8c8/src/java.base/share/classes/sun/security/ssl/CertificateMessage.java#L1232</a:t>
            </a:r>
          </a:p>
          <a:p xmlns:a="http://schemas.openxmlformats.org/drawingml/2006/main">
            <a:r>
              <a:t>CertificateMessage.java:1307 [certificate alert mapping] https://github.com/openjdk/jdk21u/blob/9de4f68c88a0a1510373f291d1a95b1f6b0db8c8/src/java.base/share/classes/sun/security/ssl/CertificateMessage.java#L1307</a:t>
            </a:r>
          </a:p>
          <a:p xmlns:a="http://schemas.openxmlformats.org/drawingml/2006/main">
            <a:r>
              <a:t>CertificateMessage.java:1319 [certificate alert mapping] https://github.com/openjdk/jdk21u/blob/9de4f68c88a0a1510373f291d1a95b1f6b0db8c8/src/java.base/share/classes/sun/security/ssl/CertificateMessage.java#L1319</a:t>
            </a:r>
          </a:p>
          <a:p xmlns:a="http://schemas.openxmlformats.org/drawingml/2006/main">
            <a:r>
              <a:t/>
            </a:r>
          </a:p>
          <a:p xmlns:a="http://schemas.openxmlformats.org/drawingml/2006/main">
            <a:r>
              <a:t>【47 illegal_parameter】</a:t>
            </a:r>
          </a:p>
          <a:p xmlns:a="http://schemas.openxmlformats.org/drawingml/2006/main">
            <a:r>
              <a:t>RFC条件：構文は正しいが値やフィールドの組合せが不正。</a:t>
            </a:r>
          </a:p>
          <a:p xmlns:a="http://schemas.openxmlformats.org/drawingml/2006/main">
            <a:r>
              <a:t>定義：あり</a:t>
            </a:r>
          </a:p>
          <a:p xmlns:a="http://schemas.openxmlformats.org/drawingml/2006/main">
            <a:r>
              <a:t>静的評価：経路あり・構文エラーにも使用</a:t>
            </a:r>
          </a:p>
          <a:p xmlns:a="http://schemas.openxmlformats.org/drawingml/2006/main">
            <a:r>
              <a:t>RFC違反の判定：違反あり（MUST不一致）</a:t>
            </a:r>
          </a:p>
          <a:p xmlns:a="http://schemas.openxmlformats.org/drawingml/2006/main">
            <a:r>
              <a:t>判定理由：KeyUpdateの長さ不正やCertificateVerifyのデータ不足に47を使用する。§6が構文エラーに指定する番号は50。意味エラーに47を使う正常な経路とは区別する。</a:t>
            </a:r>
          </a:p>
          <a:p xmlns:a="http://schemas.openxmlformats.org/drawingml/2006/main">
            <a:r>
              <a:t>詳細：意味上の不整合を47にする経路は多数ある。ただしCertificateVerifyの4バイト未満 {CertificateVerify.java:956}、KeyUpdateの長さ不正 {KeyUpdate.java:79}、Alertが2バイトでない場合 {Alert.java:194} も47。RFC §6の構文エラー50／意味エラー47の区別と一致しない例がある。PSK binder不一致にも47を使う {PreSharedKeyExtension.java:565}。</a:t>
            </a:r>
          </a:p>
          <a:p xmlns:a="http://schemas.openxmlformats.org/drawingml/2006/main">
            <a:r>
              <a:t>送信経路：PSK identity範囲違反 {PreSharedKeyExtension.java:900}、KeyUpdateのenum不正 {KeyUpdate.java:87} など。</a:t>
            </a:r>
          </a:p>
          <a:p xmlns:a="http://schemas.openxmlformats.org/drawingml/2006/main">
            <a:r>
              <a:t>根拠：</a:t>
            </a:r>
          </a:p>
          <a:p xmlns:a="http://schemas.openxmlformats.org/drawingml/2006/main">
            <a:r>
              <a:t>https://www.ietf.org/ietf-ftp/rfc/rfc9846.html#section-6</a:t>
            </a:r>
          </a:p>
          <a:p xmlns:a="http://schemas.openxmlformats.org/drawingml/2006/main">
            <a:r>
              <a:t>https://www.ietf.org/ietf-ftp/rfc/rfc9846.html#section-6.2</a:t>
            </a:r>
          </a:p>
          <a:p xmlns:a="http://schemas.openxmlformats.org/drawingml/2006/main">
            <a:r>
              <a:t>https://github.com/openjdk/jdk21u/blob/9de4f68c88a0a1510373f291d1a95b1f6b0db8c8/src/java.base/share/classes/sun/security/ssl/KeyUpdate.java#L80</a:t>
            </a:r>
          </a:p>
          <a:p xmlns:a="http://schemas.openxmlformats.org/drawingml/2006/main">
            <a:r>
              <a:t>https://github.com/openjdk/jdk21u/blob/9de4f68c88a0a1510373f291d1a95b1f6b0db8c8/src/java.base/share/classes/sun/security/ssl/CertificateVerify.java#L956</a:t>
            </a:r>
          </a:p>
          <a:p xmlns:a="http://schemas.openxmlformats.org/drawingml/2006/main">
            <a:r>
              <a:t>https://github.com/openjdk/jdk21u/blob/9de4f68c88a0a1510373f291d1a95b1f6b0db8c8/src/java.base/share/classes/sun/security/ssl/PreSharedKeyExtension.java#L900</a:t>
            </a:r>
          </a:p>
          <a:p xmlns:a="http://schemas.openxmlformats.org/drawingml/2006/main">
            <a:r>
              <a:t>https://github.com/openjdk/jdk21u/blob/9de4f68c88a0a1510373f291d1a95b1f6b0db8c8/src/java.base/share/classes/sun/security/ssl/KeyUpdate.java#L89</a:t>
            </a:r>
          </a:p>
          <a:p xmlns:a="http://schemas.openxmlformats.org/drawingml/2006/main">
            <a:r>
              <a:t>https://github.com/openjdk/jdk21u/blob/9de4f68c88a0a1510373f291d1a95b1f6b0db8c8/src/java.base/share/classes/sun/security/ssl/Alert.java#L188</a:t>
            </a:r>
          </a:p>
          <a:p xmlns:a="http://schemas.openxmlformats.org/drawingml/2006/main">
            <a:r>
              <a:t>https://github.com/openjdk/jdk21u/blob/9de4f68c88a0a1510373f291d1a95b1f6b0db8c8/src/java.base/share/classes/sun/security/ssl/PreSharedKeyExtension.java#L565</a:t>
            </a:r>
          </a:p>
          <a:p xmlns:a="http://schemas.openxmlformats.org/drawingml/2006/main">
            <a:r>
              <a:t>https://github.com/openjdk/jdk21u/blob/9de4f68c88a0a1510373f291d1a95b1f6b0db8c8/src/java.base/share/classes/sun/security/ssl/Alert.java#L55</a:t>
            </a:r>
          </a:p>
          <a:p xmlns:a="http://schemas.openxmlformats.org/drawingml/2006/main">
            <a:r>
              <a:t>対象133ファイルにおける当該Alertの全明示参照索引（定義行を除く）：</a:t>
            </a:r>
          </a:p>
          <a:p xmlns:a="http://schemas.openxmlformats.org/drawingml/2006/main">
            <a:r>
              <a:t>Alert.java:189 [direct fatal call] https://github.com/openjdk/jdk21u/blob/9de4f68c88a0a1510373f291d1a95b1f6b0db8c8/src/java.base/share/classes/sun/security/ssl/Alert.java#L189</a:t>
            </a:r>
          </a:p>
          <a:p xmlns:a="http://schemas.openxmlformats.org/drawingml/2006/main">
            <a:r>
              <a:t>AlpnExtension.java:196 [direct fatal call] https://github.com/openjdk/jdk21u/blob/9de4f68c88a0a1510373f291d1a95b1f6b0db8c8/src/java.base/share/classes/sun/security/ssl/AlpnExtension.java#L196</a:t>
            </a:r>
          </a:p>
          <a:p xmlns:a="http://schemas.openxmlformats.org/drawingml/2006/main">
            <a:r>
              <a:t>AlpnExtension.java:212 [direct fatal call] https://github.com/openjdk/jdk21u/blob/9de4f68c88a0a1510373f291d1a95b1f6b0db8c8/src/java.base/share/classes/sun/security/ssl/AlpnExtension.java#L212</a:t>
            </a:r>
          </a:p>
          <a:p xmlns:a="http://schemas.openxmlformats.org/drawingml/2006/main">
            <a:r>
              <a:t>AlpnExtension.java:228 [direct fatal call] https://github.com/openjdk/jdk21u/blob/9de4f68c88a0a1510373f291d1a95b1f6b0db8c8/src/java.base/share/classes/sun/security/ssl/AlpnExtension.java#L228</a:t>
            </a:r>
          </a:p>
          <a:p xmlns:a="http://schemas.openxmlformats.org/drawingml/2006/main">
            <a:r>
              <a:t>CertificateMessage.java:124 [direct fatal call] https://github.com/openjdk/jdk21u/blob/9de4f68c88a0a1510373f291d1a95b1f6b0db8c8/src/java.base/share/classes/sun/security/ssl/CertificateMessage.java#L124</a:t>
            </a:r>
          </a:p>
          <a:p xmlns:a="http://schemas.openxmlformats.org/drawingml/2006/main">
            <a:r>
              <a:t>CertificateRequest.java:176 [direct fatal call] https://github.com/openjdk/jdk21u/blob/9de4f68c88a0a1510373f291d1a95b1f6b0db8c8/src/java.base/share/classes/sun/security/ssl/CertificateRequest.java#L176</a:t>
            </a:r>
          </a:p>
          <a:p xmlns:a="http://schemas.openxmlformats.org/drawingml/2006/main">
            <a:r>
              <a:t>CertificateRequest.java:183 [direct fatal call] https://github.com/openjdk/jdk21u/blob/9de4f68c88a0a1510373f291d1a95b1f6b0db8c8/src/java.base/share/classes/sun/security/ssl/CertificateRequest.java#L183</a:t>
            </a:r>
          </a:p>
          <a:p xmlns:a="http://schemas.openxmlformats.org/drawingml/2006/main">
            <a:r>
              <a:t>CertificateRequest.java:448 [direct fatal call] https://github.com/openjdk/jdk21u/blob/9de4f68c88a0a1510373f291d1a95b1f6b0db8c8/src/java.base/share/classes/sun/security/ssl/CertificateRequest.java#L448</a:t>
            </a:r>
          </a:p>
          <a:p xmlns:a="http://schemas.openxmlformats.org/drawingml/2006/main">
            <a:r>
              <a:t>CertificateRequest.java:478 [direct fatal call] https://github.com/openjdk/jdk21u/blob/9de4f68c88a0a1510373f291d1a95b1f6b0db8c8/src/java.base/share/classes/sun/security/ssl/CertificateRequest.java#L478</a:t>
            </a:r>
          </a:p>
          <a:p xmlns:a="http://schemas.openxmlformats.org/drawingml/2006/main">
            <a:r>
              <a:t>CertificateRequest.java:486 [direct fatal call] https://github.com/openjdk/jdk21u/blob/9de4f68c88a0a1510373f291d1a95b1f6b0db8c8/src/java.base/share/classes/sun/security/ssl/CertificateRequest.java#L486</a:t>
            </a:r>
          </a:p>
          <a:p xmlns:a="http://schemas.openxmlformats.org/drawingml/2006/main">
            <a:r>
              <a:t>CertificateRequest.java:493 [direct fatal call] https://github.com/openjdk/jdk21u/blob/9de4f68c88a0a1510373f291d1a95b1f6b0db8c8/src/java.base/share/classes/sun/security/ssl/CertificateRequest.java#L493</a:t>
            </a:r>
          </a:p>
          <a:p xmlns:a="http://schemas.openxmlformats.org/drawingml/2006/main">
            <a:r>
              <a:t>CertificateRequest.java:507 [direct fatal call] https://github.com/openjdk/jdk21u/blob/9de4f68c88a0a1510373f291d1a95b1f6b0db8c8/src/java.base/share/classes/sun/security/ssl/CertificateRequest.java#L507</a:t>
            </a:r>
          </a:p>
          <a:p xmlns:a="http://schemas.openxmlformats.org/drawingml/2006/main">
            <a:r>
              <a:t>CertificateRequest.java:514 [direct fatal call] https://github.com/openjdk/jdk21u/blob/9de4f68c88a0a1510373f291d1a95b1f6b0db8c8/src/java.base/share/classes/sun/security/ssl/CertificateRequest.java#L514</a:t>
            </a:r>
          </a:p>
          <a:p xmlns:a="http://schemas.openxmlformats.org/drawingml/2006/main">
            <a:r>
              <a:t>CertificateRequest.java:858 [direct fatal call] https://github.com/openjdk/jdk21u/blob/9de4f68c88a0a1510373f291d1a95b1f6b0db8c8/src/java.base/share/classes/sun/security/ssl/CertificateRequest.java#L858</a:t>
            </a:r>
          </a:p>
          <a:p xmlns:a="http://schemas.openxmlformats.org/drawingml/2006/main">
            <a:r>
              <a:t>CertificateRequest.java:865 [direct fatal call] https://github.com/openjdk/jdk21u/blob/9de4f68c88a0a1510373f291d1a95b1f6b0db8c8/src/java.base/share/classes/sun/security/ssl/CertificateRequest.java#L865</a:t>
            </a:r>
          </a:p>
          <a:p xmlns:a="http://schemas.openxmlformats.org/drawingml/2006/main">
            <a:r>
              <a:t>CertificateVerify.java:117 [direct fatal call] https://github.com/openjdk/jdk21u/blob/9de4f68c88a0a1510373f291d1a95b1f6b0db8c8/src/java.base/share/classes/sun/security/ssl/CertificateVerify.java#L117</a:t>
            </a:r>
          </a:p>
          <a:p xmlns:a="http://schemas.openxmlformats.org/drawingml/2006/main">
            <a:r>
              <a:t>CertificateVerify.java:371 [direct fatal call] https://github.com/openjdk/jdk21u/blob/9de4f68c88a0a1510373f291d1a95b1f6b0db8c8/src/java.base/share/classes/sun/security/ssl/CertificateVerify.java#L371</a:t>
            </a:r>
          </a:p>
          <a:p xmlns:a="http://schemas.openxmlformats.org/drawingml/2006/main">
            <a:r>
              <a:t>CertificateVerify.java:634 [direct fatal call] https://github.com/openjdk/jdk21u/blob/9de4f68c88a0a1510373f291d1a95b1f6b0db8c8/src/java.base/share/classes/sun/security/ssl/CertificateVerify.java#L634</a:t>
            </a:r>
          </a:p>
          <a:p xmlns:a="http://schemas.openxmlformats.org/drawingml/2006/main">
            <a:r>
              <a:t>CertificateVerify.java:957 [direct fatal call] https://github.com/openjdk/jdk21u/blob/9de4f68c88a0a1510373f291d1a95b1f6b0db8c8/src/java.base/share/classes/sun/security/ssl/CertificateVerify.java#L957</a:t>
            </a:r>
          </a:p>
          <a:p xmlns:a="http://schemas.openxmlformats.org/drawingml/2006/main">
            <a:r>
              <a:t>ChangeCipherSpec.java:108 [direct fatal call] https://github.com/openjdk/jdk21u/blob/9de4f68c88a0a1510373f291d1a95b1f6b0db8c8/src/java.base/share/classes/sun/security/ssl/ChangeCipherSpec.java#L108</a:t>
            </a:r>
          </a:p>
          <a:p xmlns:a="http://schemas.openxmlformats.org/drawingml/2006/main">
            <a:r>
              <a:t>ChangeCipherSpec.java:204 [direct fatal call] https://github.com/openjdk/jdk21u/blob/9de4f68c88a0a1510373f291d1a95b1f6b0db8c8/src/java.base/share/classes/sun/security/ssl/ChangeCipherSpec.java#L204</a:t>
            </a:r>
          </a:p>
          <a:p xmlns:a="http://schemas.openxmlformats.org/drawingml/2006/main">
            <a:r>
              <a:t>ClientHello.java:142 [direct fatal call] https://github.com/openjdk/jdk21u/blob/9de4f68c88a0a1510373f291d1a95b1f6b0db8c8/src/java.base/share/classes/sun/security/ssl/ClientHello.java#L142</a:t>
            </a:r>
          </a:p>
          <a:p xmlns:a="http://schemas.openxmlformats.org/drawingml/2006/main">
            <a:r>
              <a:t>ClientHello.java:168 [direct fatal call] https://github.com/openjdk/jdk21u/blob/9de4f68c88a0a1510373f291d1a95b1f6b0db8c8/src/java.base/share/classes/sun/security/ssl/ClientHello.java#L168</a:t>
            </a:r>
          </a:p>
          <a:p xmlns:a="http://schemas.openxmlformats.org/drawingml/2006/main">
            <a:r>
              <a:t>ClientHello.java:179 [direct fatal call] https://github.com/openjdk/jdk21u/blob/9de4f68c88a0a1510373f291d1a95b1f6b0db8c8/src/java.base/share/classes/sun/security/ssl/ClientHello.java#L179</a:t>
            </a:r>
          </a:p>
          <a:p xmlns:a="http://schemas.openxmlformats.org/drawingml/2006/main">
            <a:r>
              <a:t>DHServerKeyExchange.java:109 [direct fatal call] https://github.com/openjdk/jdk21u/blob/9de4f68c88a0a1510373f291d1a95b1f6b0db8c8/src/java.base/share/classes/sun/security/ssl/DHServerKeyExchange.java#L109</a:t>
            </a:r>
          </a:p>
          <a:p xmlns:a="http://schemas.openxmlformats.org/drawingml/2006/main">
            <a:r>
              <a:t>ECDHClientKeyExchange.java:184 [direct fatal call] https://github.com/openjdk/jdk21u/blob/9de4f68c88a0a1510373f291d1a95b1f6b0db8c8/src/java.base/share/classes/sun/security/ssl/ECDHClientKeyExchange.java#L184</a:t>
            </a:r>
          </a:p>
          <a:p xmlns:a="http://schemas.openxmlformats.org/drawingml/2006/main">
            <a:r>
              <a:t>ECDHClientKeyExchange.java:190 [direct fatal call] https://github.com/openjdk/jdk21u/blob/9de4f68c88a0a1510373f291d1a95b1f6b0db8c8/src/java.base/share/classes/sun/security/ssl/ECDHClientKeyExchange.java#L190</a:t>
            </a:r>
          </a:p>
          <a:p xmlns:a="http://schemas.openxmlformats.org/drawingml/2006/main">
            <a:r>
              <a:t>ECDHClientKeyExchange.java:286 [direct fatal call] https://github.com/openjdk/jdk21u/blob/9de4f68c88a0a1510373f291d1a95b1f6b0db8c8/src/java.base/share/classes/sun/security/ssl/ECDHClientKeyExchange.java#L286</a:t>
            </a:r>
          </a:p>
          <a:p xmlns:a="http://schemas.openxmlformats.org/drawingml/2006/main">
            <a:r>
              <a:t>ECDHClientKeyExchange.java:295 [direct fatal call] https://github.com/openjdk/jdk21u/blob/9de4f68c88a0a1510373f291d1a95b1f6b0db8c8/src/java.base/share/classes/sun/security/ssl/ECDHClientKeyExchange.java#L295</a:t>
            </a:r>
          </a:p>
          <a:p xmlns:a="http://schemas.openxmlformats.org/drawingml/2006/main">
            <a:r>
              <a:t>ECDHClientKeyExchange.java:480 [direct fatal call] https://github.com/openjdk/jdk21u/blob/9de4f68c88a0a1510373f291d1a95b1f6b0db8c8/src/java.base/share/classes/sun/security/ssl/ECDHClientKeyExchange.java#L480</a:t>
            </a:r>
          </a:p>
          <a:p xmlns:a="http://schemas.openxmlformats.org/drawingml/2006/main">
            <a:r>
              <a:t>ECDHKeyExchange.java:305 [direct fatal call] https://github.com/openjdk/jdk21u/blob/9de4f68c88a0a1510373f291d1a95b1f6b0db8c8/src/java.base/share/classes/sun/security/ssl/ECDHKeyExchange.java#L305</a:t>
            </a:r>
          </a:p>
          <a:p xmlns:a="http://schemas.openxmlformats.org/drawingml/2006/main">
            <a:r>
              <a:t>ECDHKeyExchange.java:358 [direct fatal call] https://github.com/openjdk/jdk21u/blob/9de4f68c88a0a1510373f291d1a95b1f6b0db8c8/src/java.base/share/classes/sun/security/ssl/ECDHKeyExchange.java#L358</a:t>
            </a:r>
          </a:p>
          <a:p xmlns:a="http://schemas.openxmlformats.org/drawingml/2006/main">
            <a:r>
              <a:t>ECDHServerKeyExchange.java:109 [direct fatal call] https://github.com/openjdk/jdk21u/blob/9de4f68c88a0a1510373f291d1a95b1f6b0db8c8/src/java.base/share/classes/sun/security/ssl/ECDHServerKeyExchange.java#L109</a:t>
            </a:r>
          </a:p>
          <a:p xmlns:a="http://schemas.openxmlformats.org/drawingml/2006/main">
            <a:r>
              <a:t>ECDHServerKeyExchange.java:117 [direct fatal call] https://github.com/openjdk/jdk21u/blob/9de4f68c88a0a1510373f291d1a95b1f6b0db8c8/src/java.base/share/classes/sun/security/ssl/ECDHServerKeyExchange.java#L117</a:t>
            </a:r>
          </a:p>
          <a:p xmlns:a="http://schemas.openxmlformats.org/drawingml/2006/main">
            <a:r>
              <a:t>ECDHServerKeyExchange.java:125 [direct fatal call] https://github.com/openjdk/jdk21u/blob/9de4f68c88a0a1510373f291d1a95b1f6b0db8c8/src/java.base/share/classes/sun/security/ssl/ECDHServerKeyExchange.java#L125</a:t>
            </a:r>
          </a:p>
          <a:p xmlns:a="http://schemas.openxmlformats.org/drawingml/2006/main">
            <a:r>
              <a:t>ECDHServerKeyExchange.java:196 [direct fatal call] https://github.com/openjdk/jdk21u/blob/9de4f68c88a0a1510373f291d1a95b1f6b0db8c8/src/java.base/share/classes/sun/security/ssl/ECDHServerKeyExchange.java#L196</a:t>
            </a:r>
          </a:p>
          <a:p xmlns:a="http://schemas.openxmlformats.org/drawingml/2006/main">
            <a:r>
              <a:t>ECDHServerKeyExchange.java:203 [direct fatal call] https://github.com/openjdk/jdk21u/blob/9de4f68c88a0a1510373f291d1a95b1f6b0db8c8/src/java.base/share/classes/sun/security/ssl/ECDHServerKeyExchange.java#L203</a:t>
            </a:r>
          </a:p>
          <a:p xmlns:a="http://schemas.openxmlformats.org/drawingml/2006/main">
            <a:r>
              <a:t>ECDHServerKeyExchange.java:208 [direct fatal call] https://github.com/openjdk/jdk21u/blob/9de4f68c88a0a1510373f291d1a95b1f6b0db8c8/src/java.base/share/classes/sun/security/ssl/ECDHServerKeyExchange.java#L208</a:t>
            </a:r>
          </a:p>
          <a:p xmlns:a="http://schemas.openxmlformats.org/drawingml/2006/main">
            <a:r>
              <a:t>ECDHServerKeyExchange.java:214 [direct fatal call] https://github.com/openjdk/jdk21u/blob/9de4f68c88a0a1510373f291d1a95b1f6b0db8c8/src/java.base/share/classes/sun/security/ssl/ECDHServerKeyExchange.java#L214</a:t>
            </a:r>
          </a:p>
          <a:p xmlns:a="http://schemas.openxmlformats.org/drawingml/2006/main">
            <a:r>
              <a:t>EncryptedExtensions.java:63 [direct fatal call] https://github.com/openjdk/jdk21u/blob/9de4f68c88a0a1510373f291d1a95b1f6b0db8c8/src/java.base/share/classes/sun/security/ssl/EncryptedExtensions.java#L63</a:t>
            </a:r>
          </a:p>
          <a:p xmlns:a="http://schemas.openxmlformats.org/drawingml/2006/main">
            <a:r>
              <a:t>Finished.java:86 [direct fatal call] https://github.com/openjdk/jdk21u/blob/9de4f68c88a0a1510373f291d1a95b1f6b0db8c8/src/java.base/share/classes/sun/security/ssl/Finished.java#L86</a:t>
            </a:r>
          </a:p>
          <a:p xmlns:a="http://schemas.openxmlformats.org/drawingml/2006/main">
            <a:r>
              <a:t>Finished.java:119 [direct fatal call] https://github.com/openjdk/jdk21u/blob/9de4f68c88a0a1510373f291d1a95b1f6b0db8c8/src/java.base/share/classes/sun/security/ssl/Finished.java#L119</a:t>
            </a:r>
          </a:p>
          <a:p xmlns:a="http://schemas.openxmlformats.org/drawingml/2006/main">
            <a:r>
              <a:t>Finished.java:738 [direct fatal call] https://github.com/openjdk/jdk21u/blob/9de4f68c88a0a1510373f291d1a95b1f6b0db8c8/src/java.base/share/classes/sun/security/ssl/Finished.java#L738</a:t>
            </a:r>
          </a:p>
          <a:p xmlns:a="http://schemas.openxmlformats.org/drawingml/2006/main">
            <a:r>
              <a:t>Finished.java:840 [direct fatal call] https://github.com/openjdk/jdk21u/blob/9de4f68c88a0a1510373f291d1a95b1f6b0db8c8/src/java.base/share/classes/sun/security/ssl/Finished.java#L840</a:t>
            </a:r>
          </a:p>
          <a:p xmlns:a="http://schemas.openxmlformats.org/drawingml/2006/main">
            <a:r>
              <a:t>Finished.java:1006 [direct fatal call] https://github.com/openjdk/jdk21u/blob/9de4f68c88a0a1510373f291d1a95b1f6b0db8c8/src/java.base/share/classes/sun/security/ssl/Finished.java#L1006</a:t>
            </a:r>
          </a:p>
          <a:p xmlns:a="http://schemas.openxmlformats.org/drawingml/2006/main">
            <a:r>
              <a:t>Finished.java:1112 [direct fatal call] https://github.com/openjdk/jdk21u/blob/9de4f68c88a0a1510373f291d1a95b1f6b0db8c8/src/java.base/share/classes/sun/security/ssl/Finished.java#L1112</a:t>
            </a:r>
          </a:p>
          <a:p xmlns:a="http://schemas.openxmlformats.org/drawingml/2006/main">
            <a:r>
              <a:t>HelloRequest.java:62 [direct fatal call] https://github.com/openjdk/jdk21u/blob/9de4f68c88a0a1510373f291d1a95b1f6b0db8c8/src/java.base/share/classes/sun/security/ssl/HelloRequest.java#L62</a:t>
            </a:r>
          </a:p>
          <a:p xmlns:a="http://schemas.openxmlformats.org/drawingml/2006/main">
            <a:r>
              <a:t>HelloVerifyRequest.java:76 [direct fatal call] https://github.com/openjdk/jdk21u/blob/9de4f68c88a0a1510373f291d1a95b1f6b0db8c8/src/java.base/share/classes/sun/security/ssl/HelloVerifyRequest.java#L76</a:t>
            </a:r>
          </a:p>
          <a:p xmlns:a="http://schemas.openxmlformats.org/drawingml/2006/main">
            <a:r>
              <a:t>KeyShareExtension.java:907 [direct fatal call] https://github.com/openjdk/jdk21u/blob/9de4f68c88a0a1510373f291d1a95b1f6b0db8c8/src/java.base/share/classes/sun/security/ssl/KeyShareExtension.java#L907</a:t>
            </a:r>
          </a:p>
          <a:p xmlns:a="http://schemas.openxmlformats.org/drawingml/2006/main">
            <a:r>
              <a:t>KeyShareExtension.java:919 [direct fatal call] https://github.com/openjdk/jdk21u/blob/9de4f68c88a0a1510373f291d1a95b1f6b0db8c8/src/java.base/share/classes/sun/security/ssl/KeyShareExtension.java#L919</a:t>
            </a:r>
          </a:p>
          <a:p xmlns:a="http://schemas.openxmlformats.org/drawingml/2006/main">
            <a:r>
              <a:t>KeyShareExtension.java:928 [direct fatal call] https://github.com/openjdk/jdk21u/blob/9de4f68c88a0a1510373f291d1a95b1f6b0db8c8/src/java.base/share/classes/sun/security/ssl/KeyShareExtension.java#L928</a:t>
            </a:r>
          </a:p>
          <a:p xmlns:a="http://schemas.openxmlformats.org/drawingml/2006/main">
            <a:r>
              <a:t>KeyUpdate.java:81 [direct fatal call] https://github.com/openjdk/jdk21u/blob/9de4f68c88a0a1510373f291d1a95b1f6b0db8c8/src/java.base/share/classes/sun/security/ssl/KeyUpdate.java#L81</a:t>
            </a:r>
          </a:p>
          <a:p xmlns:a="http://schemas.openxmlformats.org/drawingml/2006/main">
            <a:r>
              <a:t>KeyUpdate.java:89 [direct fatal call] https://github.com/openjdk/jdk21u/blob/9de4f68c88a0a1510373f291d1a95b1f6b0db8c8/src/java.base/share/classes/sun/security/ssl/KeyUpdate.java#L89</a:t>
            </a:r>
          </a:p>
          <a:p xmlns:a="http://schemas.openxmlformats.org/drawingml/2006/main">
            <a:r>
              <a:t>KeyUpdate.java:230 [direct fatal call] https://github.com/openjdk/jdk21u/blob/9de4f68c88a0a1510373f291d1a95b1f6b0db8c8/src/java.base/share/classes/sun/security/ssl/KeyUpdate.java#L230</a:t>
            </a:r>
          </a:p>
          <a:p xmlns:a="http://schemas.openxmlformats.org/drawingml/2006/main">
            <a:r>
              <a:t>KeyUpdate.java:314 [direct fatal call] https://github.com/openjdk/jdk21u/blob/9de4f68c88a0a1510373f291d1a95b1f6b0db8c8/src/java.base/share/classes/sun/security/ssl/KeyUpdate.java#L314</a:t>
            </a:r>
          </a:p>
          <a:p xmlns:a="http://schemas.openxmlformats.org/drawingml/2006/main">
            <a:r>
              <a:t>MaxFragExtension.java:257 [direct fatal call] https://github.com/openjdk/jdk21u/blob/9de4f68c88a0a1510373f291d1a95b1f6b0db8c8/src/java.base/share/classes/sun/security/ssl/MaxFragExtension.java#L257</a:t>
            </a:r>
          </a:p>
          <a:p xmlns:a="http://schemas.openxmlformats.org/drawingml/2006/main">
            <a:r>
              <a:t>MaxFragExtension.java:364 [direct fatal call] https://github.com/openjdk/jdk21u/blob/9de4f68c88a0a1510373f291d1a95b1f6b0db8c8/src/java.base/share/classes/sun/security/ssl/MaxFragExtension.java#L364</a:t>
            </a:r>
          </a:p>
          <a:p xmlns:a="http://schemas.openxmlformats.org/drawingml/2006/main">
            <a:r>
              <a:t>MaxFragExtension.java:370 [direct fatal call] https://github.com/openjdk/jdk21u/blob/9de4f68c88a0a1510373f291d1a95b1f6b0db8c8/src/java.base/share/classes/sun/security/ssl/MaxFragExtension.java#L370</a:t>
            </a:r>
          </a:p>
          <a:p xmlns:a="http://schemas.openxmlformats.org/drawingml/2006/main">
            <a:r>
              <a:t>MaxFragExtension.java:530 [direct fatal call] https://github.com/openjdk/jdk21u/blob/9de4f68c88a0a1510373f291d1a95b1f6b0db8c8/src/java.base/share/classes/sun/security/ssl/MaxFragExtension.java#L530</a:t>
            </a:r>
          </a:p>
          <a:p xmlns:a="http://schemas.openxmlformats.org/drawingml/2006/main">
            <a:r>
              <a:t>MaxFragExtension.java:536 [direct fatal call] https://github.com/openjdk/jdk21u/blob/9de4f68c88a0a1510373f291d1a95b1f6b0db8c8/src/java.base/share/classes/sun/security/ssl/MaxFragExtension.java#L536</a:t>
            </a:r>
          </a:p>
          <a:p xmlns:a="http://schemas.openxmlformats.org/drawingml/2006/main">
            <a:r>
              <a:t>NewSessionTicket.java:76 [direct fatal call] https://github.com/openjdk/jdk21u/blob/9de4f68c88a0a1510373f291d1a95b1f6b0db8c8/src/java.base/share/classes/sun/security/ssl/NewSessionTicket.java#L76</a:t>
            </a:r>
          </a:p>
          <a:p xmlns:a="http://schemas.openxmlformats.org/drawingml/2006/main">
            <a:r>
              <a:t>NewSessionTicket.java:82 [direct fatal call] https://github.com/openjdk/jdk21u/blob/9de4f68c88a0a1510373f291d1a95b1f6b0db8c8/src/java.base/share/classes/sun/security/ssl/NewSessionTicket.java#L82</a:t>
            </a:r>
          </a:p>
          <a:p xmlns:a="http://schemas.openxmlformats.org/drawingml/2006/main">
            <a:r>
              <a:t>NewSessionTicket.java:113 [direct fatal call] https://github.com/openjdk/jdk21u/blob/9de4f68c88a0a1510373f291d1a95b1f6b0db8c8/src/java.base/share/classes/sun/security/ssl/NewSessionTicket.java#L113</a:t>
            </a:r>
          </a:p>
          <a:p xmlns:a="http://schemas.openxmlformats.org/drawingml/2006/main">
            <a:r>
              <a:t>NewSessionTicket.java:186 [direct fatal call] https://github.com/openjdk/jdk21u/blob/9de4f68c88a0a1510373f291d1a95b1f6b0db8c8/src/java.base/share/classes/sun/security/ssl/NewSessionTicket.java#L186</a:t>
            </a:r>
          </a:p>
          <a:p xmlns:a="http://schemas.openxmlformats.org/drawingml/2006/main">
            <a:r>
              <a:t>NewSessionTicket.java:195 [direct fatal call] https://github.com/openjdk/jdk21u/blob/9de4f68c88a0a1510373f291d1a95b1f6b0db8c8/src/java.base/share/classes/sun/security/ssl/NewSessionTicket.java#L195</a:t>
            </a:r>
          </a:p>
          <a:p xmlns:a="http://schemas.openxmlformats.org/drawingml/2006/main">
            <a:r>
              <a:t>NewSessionTicket.java:209 [direct fatal call] https://github.com/openjdk/jdk21u/blob/9de4f68c88a0a1510373f291d1a95b1f6b0db8c8/src/java.base/share/classes/sun/security/ssl/NewSessionTicket.java#L209</a:t>
            </a:r>
          </a:p>
          <a:p xmlns:a="http://schemas.openxmlformats.org/drawingml/2006/main">
            <a:r>
              <a:t>PreSharedKeyExtension.java:354 [direct fatal call] https://github.com/openjdk/jdk21u/blob/9de4f68c88a0a1510373f291d1a95b1f6b0db8c8/src/java.base/share/classes/sun/security/ssl/PreSharedKeyExtension.java#L354</a:t>
            </a:r>
          </a:p>
          <a:p xmlns:a="http://schemas.openxmlformats.org/drawingml/2006/main">
            <a:r>
              <a:t>PreSharedKeyExtension.java:361 [direct fatal call] https://github.com/openjdk/jdk21u/blob/9de4f68c88a0a1510373f291d1a95b1f6b0db8c8/src/java.base/share/classes/sun/security/ssl/PreSharedKeyExtension.java#L361</a:t>
            </a:r>
          </a:p>
          <a:p xmlns:a="http://schemas.openxmlformats.org/drawingml/2006/main">
            <a:r>
              <a:t>PreSharedKeyExtension.java:565 [direct fatal call] https://github.com/openjdk/jdk21u/blob/9de4f68c88a0a1510373f291d1a95b1f6b0db8c8/src/java.base/share/classes/sun/security/ssl/PreSharedKeyExtension.java#L565</a:t>
            </a:r>
          </a:p>
          <a:p xmlns:a="http://schemas.openxmlformats.org/drawingml/2006/main">
            <a:r>
              <a:t>PreSharedKeyExtension.java:900 [direct fatal call] https://github.com/openjdk/jdk21u/blob/9de4f68c88a0a1510373f291d1a95b1f6b0db8c8/src/java.base/share/classes/sun/security/ssl/PreSharedKeyExtension.java#L900</a:t>
            </a:r>
          </a:p>
          <a:p xmlns:a="http://schemas.openxmlformats.org/drawingml/2006/main">
            <a:r>
              <a:t>RSAClientKeyExchange.java:171 [direct fatal call] https://github.com/openjdk/jdk21u/blob/9de4f68c88a0a1510373f291d1a95b1f6b0db8c8/src/java.base/share/classes/sun/security/ssl/RSAClientKeyExchange.java#L171</a:t>
            </a:r>
          </a:p>
          <a:p xmlns:a="http://schemas.openxmlformats.org/drawingml/2006/main">
            <a:r>
              <a:t>RSAClientKeyExchange.java:178 [direct fatal call] https://github.com/openjdk/jdk21u/blob/9de4f68c88a0a1510373f291d1a95b1f6b0db8c8/src/java.base/share/classes/sun/security/ssl/RSAClientKeyExchange.java#L178</a:t>
            </a:r>
          </a:p>
          <a:p xmlns:a="http://schemas.openxmlformats.org/drawingml/2006/main">
            <a:r>
              <a:t>RSAClientKeyExchange.java:190 [direct fatal call] https://github.com/openjdk/jdk21u/blob/9de4f68c88a0a1510373f291d1a95b1f6b0db8c8/src/java.base/share/classes/sun/security/ssl/RSAClientKeyExchange.java#L190</a:t>
            </a:r>
          </a:p>
          <a:p xmlns:a="http://schemas.openxmlformats.org/drawingml/2006/main">
            <a:r>
              <a:t>RSAClientKeyExchange.java:261 [direct fatal call] https://github.com/openjdk/jdk21u/blob/9de4f68c88a0a1510373f291d1a95b1f6b0db8c8/src/java.base/share/classes/sun/security/ssl/RSAClientKeyExchange.java#L261</a:t>
            </a:r>
          </a:p>
          <a:p xmlns:a="http://schemas.openxmlformats.org/drawingml/2006/main">
            <a:r>
              <a:t>RSAClientKeyExchange.java:268 [direct fatal call] https://github.com/openjdk/jdk21u/blob/9de4f68c88a0a1510373f291d1a95b1f6b0db8c8/src/java.base/share/classes/sun/security/ssl/RSAClientKeyExchange.java#L268</a:t>
            </a:r>
          </a:p>
          <a:p xmlns:a="http://schemas.openxmlformats.org/drawingml/2006/main">
            <a:r>
              <a:t>RSAClientKeyExchange.java:286 [direct fatal call] https://github.com/openjdk/jdk21u/blob/9de4f68c88a0a1510373f291d1a95b1f6b0db8c8/src/java.base/share/classes/sun/security/ssl/RSAClientKeyExchange.java#L286</a:t>
            </a:r>
          </a:p>
          <a:p xmlns:a="http://schemas.openxmlformats.org/drawingml/2006/main">
            <a:r>
              <a:t>RSAServerKeyExchange.java:125 [direct fatal call] https://github.com/openjdk/jdk21u/blob/9de4f68c88a0a1510373f291d1a95b1f6b0db8c8/src/java.base/share/classes/sun/security/ssl/RSAServerKeyExchange.java#L125</a:t>
            </a:r>
          </a:p>
          <a:p xmlns:a="http://schemas.openxmlformats.org/drawingml/2006/main">
            <a:r>
              <a:t>RSAServerKeyExchange.java:254 [direct fatal call] https://github.com/openjdk/jdk21u/blob/9de4f68c88a0a1510373f291d1a95b1f6b0db8c8/src/java.base/share/classes/sun/security/ssl/RSAServerKeyExchange.java#L254</a:t>
            </a:r>
          </a:p>
          <a:p xmlns:a="http://schemas.openxmlformats.org/drawingml/2006/main">
            <a:r>
              <a:t>RSAServerKeyExchange.java:259 [direct fatal call] https://github.com/openjdk/jdk21u/blob/9de4f68c88a0a1510373f291d1a95b1f6b0db8c8/src/java.base/share/classes/sun/security/ssl/RSAServerKeyExchange.java#L259</a:t>
            </a:r>
          </a:p>
          <a:p xmlns:a="http://schemas.openxmlformats.org/drawingml/2006/main">
            <a:r>
              <a:t>ServerHello.java:143 [direct fatal call] https://github.com/openjdk/jdk21u/blob/9de4f68c88a0a1510373f291d1a95b1f6b0db8c8/src/java.base/share/classes/sun/security/ssl/ServerHello.java#L143</a:t>
            </a:r>
          </a:p>
          <a:p xmlns:a="http://schemas.openxmlformats.org/drawingml/2006/main">
            <a:r>
              <a:t>ServerHello.java:149 [direct fatal call] https://github.com/openjdk/jdk21u/blob/9de4f68c88a0a1510373f291d1a95b1f6b0db8c8/src/java.base/share/classes/sun/security/ssl/ServerHello.java#L149</a:t>
            </a:r>
          </a:p>
          <a:p xmlns:a="http://schemas.openxmlformats.org/drawingml/2006/main">
            <a:r>
              <a:t>ServerHello.java:156 [direct fatal call] https://github.com/openjdk/jdk21u/blob/9de4f68c88a0a1510373f291d1a95b1f6b0db8c8/src/java.base/share/classes/sun/security/ssl/ServerHello.java#L156</a:t>
            </a:r>
          </a:p>
          <a:p xmlns:a="http://schemas.openxmlformats.org/drawingml/2006/main">
            <a:r>
              <a:t>ServerHello.java:627 [direct fatal call] https://github.com/openjdk/jdk21u/blob/9de4f68c88a0a1510373f291d1a95b1f6b0db8c8/src/java.base/share/classes/sun/security/ssl/ServerHello.java#L627</a:t>
            </a:r>
          </a:p>
          <a:p xmlns:a="http://schemas.openxmlformats.org/drawingml/2006/main">
            <a:r>
              <a:t>ServerHello.java:661 [direct fatal call] https://github.com/openjdk/jdk21u/blob/9de4f68c88a0a1510373f291d1a95b1f6b0db8c8/src/java.base/share/classes/sun/security/ssl/ServerHello.java#L661</a:t>
            </a:r>
          </a:p>
          <a:p xmlns:a="http://schemas.openxmlformats.org/drawingml/2006/main">
            <a:r>
              <a:t>ServerHello.java:987 [direct fatal call] https://github.com/openjdk/jdk21u/blob/9de4f68c88a0a1510373f291d1a95b1f6b0db8c8/src/java.base/share/classes/sun/security/ssl/ServerHello.java#L987</a:t>
            </a:r>
          </a:p>
          <a:p xmlns:a="http://schemas.openxmlformats.org/drawingml/2006/main">
            <a:r>
              <a:t>ServerHello.java:1326 [direct fatal call] https://github.com/openjdk/jdk21u/blob/9de4f68c88a0a1510373f291d1a95b1f6b0db8c8/src/java.base/share/classes/sun/security/ssl/ServerHello.java#L1326</a:t>
            </a:r>
          </a:p>
          <a:p xmlns:a="http://schemas.openxmlformats.org/drawingml/2006/main">
            <a:r>
              <a:t>ServerHello.java:1360 [direct fatal call] https://github.com/openjdk/jdk21u/blob/9de4f68c88a0a1510373f291d1a95b1f6b0db8c8/src/java.base/share/classes/sun/security/ssl/ServerHello.java#L1360</a:t>
            </a:r>
          </a:p>
          <a:p xmlns:a="http://schemas.openxmlformats.org/drawingml/2006/main">
            <a:r>
              <a:t>ServerHelloDone.java:53 [direct fatal call] https://github.com/openjdk/jdk21u/blob/9de4f68c88a0a1510373f291d1a95b1f6b0db8c8/src/java.base/share/classes/sun/security/ssl/ServerHelloDone.java#L53</a:t>
            </a:r>
          </a:p>
          <a:p xmlns:a="http://schemas.openxmlformats.org/drawingml/2006/main">
            <a:r>
              <a:t>ServerNameExtension.java:140 [direct fatal call] https://github.com/openjdk/jdk21u/blob/9de4f68c88a0a1510373f291d1a95b1f6b0db8c8/src/java.base/share/classes/sun/security/ssl/ServerNameExtension.java#L140</a:t>
            </a:r>
          </a:p>
          <a:p xmlns:a="http://schemas.openxmlformats.org/drawingml/2006/main">
            <a:r>
              <a:t>ServerNameExtension.java:150 [direct fatal call] https://github.com/openjdk/jdk21u/blob/9de4f68c88a0a1510373f291d1a95b1f6b0db8c8/src/java.base/share/classes/sun/security/ssl/ServerNameExtension.java#L150</a:t>
            </a:r>
          </a:p>
          <a:p xmlns:a="http://schemas.openxmlformats.org/drawingml/2006/main">
            <a:r>
              <a:t>ServerNameExtension.java:156 [direct fatal call] https://github.com/openjdk/jdk21u/blob/9de4f68c88a0a1510373f291d1a95b1f6b0db8c8/src/java.base/share/classes/sun/security/ssl/ServerNameExtension.java#L156</a:t>
            </a:r>
          </a:p>
          <a:p xmlns:a="http://schemas.openxmlformats.org/drawingml/2006/main">
            <a:r>
              <a:t/>
            </a:r>
          </a:p>
          <a:p xmlns:a="http://schemas.openxmlformats.org/drawingml/2006/main">
            <a:r>
              <a:t>【48 unknown_ca】</a:t>
            </a:r>
          </a:p>
          <a:p xmlns:a="http://schemas.openxmlformats.org/drawingml/2006/main">
            <a:r>
              <a:t>RFC条件：証明書チェーンのCAを発見できない、または既知の信頼アンカーに結び付かない。</a:t>
            </a:r>
          </a:p>
          <a:p xmlns:a="http://schemas.openxmlformats.org/drawingml/2006/main">
            <a:r>
              <a:t>定義：あり</a:t>
            </a:r>
          </a:p>
          <a:p xmlns:a="http://schemas.openxmlformats.org/drawingml/2006/main">
            <a:r>
              <a:t>静的評価：定義のみ</a:t>
            </a:r>
          </a:p>
          <a:p xmlns:a="http://schemas.openxmlformats.org/drawingml/2006/main">
            <a:r>
              <a:t>RFC違反の判定：SHOULDとの差・違反断定保留</a:t>
            </a:r>
          </a:p>
          <a:p xmlns:a="http://schemas.openxmlformats.org/drawingml/2006/main">
            <a:r>
              <a:t>判定理由：信頼CA不明に48を選ぶ経路がなく46へ集約する。適切な番号選択というSHOULDとの差であり、§4.5.1.2の適切な証明書関連アラートというMUSTだけから常に48が必須とは断定しない。</a:t>
            </a:r>
          </a:p>
          <a:p xmlns:a="http://schemas.openxmlformats.org/drawingml/2006/main">
            <a:r>
              <a:t>詳細：48は定義されるが送信側で選ばれない。getCertificateAlertは信頼アンカー不明専用の分岐を持たず、認識外の理由は46。サーバー側も検証例外は46。したがってCA不明で常に48を送るという主張は成立しない。</a:t>
            </a:r>
          </a:p>
          <a:p xmlns:a="http://schemas.openxmlformats.org/drawingml/2006/main">
            <a:r>
              <a:t>送信経路：送信側参照なし。証明書例外変換 {CertificateMessage.java:1303} にUNKNOWN_CA分岐なし。</a:t>
            </a:r>
          </a:p>
          <a:p xmlns:a="http://schemas.openxmlformats.org/drawingml/2006/main">
            <a:r>
              <a:t>根拠：</a:t>
            </a:r>
          </a:p>
          <a:p xmlns:a="http://schemas.openxmlformats.org/drawingml/2006/main">
            <a:r>
              <a:t>https://www.ietf.org/ietf-ftp/rfc/rfc9846.html#section-6.2</a:t>
            </a:r>
          </a:p>
          <a:p xmlns:a="http://schemas.openxmlformats.org/drawingml/2006/main">
            <a:r>
              <a:t>https://www.ietf.org/ietf-ftp/rfc/rfc9846.html#section-4.5.1.2</a:t>
            </a:r>
          </a:p>
          <a:p xmlns:a="http://schemas.openxmlformats.org/drawingml/2006/main">
            <a:r>
              <a:t>https://github.com/openjdk/jdk21u/blob/9de4f68c88a0a1510373f291d1a95b1f6b0db8c8/src/java.base/share/classes/sun/security/ssl/CertificateMessage.java#L1303</a:t>
            </a:r>
          </a:p>
          <a:p xmlns:a="http://schemas.openxmlformats.org/drawingml/2006/main">
            <a:r>
              <a:t>https://github.com/openjdk/jdk21u/blob/9de4f68c88a0a1510373f291d1a95b1f6b0db8c8/src/java.base/share/classes/sun/security/ssl/Alert.java#L56</a:t>
            </a:r>
          </a:p>
          <a:p xmlns:a="http://schemas.openxmlformats.org/drawingml/2006/main">
            <a:r>
              <a:t>対象133ファイルにおける当該Alertの全明示参照索引（定義行を除く）：</a:t>
            </a:r>
          </a:p>
          <a:p xmlns:a="http://schemas.openxmlformats.org/drawingml/2006/main">
            <a:r>
              <a:t>参照0件。未定義または定義のみであり、未実装だけから違反と断定しない。</a:t>
            </a:r>
          </a:p>
          <a:p xmlns:a="http://schemas.openxmlformats.org/drawingml/2006/main">
            <a:r>
              <a:t/>
            </a:r>
          </a:p>
          <a:p xmlns:a="http://schemas.openxmlformats.org/drawingml/2006/main">
            <a:r>
              <a:t>【49 access_denied】</a:t>
            </a:r>
          </a:p>
          <a:p xmlns:a="http://schemas.openxmlformats.org/drawingml/2006/main">
            <a:r>
              <a:t>RFC条件：有効な証明書／PSKに対しアクセス制御で拒否。</a:t>
            </a:r>
          </a:p>
          <a:p xmlns:a="http://schemas.openxmlformats.org/drawingml/2006/main">
            <a:r>
              <a:t>定義：あり</a:t>
            </a:r>
          </a:p>
          <a:p xmlns:a="http://schemas.openxmlformats.org/drawingml/2006/main">
            <a:r>
              <a:t>静的評価：定義のみ</a:t>
            </a:r>
          </a:p>
          <a:p xmlns:a="http://schemas.openxmlformats.org/drawingml/2006/main">
            <a:r>
              <a:t>RFC違反の判定：未実装だけでは違反でない</a:t>
            </a:r>
          </a:p>
          <a:p xmlns:a="http://schemas.openxmlformats.org/drawingml/2006/main">
            <a:r>
              <a:t>判定理由：49の送信経路がない事実だけでは、該当するTLSアクセス制御を実施しているか、その拒否をどう通知したかが分からず違反を断定できない。49未実装を適合の証明とするものでもない。</a:t>
            </a:r>
          </a:p>
          <a:p xmlns:a="http://schemas.openxmlformats.org/drawingml/2006/main">
            <a:r>
              <a:t>詳細：49を明示的に選ぶSunJSSEのTLS送信経路は見つからない。アプリケーションの認可判断をこの番号に変換する一般的な経路も確認できない。認可機能を実装しない構成や、アプリケーション側の拒否まで一律にRFC違反とすることはできないが、49の送信実装があるとはいえない。</a:t>
            </a:r>
          </a:p>
          <a:p xmlns:a="http://schemas.openxmlformats.org/drawingml/2006/main">
            <a:r>
              <a:t>送信経路：送信側参照なし。</a:t>
            </a:r>
          </a:p>
          <a:p xmlns:a="http://schemas.openxmlformats.org/drawingml/2006/main">
            <a:r>
              <a:t>根拠：</a:t>
            </a:r>
          </a:p>
          <a:p xmlns:a="http://schemas.openxmlformats.org/drawingml/2006/main">
            <a:r>
              <a:t>https://www.ietf.org/ietf-ftp/rfc/rfc9846.html#section-6.2</a:t>
            </a:r>
          </a:p>
          <a:p xmlns:a="http://schemas.openxmlformats.org/drawingml/2006/main">
            <a:r>
              <a:t>https://github.com/openjdk/jdk21u/blob/9de4f68c88a0a1510373f291d1a95b1f6b0db8c8/src/java.base/share/classes/sun/security/ssl/Alert.java#L57</a:t>
            </a:r>
          </a:p>
          <a:p xmlns:a="http://schemas.openxmlformats.org/drawingml/2006/main">
            <a:r>
              <a:t>対象133ファイルにおける当該Alertの全明示参照索引（定義行を除く）：</a:t>
            </a:r>
          </a:p>
          <a:p xmlns:a="http://schemas.openxmlformats.org/drawingml/2006/main">
            <a:r>
              <a:t>参照0件。未定義または定義のみであり、未実装だけから違反と断定しない。</a:t>
            </a:r>
          </a:p>
          <a:p xmlns:a="http://schemas.openxmlformats.org/drawingml/2006/main">
            <a:r>
              <a:t/>
            </a:r>
          </a:p>
          <a:p xmlns:a="http://schemas.openxmlformats.org/drawingml/2006/main">
            <a:r>
              <a:t/>
            </a:r>
          </a:p>
          <a:p xmlns:a="http://schemas.openxmlformats.org/drawingml/2006/main">
            <a:r>
              <a:t>根拠URL</a:t>
            </a:r>
          </a:p>
          <a:p xmlns:a="http://schemas.openxmlformats.org/drawingml/2006/main">
            <a:r>
              <a:t>https://www.ietf.org/ietf-ftp/rfc/rfc9846.html#section-4.5.1.3</a:t>
            </a:r>
          </a:p>
          <a:p xmlns:a="http://schemas.openxmlformats.org/drawingml/2006/main">
            <a:r>
              <a:t>https://www.ietf.org/ietf-ftp/rfc/rfc9846.html#section-6.2</a:t>
            </a:r>
          </a:p>
          <a:p xmlns:a="http://schemas.openxmlformats.org/drawingml/2006/main">
            <a:r>
              <a:t>https://github.com/openjdk/jdk21u/blob/9de4f68c88a0a1510373f291d1a95b1f6b0db8c8/src/java.base/share/classes/sun/security/ssl/CertificateMessage.java#L1232</a:t>
            </a:r>
          </a:p>
          <a:p xmlns:a="http://schemas.openxmlformats.org/drawingml/2006/main">
            <a:r>
              <a:t>https://github.com/openjdk/jdk21u/blob/9de4f68c88a0a1510373f291d1a95b1f6b0db8c8/src/java.base/share/classes/sun/security/ssl/CertificateMessage.java#L692</a:t>
            </a:r>
          </a:p>
          <a:p xmlns:a="http://schemas.openxmlformats.org/drawingml/2006/main">
            <a:r>
              <a:t>https://github.com/openjdk/jdk21u/blob/9de4f68c88a0a1510373f291d1a95b1f6b0db8c8/src/java.base/share/classes/sun/security/ssl/CertificateMessage.java#L1307</a:t>
            </a:r>
          </a:p>
          <a:p xmlns:a="http://schemas.openxmlformats.org/drawingml/2006/main">
            <a:r>
              <a:t>https://github.com/openjdk/jdk21u/blob/9de4f68c88a0a1510373f291d1a95b1f6b0db8c8/src/java.base/share/classes/sun/security/ssl/Alert.java#L54</a:t>
            </a:r>
          </a:p>
          <a:p xmlns:a="http://schemas.openxmlformats.org/drawingml/2006/main">
            <a:r>
              <a:t>https://www.ietf.org/ietf-ftp/rfc/rfc9846.html#section-6</a:t>
            </a:r>
          </a:p>
          <a:p xmlns:a="http://schemas.openxmlformats.org/drawingml/2006/main">
            <a:r>
              <a:t>https://github.com/openjdk/jdk21u/blob/9de4f68c88a0a1510373f291d1a95b1f6b0db8c8/src/java.base/share/classes/sun/security/ssl/KeyUpdate.java#L80</a:t>
            </a:r>
          </a:p>
          <a:p xmlns:a="http://schemas.openxmlformats.org/drawingml/2006/main">
            <a:r>
              <a:t>https://github.com/openjdk/jdk21u/blob/9de4f68c88a0a1510373f291d1a95b1f6b0db8c8/src/java.base/share/classes/sun/security/ssl/CertificateVerify.java#L956</a:t>
            </a:r>
          </a:p>
          <a:p xmlns:a="http://schemas.openxmlformats.org/drawingml/2006/main">
            <a:r>
              <a:t>https://github.com/openjdk/jdk21u/blob/9de4f68c88a0a1510373f291d1a95b1f6b0db8c8/src/java.base/share/classes/sun/security/ssl/PreSharedKeyExtension.java#L900</a:t>
            </a:r>
          </a:p>
          <a:p xmlns:a="http://schemas.openxmlformats.org/drawingml/2006/main">
            <a:r>
              <a:t>https://github.com/openjdk/jdk21u/blob/9de4f68c88a0a1510373f291d1a95b1f6b0db8c8/src/java.base/share/classes/sun/security/ssl/KeyUpdate.java#L89</a:t>
            </a:r>
          </a:p>
          <a:p xmlns:a="http://schemas.openxmlformats.org/drawingml/2006/main">
            <a:r>
              <a:t>https://github.com/openjdk/jdk21u/blob/9de4f68c88a0a1510373f291d1a95b1f6b0db8c8/src/java.base/share/classes/sun/security/ssl/Alert.java#L188</a:t>
            </a:r>
          </a:p>
          <a:p xmlns:a="http://schemas.openxmlformats.org/drawingml/2006/main">
            <a:r>
              <a:t>https://github.com/openjdk/jdk21u/blob/9de4f68c88a0a1510373f291d1a95b1f6b0db8c8/src/java.base/share/classes/sun/security/ssl/PreSharedKeyExtension.java#L565</a:t>
            </a:r>
          </a:p>
          <a:p xmlns:a="http://schemas.openxmlformats.org/drawingml/2006/main">
            <a:r>
              <a:t>https://github.com/openjdk/jdk21u/blob/9de4f68c88a0a1510373f291d1a95b1f6b0db8c8/src/java.base/share/classes/sun/security/ssl/Alert.java#L55</a:t>
            </a:r>
          </a:p>
          <a:p xmlns:a="http://schemas.openxmlformats.org/drawingml/2006/main">
            <a:r>
              <a:t>https://www.ietf.org/ietf-ftp/rfc/rfc9846.html#section-4.5.1.2</a:t>
            </a:r>
          </a:p>
          <a:p xmlns:a="http://schemas.openxmlformats.org/drawingml/2006/main">
            <a:r>
              <a:t>https://github.com/openjdk/jdk21u/blob/9de4f68c88a0a1510373f291d1a95b1f6b0db8c8/src/java.base/share/classes/sun/security/ssl/CertificateMessage.java#L1303</a:t>
            </a:r>
          </a:p>
          <a:p xmlns:a="http://schemas.openxmlformats.org/drawingml/2006/main">
            <a:r>
              <a:t>https://github.com/openjdk/jdk21u/blob/9de4f68c88a0a1510373f291d1a95b1f6b0db8c8/src/java.base/share/classes/sun/security/ssl/Alert.java#L56</a:t>
            </a:r>
          </a:p>
          <a:p xmlns:a="http://schemas.openxmlformats.org/drawingml/2006/main">
            <a:r>
              <a:t>https://github.com/openjdk/jdk21u/blob/9de4f68c88a0a1510373f291d1a95b1f6b0db8c8/src/java.base/share/classes/sun/security/ssl/Alert.java#L57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decode_error】</a:t>
            </a:r>
          </a:p>
          <a:p xmlns:a="http://schemas.openxmlformats.org/drawingml/2006/main">
            <a:r>
              <a:t>RFC条件：範囲・長さなどの構文違反でメッセージを解析できない。</a:t>
            </a:r>
          </a:p>
          <a:p xmlns:a="http://schemas.openxmlformats.org/drawingml/2006/main">
            <a:r>
              <a:t>定義：あり</a:t>
            </a:r>
          </a:p>
          <a:p xmlns:a="http://schemas.openxmlformats.org/drawingml/2006/main">
            <a:r>
              <a:t>静的評価：経路あり・相違あり</a:t>
            </a:r>
          </a:p>
          <a:p xmlns:a="http://schemas.openxmlformats.org/drawingml/2006/main">
            <a:r>
              <a:t>RFC違反の判定：違反あり（MUST不一致）</a:t>
            </a:r>
          </a:p>
          <a:p xmlns:a="http://schemas.openxmlformats.org/drawingml/2006/main">
            <a:r>
              <a:t>判定理由：構文上の長さ不正を50でなく47へ送る分岐があり、§6の50指定に反する。Finished長不正や共通バッファ例外を50にする経路は別途対応している。</a:t>
            </a:r>
          </a:p>
          <a:p xmlns:a="http://schemas.openxmlformats.org/drawingml/2006/main">
            <a:r>
              <a:t>詳細：共通HandshakeContextはBufferUnderflowException/BufferOverflowExceptionを50へ変換 {HandshakeContext.java:482}。ただし各メッセージの明示的な長さチェックに47を使う例もあり、構文違反すべてを50に統一してはいない。空のTLS 1.3サーバー証明書は更新版で50へ修正され、21 GAでは42だった。</a:t>
            </a:r>
          </a:p>
          <a:p xmlns:a="http://schemas.openxmlformats.org/drawingml/2006/main">
            <a:r>
              <a:t>送信経路：拡張長不整合 {SSLExtensions.java:63}、Finished長不正 {Finished.java:105}、空のサーバー証明書 {CertificateMessage.java:1150}。</a:t>
            </a:r>
          </a:p>
          <a:p xmlns:a="http://schemas.openxmlformats.org/drawingml/2006/main">
            <a:r>
              <a:t>根拠：</a:t>
            </a:r>
          </a:p>
          <a:p xmlns:a="http://schemas.openxmlformats.org/drawingml/2006/main">
            <a:r>
              <a:t>https://www.ietf.org/ietf-ftp/rfc/rfc9846.html#section-6</a:t>
            </a:r>
          </a:p>
          <a:p xmlns:a="http://schemas.openxmlformats.org/drawingml/2006/main">
            <a:r>
              <a:t>https://www.ietf.org/ietf-ftp/rfc/rfc9846.html#section-6.2</a:t>
            </a:r>
          </a:p>
          <a:p xmlns:a="http://schemas.openxmlformats.org/drawingml/2006/main">
            <a:r>
              <a:t>https://github.com/openjdk/jdk21u/blob/9de4f68c88a0a1510373f291d1a95b1f6b0db8c8/src/java.base/share/classes/sun/security/ssl/KeyUpdate.java#L80</a:t>
            </a:r>
          </a:p>
          <a:p xmlns:a="http://schemas.openxmlformats.org/drawingml/2006/main">
            <a:r>
              <a:t>https://github.com/openjdk/jdk21u/blob/9de4f68c88a0a1510373f291d1a95b1f6b0db8c8/src/java.base/share/classes/sun/security/ssl/CertificateVerify.java#L956</a:t>
            </a:r>
          </a:p>
          <a:p xmlns:a="http://schemas.openxmlformats.org/drawingml/2006/main">
            <a:r>
              <a:t>https://github.com/openjdk/jdk21u/blob/9de4f68c88a0a1510373f291d1a95b1f6b0db8c8/src/java.base/share/classes/sun/security/ssl/SSLExtensions.java#L63</a:t>
            </a:r>
          </a:p>
          <a:p xmlns:a="http://schemas.openxmlformats.org/drawingml/2006/main">
            <a:r>
              <a:t>https://github.com/openjdk/jdk21u/blob/9de4f68c88a0a1510373f291d1a95b1f6b0db8c8/src/java.base/share/classes/sun/security/ssl/Finished.java#L105</a:t>
            </a:r>
          </a:p>
          <a:p xmlns:a="http://schemas.openxmlformats.org/drawingml/2006/main">
            <a:r>
              <a:t>https://github.com/openjdk/jdk21u/blob/9de4f68c88a0a1510373f291d1a95b1f6b0db8c8/src/java.base/share/classes/sun/security/ssl/CertificateMessage.java#L1150</a:t>
            </a:r>
          </a:p>
          <a:p xmlns:a="http://schemas.openxmlformats.org/drawingml/2006/main">
            <a:r>
              <a:t>https://github.com/openjdk/jdk21u/blob/9de4f68c88a0a1510373f291d1a95b1f6b0db8c8/src/java.base/share/classes/sun/security/ssl/HandshakeContext.java#L482</a:t>
            </a:r>
          </a:p>
          <a:p xmlns:a="http://schemas.openxmlformats.org/drawingml/2006/main">
            <a:r>
              <a:t>https://github.com/openjdk/jdk21u/blob/9de4f68c88a0a1510373f291d1a95b1f6b0db8c8/src/java.base/share/classes/sun/security/ssl/Alert.java#L58</a:t>
            </a:r>
          </a:p>
          <a:p xmlns:a="http://schemas.openxmlformats.org/drawingml/2006/main">
            <a:r>
              <a:t>対象133ファイルにおける当該Alertの全明示参照索引（定義行を除く）：</a:t>
            </a:r>
          </a:p>
          <a:p xmlns:a="http://schemas.openxmlformats.org/drawingml/2006/main">
            <a:r>
              <a:t>AlpnExtension.java:93 [direct fatal call] https://github.com/openjdk/jdk21u/blob/9de4f68c88a0a1510373f291d1a95b1f6b0db8c8/src/java.base/share/classes/sun/security/ssl/AlpnExtension.java#L93</a:t>
            </a:r>
          </a:p>
          <a:p xmlns:a="http://schemas.openxmlformats.org/drawingml/2006/main">
            <a:r>
              <a:t>AlpnExtension.java:101 [direct fatal call] https://github.com/openjdk/jdk21u/blob/9de4f68c88a0a1510373f291d1a95b1f6b0db8c8/src/java.base/share/classes/sun/security/ssl/AlpnExtension.java#L101</a:t>
            </a:r>
          </a:p>
          <a:p xmlns:a="http://schemas.openxmlformats.org/drawingml/2006/main">
            <a:r>
              <a:t>AlpnExtension.java:112 [direct fatal call] https://github.com/openjdk/jdk21u/blob/9de4f68c88a0a1510373f291d1a95b1f6b0db8c8/src/java.base/share/classes/sun/security/ssl/AlpnExtension.java#L112</a:t>
            </a:r>
          </a:p>
          <a:p xmlns:a="http://schemas.openxmlformats.org/drawingml/2006/main">
            <a:r>
              <a:t>CertificateAuthoritiesExtension.java:70 [direct fatal call] https://github.com/openjdk/jdk21u/blob/9de4f68c88a0a1510373f291d1a95b1f6b0db8c8/src/java.base/share/classes/sun/security/ssl/CertificateAuthoritiesExtension.java#L70</a:t>
            </a:r>
          </a:p>
          <a:p xmlns:a="http://schemas.openxmlformats.org/drawingml/2006/main">
            <a:r>
              <a:t>CertificateAuthoritiesExtension.java:78 [direct fatal call] https://github.com/openjdk/jdk21u/blob/9de4f68c88a0a1510373f291d1a95b1f6b0db8c8/src/java.base/share/classes/sun/security/ssl/CertificateAuthoritiesExtension.java#L78</a:t>
            </a:r>
          </a:p>
          <a:p xmlns:a="http://schemas.openxmlformats.org/drawingml/2006/main">
            <a:r>
              <a:t>CertificateAuthoritiesExtension.java:84 [direct fatal call] https://github.com/openjdk/jdk21u/blob/9de4f68c88a0a1510373f291d1a95b1f6b0db8c8/src/java.base/share/classes/sun/security/ssl/CertificateAuthoritiesExtension.java#L84</a:t>
            </a:r>
          </a:p>
          <a:p xmlns:a="http://schemas.openxmlformats.org/drawingml/2006/main">
            <a:r>
              <a:t>CertificateAuthoritiesExtension.java:290 [direct fatal call] https://github.com/openjdk/jdk21u/blob/9de4f68c88a0a1510373f291d1a95b1f6b0db8c8/src/java.base/share/classes/sun/security/ssl/CertificateAuthoritiesExtension.java#L290</a:t>
            </a:r>
          </a:p>
          <a:p xmlns:a="http://schemas.openxmlformats.org/drawingml/2006/main">
            <a:r>
              <a:t>CertificateAuthoritiesExtension.java:417 [direct fatal call] https://github.com/openjdk/jdk21u/blob/9de4f68c88a0a1510373f291d1a95b1f6b0db8c8/src/java.base/share/classes/sun/security/ssl/CertificateAuthoritiesExtension.java#L417</a:t>
            </a:r>
          </a:p>
          <a:p xmlns:a="http://schemas.openxmlformats.org/drawingml/2006/main">
            <a:r>
              <a:t>CertificateMessage.java:1150 [direct fatal call] https://github.com/openjdk/jdk21u/blob/9de4f68c88a0a1510373f291d1a95b1f6b0db8c8/src/java.base/share/classes/sun/security/ssl/CertificateMessage.java#L1150</a:t>
            </a:r>
          </a:p>
          <a:p xmlns:a="http://schemas.openxmlformats.org/drawingml/2006/main">
            <a:r>
              <a:t>CertificateRequest.java:396 [direct fatal call] https://github.com/openjdk/jdk21u/blob/9de4f68c88a0a1510373f291d1a95b1f6b0db8c8/src/java.base/share/classes/sun/security/ssl/CertificateRequest.java#L396</a:t>
            </a:r>
          </a:p>
          <a:p xmlns:a="http://schemas.openxmlformats.org/drawingml/2006/main">
            <a:r>
              <a:t>CertificateRequest.java:764 [direct fatal call] https://github.com/openjdk/jdk21u/blob/9de4f68c88a0a1510373f291d1a95b1f6b0db8c8/src/java.base/share/classes/sun/security/ssl/CertificateRequest.java#L764</a:t>
            </a:r>
          </a:p>
          <a:p xmlns:a="http://schemas.openxmlformats.org/drawingml/2006/main">
            <a:r>
              <a:t>CertStatusExtension.java:134 [direct fatal call] https://github.com/openjdk/jdk21u/blob/9de4f68c88a0a1510373f291d1a95b1f6b0db8c8/src/java.base/share/classes/sun/security/ssl/CertStatusExtension.java#L134</a:t>
            </a:r>
          </a:p>
          <a:p xmlns:a="http://schemas.openxmlformats.org/drawingml/2006/main">
            <a:r>
              <a:t>CertStatusExtension.java:186 [direct fatal call] https://github.com/openjdk/jdk21u/blob/9de4f68c88a0a1510373f291d1a95b1f6b0db8c8/src/java.base/share/classes/sun/security/ssl/CertStatusExtension.java#L186</a:t>
            </a:r>
          </a:p>
          <a:p xmlns:a="http://schemas.openxmlformats.org/drawingml/2006/main">
            <a:r>
              <a:t>CertStatusExtension.java:793 [direct fatal call] https://github.com/openjdk/jdk21u/blob/9de4f68c88a0a1510373f291d1a95b1f6b0db8c8/src/java.base/share/classes/sun/security/ssl/CertStatusExtension.java#L793</a:t>
            </a:r>
          </a:p>
          <a:p xmlns:a="http://schemas.openxmlformats.org/drawingml/2006/main">
            <a:r>
              <a:t>CertStatusExtension.java:800 [direct fatal call] https://github.com/openjdk/jdk21u/blob/9de4f68c88a0a1510373f291d1a95b1f6b0db8c8/src/java.base/share/classes/sun/security/ssl/CertStatusExtension.java#L800</a:t>
            </a:r>
          </a:p>
          <a:p xmlns:a="http://schemas.openxmlformats.org/drawingml/2006/main">
            <a:r>
              <a:t>CertStatusExtension.java:814 [direct fatal call] https://github.com/openjdk/jdk21u/blob/9de4f68c88a0a1510373f291d1a95b1f6b0db8c8/src/java.base/share/classes/sun/security/ssl/CertStatusExtension.java#L814</a:t>
            </a:r>
          </a:p>
          <a:p xmlns:a="http://schemas.openxmlformats.org/drawingml/2006/main">
            <a:r>
              <a:t>CertStatusExtension.java:834 [direct fatal call] https://github.com/openjdk/jdk21u/blob/9de4f68c88a0a1510373f291d1a95b1f6b0db8c8/src/java.base/share/classes/sun/security/ssl/CertStatusExtension.java#L834</a:t>
            </a:r>
          </a:p>
          <a:p xmlns:a="http://schemas.openxmlformats.org/drawingml/2006/main">
            <a:r>
              <a:t>CookieExtension.java:70 [direct fatal call] https://github.com/openjdk/jdk21u/blob/9de4f68c88a0a1510373f291d1a95b1f6b0db8c8/src/java.base/share/classes/sun/security/ssl/CookieExtension.java#L70</a:t>
            </a:r>
          </a:p>
          <a:p xmlns:a="http://schemas.openxmlformats.org/drawingml/2006/main">
            <a:r>
              <a:t>ECPointFormatsExtension.java:70 [direct fatal call] https://github.com/openjdk/jdk21u/blob/9de4f68c88a0a1510373f291d1a95b1f6b0db8c8/src/java.base/share/classes/sun/security/ssl/ECPointFormatsExtension.java#L70</a:t>
            </a:r>
          </a:p>
          <a:p xmlns:a="http://schemas.openxmlformats.org/drawingml/2006/main">
            <a:r>
              <a:t>ExtendedMasterSecretExtension.java:75 [direct fatal call] https://github.com/openjdk/jdk21u/blob/9de4f68c88a0a1510373f291d1a95b1f6b0db8c8/src/java.base/share/classes/sun/security/ssl/ExtendedMasterSecretExtension.java#L75</a:t>
            </a:r>
          </a:p>
          <a:p xmlns:a="http://schemas.openxmlformats.org/drawingml/2006/main">
            <a:r>
              <a:t>Finished.java:105 [direct fatal call] https://github.com/openjdk/jdk21u/blob/9de4f68c88a0a1510373f291d1a95b1f6b0db8c8/src/java.base/share/classes/sun/security/ssl/Finished.java#L105</a:t>
            </a:r>
          </a:p>
          <a:p xmlns:a="http://schemas.openxmlformats.org/drawingml/2006/main">
            <a:r>
              <a:t>HandshakeContext.java:483 [direct fatal call] https://github.com/openjdk/jdk21u/blob/9de4f68c88a0a1510373f291d1a95b1f6b0db8c8/src/java.base/share/classes/sun/security/ssl/HandshakeContext.java#L483</a:t>
            </a:r>
          </a:p>
          <a:p xmlns:a="http://schemas.openxmlformats.org/drawingml/2006/main">
            <a:r>
              <a:t>KeyShareExtension.java:145 [direct fatal call] https://github.com/openjdk/jdk21u/blob/9de4f68c88a0a1510373f291d1a95b1f6b0db8c8/src/java.base/share/classes/sun/security/ssl/KeyShareExtension.java#L145</a:t>
            </a:r>
          </a:p>
          <a:p xmlns:a="http://schemas.openxmlformats.org/drawingml/2006/main">
            <a:r>
              <a:t>KeyShareExtension.java:153 [direct fatal call] https://github.com/openjdk/jdk21u/blob/9de4f68c88a0a1510373f291d1a95b1f6b0db8c8/src/java.base/share/classes/sun/security/ssl/KeyShareExtension.java#L153</a:t>
            </a:r>
          </a:p>
          <a:p xmlns:a="http://schemas.openxmlformats.org/drawingml/2006/main">
            <a:r>
              <a:t>KeyShareExtension.java:164 [direct fatal call] https://github.com/openjdk/jdk21u/blob/9de4f68c88a0a1510373f291d1a95b1f6b0db8c8/src/java.base/share/classes/sun/security/ssl/KeyShareExtension.java#L164</a:t>
            </a:r>
          </a:p>
          <a:p xmlns:a="http://schemas.openxmlformats.org/drawingml/2006/main">
            <a:r>
              <a:t>KeyShareExtension.java:450 [direct fatal call] https://github.com/openjdk/jdk21u/blob/9de4f68c88a0a1510373f291d1a95b1f6b0db8c8/src/java.base/share/classes/sun/security/ssl/KeyShareExtension.java#L450</a:t>
            </a:r>
          </a:p>
          <a:p xmlns:a="http://schemas.openxmlformats.org/drawingml/2006/main">
            <a:r>
              <a:t>KeyShareExtension.java:460 [direct fatal call] https://github.com/openjdk/jdk21u/blob/9de4f68c88a0a1510373f291d1a95b1f6b0db8c8/src/java.base/share/classes/sun/security/ssl/KeyShareExtension.java#L460</a:t>
            </a:r>
          </a:p>
          <a:p xmlns:a="http://schemas.openxmlformats.org/drawingml/2006/main">
            <a:r>
              <a:t>KeyShareExtension.java:736 [direct fatal call] https://github.com/openjdk/jdk21u/blob/9de4f68c88a0a1510373f291d1a95b1f6b0db8c8/src/java.base/share/classes/sun/security/ssl/KeyShareExtension.java#L736</a:t>
            </a:r>
          </a:p>
          <a:p xmlns:a="http://schemas.openxmlformats.org/drawingml/2006/main">
            <a:r>
              <a:t>MaxFragExtension.java:77 [direct fatal call] https://github.com/openjdk/jdk21u/blob/9de4f68c88a0a1510373f291d1a95b1f6b0db8c8/src/java.base/share/classes/sun/security/ssl/MaxFragExtension.java#L77</a:t>
            </a:r>
          </a:p>
          <a:p xmlns:a="http://schemas.openxmlformats.org/drawingml/2006/main">
            <a:r>
              <a:t>PostHandshakeContext.java:88 [direct fatal call] https://github.com/openjdk/jdk21u/blob/9de4f68c88a0a1510373f291d1a95b1f6b0db8c8/src/java.base/share/classes/sun/security/ssl/PostHandshakeContext.java#L88</a:t>
            </a:r>
          </a:p>
          <a:p xmlns:a="http://schemas.openxmlformats.org/drawingml/2006/main">
            <a:r>
              <a:t>PreSharedKeyExtension.java:114 [direct fatal call] https://github.com/openjdk/jdk21u/blob/9de4f68c88a0a1510373f291d1a95b1f6b0db8c8/src/java.base/share/classes/sun/security/ssl/PreSharedKeyExtension.java#L114</a:t>
            </a:r>
          </a:p>
          <a:p xmlns:a="http://schemas.openxmlformats.org/drawingml/2006/main">
            <a:r>
              <a:t>PreSharedKeyExtension.java:122 [direct fatal call] https://github.com/openjdk/jdk21u/blob/9de4f68c88a0a1510373f291d1a95b1f6b0db8c8/src/java.base/share/classes/sun/security/ssl/PreSharedKeyExtension.java#L122</a:t>
            </a:r>
          </a:p>
          <a:p xmlns:a="http://schemas.openxmlformats.org/drawingml/2006/main">
            <a:r>
              <a:t>PreSharedKeyExtension.java:133 [direct fatal call] https://github.com/openjdk/jdk21u/blob/9de4f68c88a0a1510373f291d1a95b1f6b0db8c8/src/java.base/share/classes/sun/security/ssl/PreSharedKeyExtension.java#L133</a:t>
            </a:r>
          </a:p>
          <a:p xmlns:a="http://schemas.openxmlformats.org/drawingml/2006/main">
            <a:r>
              <a:t>PreSharedKeyExtension.java:146 [direct fatal call] https://github.com/openjdk/jdk21u/blob/9de4f68c88a0a1510373f291d1a95b1f6b0db8c8/src/java.base/share/classes/sun/security/ssl/PreSharedKeyExtension.java#L146</a:t>
            </a:r>
          </a:p>
          <a:p xmlns:a="http://schemas.openxmlformats.org/drawingml/2006/main">
            <a:r>
              <a:t>PreSharedKeyExtension.java:155 [direct fatal call] https://github.com/openjdk/jdk21u/blob/9de4f68c88a0a1510373f291d1a95b1f6b0db8c8/src/java.base/share/classes/sun/security/ssl/PreSharedKeyExtension.java#L155</a:t>
            </a:r>
          </a:p>
          <a:p xmlns:a="http://schemas.openxmlformats.org/drawingml/2006/main">
            <a:r>
              <a:t>PreSharedKeyExtension.java:167 [direct fatal call] https://github.com/openjdk/jdk21u/blob/9de4f68c88a0a1510373f291d1a95b1f6b0db8c8/src/java.base/share/classes/sun/security/ssl/PreSharedKeyExtension.java#L167</a:t>
            </a:r>
          </a:p>
          <a:p xmlns:a="http://schemas.openxmlformats.org/drawingml/2006/main">
            <a:r>
              <a:t>PreSharedKeyExtension.java:280 [direct fatal call] https://github.com/openjdk/jdk21u/blob/9de4f68c88a0a1510373f291d1a95b1f6b0db8c8/src/java.base/share/classes/sun/security/ssl/PreSharedKeyExtension.java#L280</a:t>
            </a:r>
          </a:p>
          <a:p xmlns:a="http://schemas.openxmlformats.org/drawingml/2006/main">
            <a:r>
              <a:t>PskKeyExchangeModesExtension.java:101 [direct fatal call] https://github.com/openjdk/jdk21u/blob/9de4f68c88a0a1510373f291d1a95b1f6b0db8c8/src/java.base/share/classes/sun/security/ssl/PskKeyExchangeModesExtension.java#L101</a:t>
            </a:r>
          </a:p>
          <a:p xmlns:a="http://schemas.openxmlformats.org/drawingml/2006/main">
            <a:r>
              <a:t>RenegoInfoExtension.java:83 [direct fatal call] https://github.com/openjdk/jdk21u/blob/9de4f68c88a0a1510373f291d1a95b1f6b0db8c8/src/java.base/share/classes/sun/security/ssl/RenegoInfoExtension.java#L83</a:t>
            </a:r>
          </a:p>
          <a:p xmlns:a="http://schemas.openxmlformats.org/drawingml/2006/main">
            <a:r>
              <a:t>ServerNameExtension.java:98 [direct fatal call] https://github.com/openjdk/jdk21u/blob/9de4f68c88a0a1510373f291d1a95b1f6b0db8c8/src/java.base/share/classes/sun/security/ssl/ServerNameExtension.java#L98</a:t>
            </a:r>
          </a:p>
          <a:p xmlns:a="http://schemas.openxmlformats.org/drawingml/2006/main">
            <a:r>
              <a:t>ServerNameExtension.java:105 [direct fatal call] https://github.com/openjdk/jdk21u/blob/9de4f68c88a0a1510373f291d1a95b1f6b0db8c8/src/java.base/share/classes/sun/security/ssl/ServerNameExtension.java#L105</a:t>
            </a:r>
          </a:p>
          <a:p xmlns:a="http://schemas.openxmlformats.org/drawingml/2006/main">
            <a:r>
              <a:t>ServerNameExtension.java:126 [direct fatal call] https://github.com/openjdk/jdk21u/blob/9de4f68c88a0a1510373f291d1a95b1f6b0db8c8/src/java.base/share/classes/sun/security/ssl/ServerNameExtension.java#L126</a:t>
            </a:r>
          </a:p>
          <a:p xmlns:a="http://schemas.openxmlformats.org/drawingml/2006/main">
            <a:r>
              <a:t>ServerNameExtension.java:399 [direct fatal call] https://github.com/openjdk/jdk21u/blob/9de4f68c88a0a1510373f291d1a95b1f6b0db8c8/src/java.base/share/classes/sun/security/ssl/ServerNameExtension.java#L399</a:t>
            </a:r>
          </a:p>
          <a:p xmlns:a="http://schemas.openxmlformats.org/drawingml/2006/main">
            <a:r>
              <a:t>SessionTicketExtension.java:188 [direct fatal call] https://github.com/openjdk/jdk21u/blob/9de4f68c88a0a1510373f291d1a95b1f6b0db8c8/src/java.base/share/classes/sun/security/ssl/SessionTicketExtension.java#L188</a:t>
            </a:r>
          </a:p>
          <a:p xmlns:a="http://schemas.openxmlformats.org/drawingml/2006/main">
            <a:r>
              <a:t>SessionTicketExtension.java:193 [direct fatal call] https://github.com/openjdk/jdk21u/blob/9de4f68c88a0a1510373f291d1a95b1f6b0db8c8/src/java.base/share/classes/sun/security/ssl/SessionTicketExtension.java#L193</a:t>
            </a:r>
          </a:p>
          <a:p xmlns:a="http://schemas.openxmlformats.org/drawingml/2006/main">
            <a:r>
              <a:t>SignatureAlgorithmsExtension.java:91 [direct fatal call] https://github.com/openjdk/jdk21u/blob/9de4f68c88a0a1510373f291d1a95b1f6b0db8c8/src/java.base/share/classes/sun/security/ssl/SignatureAlgorithmsExtension.java#L91</a:t>
            </a:r>
          </a:p>
          <a:p xmlns:a="http://schemas.openxmlformats.org/drawingml/2006/main">
            <a:r>
              <a:t>SignatureAlgorithmsExtension.java:98 [direct fatal call] https://github.com/openjdk/jdk21u/blob/9de4f68c88a0a1510373f291d1a95b1f6b0db8c8/src/java.base/share/classes/sun/security/ssl/SignatureAlgorithmsExtension.java#L98</a:t>
            </a:r>
          </a:p>
          <a:p xmlns:a="http://schemas.openxmlformats.org/drawingml/2006/main">
            <a:r>
              <a:t>SignatureAlgorithmsExtension.java:104 [direct fatal call] https://github.com/openjdk/jdk21u/blob/9de4f68c88a0a1510373f291d1a95b1f6b0db8c8/src/java.base/share/classes/sun/security/ssl/SignatureAlgorithmsExtension.java#L104</a:t>
            </a:r>
          </a:p>
          <a:p xmlns:a="http://schemas.openxmlformats.org/drawingml/2006/main">
            <a:r>
              <a:t>SSLExtensions.java:59 [direct fatal call] https://github.com/openjdk/jdk21u/blob/9de4f68c88a0a1510373f291d1a95b1f6b0db8c8/src/java.base/share/classes/sun/security/ssl/SSLExtensions.java#L59</a:t>
            </a:r>
          </a:p>
          <a:p xmlns:a="http://schemas.openxmlformats.org/drawingml/2006/main">
            <a:r>
              <a:t>SSLExtensions.java:66 [direct fatal call] https://github.com/openjdk/jdk21u/blob/9de4f68c88a0a1510373f291d1a95b1f6b0db8c8/src/java.base/share/classes/sun/security/ssl/SSLExtensions.java#L66</a:t>
            </a:r>
          </a:p>
          <a:p xmlns:a="http://schemas.openxmlformats.org/drawingml/2006/main">
            <a:r>
              <a:t>SSLExtensions.java:76 [direct fatal call] https://github.com/openjdk/jdk21u/blob/9de4f68c88a0a1510373f291d1a95b1f6b0db8c8/src/java.base/share/classes/sun/security/ssl/SSLExtensions.java#L76</a:t>
            </a:r>
          </a:p>
          <a:p xmlns:a="http://schemas.openxmlformats.org/drawingml/2006/main">
            <a:r>
              <a:t>SupportedGroupsExtension.java:77 [direct fatal call] https://github.com/openjdk/jdk21u/blob/9de4f68c88a0a1510373f291d1a95b1f6b0db8c8/src/java.base/share/classes/sun/security/ssl/SupportedGroupsExtension.java#L77</a:t>
            </a:r>
          </a:p>
          <a:p xmlns:a="http://schemas.openxmlformats.org/drawingml/2006/main">
            <a:r>
              <a:t>SupportedGroupsExtension.java:84 [direct fatal call] https://github.com/openjdk/jdk21u/blob/9de4f68c88a0a1510373f291d1a95b1f6b0db8c8/src/java.base/share/classes/sun/security/ssl/SupportedGroupsExtension.java#L84</a:t>
            </a:r>
          </a:p>
          <a:p xmlns:a="http://schemas.openxmlformats.org/drawingml/2006/main">
            <a:r>
              <a:t>SupportedGroupsExtension.java:90 [direct fatal call] https://github.com/openjdk/jdk21u/blob/9de4f68c88a0a1510373f291d1a95b1f6b0db8c8/src/java.base/share/classes/sun/security/ssl/SupportedGroupsExtension.java#L90</a:t>
            </a:r>
          </a:p>
          <a:p xmlns:a="http://schemas.openxmlformats.org/drawingml/2006/main">
            <a:r>
              <a:t>SupportedVersionsExtension.java:80 [direct fatal call] https://github.com/openjdk/jdk21u/blob/9de4f68c88a0a1510373f291d1a95b1f6b0db8c8/src/java.base/share/classes/sun/security/ssl/SupportedVersionsExtension.java#L80</a:t>
            </a:r>
          </a:p>
          <a:p xmlns:a="http://schemas.openxmlformats.org/drawingml/2006/main">
            <a:r>
              <a:t>SupportedVersionsExtension.java:87 [direct fatal call] https://github.com/openjdk/jdk21u/blob/9de4f68c88a0a1510373f291d1a95b1f6b0db8c8/src/java.base/share/classes/sun/security/ssl/SupportedVersionsExtension.java#L87</a:t>
            </a:r>
          </a:p>
          <a:p xmlns:a="http://schemas.openxmlformats.org/drawingml/2006/main">
            <a:r>
              <a:t>SupportedVersionsExtension.java:93 [direct fatal call] https://github.com/openjdk/jdk21u/blob/9de4f68c88a0a1510373f291d1a95b1f6b0db8c8/src/java.base/share/classes/sun/security/ssl/SupportedVersionsExtension.java#L93</a:t>
            </a:r>
          </a:p>
          <a:p xmlns:a="http://schemas.openxmlformats.org/drawingml/2006/main">
            <a:r>
              <a:t>SupportedVersionsExtension.java:255 [direct fatal call] https://github.com/openjdk/jdk21u/blob/9de4f68c88a0a1510373f291d1a95b1f6b0db8c8/src/java.base/share/classes/sun/security/ssl/SupportedVersionsExtension.java#L255</a:t>
            </a:r>
          </a:p>
          <a:p xmlns:a="http://schemas.openxmlformats.org/drawingml/2006/main">
            <a:r>
              <a:t/>
            </a:r>
          </a:p>
          <a:p xmlns:a="http://schemas.openxmlformats.org/drawingml/2006/main">
            <a:r>
              <a:t>【51 decrypt_error】</a:t>
            </a:r>
          </a:p>
          <a:p xmlns:a="http://schemas.openxmlformats.org/drawingml/2006/main">
            <a:r>
              <a:t>RFC条件：ハンドシェイク暗号処理失敗：CertificateVerify、Finished、PSK binderなど。</a:t>
            </a:r>
          </a:p>
          <a:p xmlns:a="http://schemas.openxmlformats.org/drawingml/2006/main">
            <a:r>
              <a:t>定義：あり</a:t>
            </a:r>
          </a:p>
          <a:p xmlns:a="http://schemas.openxmlformats.org/drawingml/2006/main">
            <a:r>
              <a:t>静的評価：経路あり・明確な相違</a:t>
            </a:r>
          </a:p>
          <a:p xmlns:a="http://schemas.openxmlformats.org/drawingml/2006/main">
            <a:r>
              <a:t>RFC違反の判定：違反あり（MUST不一致）</a:t>
            </a:r>
          </a:p>
          <a:p xmlns:a="http://schemas.openxmlformats.org/drawingml/2006/main">
            <a:r>
              <a:t>判定理由：CertificateVerify署名検証失敗で51を指定する§4.5.2に対し40を選ぶ。Finished不一致は51で対応。PSK binder不一致の47は§6.2のSHOULDとの差として分ける。</a:t>
            </a:r>
          </a:p>
          <a:p xmlns:a="http://schemas.openxmlformats.org/drawingml/2006/main">
            <a:r>
              <a:t>詳細：51を直接選ぶ箇所はFinished検証失敗の1箇所。TLS 1.3 CertificateVerify署名不一致は40 {CertificateVerify.java:1014}、PSK binder不一致は47 {PreSharedKeyExtension.java:565}。RFC §4.5.2のCertificateVerify失敗時51というMUSTと静的に一致しない。</a:t>
            </a:r>
          </a:p>
          <a:p xmlns:a="http://schemas.openxmlformats.org/drawingml/2006/main">
            <a:r>
              <a:t>送信経路：Finishedのverify_data不一致 {Finished.java:122}。</a:t>
            </a:r>
          </a:p>
          <a:p xmlns:a="http://schemas.openxmlformats.org/drawingml/2006/main">
            <a:r>
              <a:t>根拠：</a:t>
            </a:r>
          </a:p>
          <a:p xmlns:a="http://schemas.openxmlformats.org/drawingml/2006/main">
            <a:r>
              <a:t>https://www.ietf.org/ietf-ftp/rfc/rfc9846.html#section-4.5.2</a:t>
            </a:r>
          </a:p>
          <a:p xmlns:a="http://schemas.openxmlformats.org/drawingml/2006/main">
            <a:r>
              <a:t>https://www.ietf.org/ietf-ftp/rfc/rfc9846.html#section-4.5.3</a:t>
            </a:r>
          </a:p>
          <a:p xmlns:a="http://schemas.openxmlformats.org/drawingml/2006/main">
            <a:r>
              <a:t>https://www.ietf.org/ietf-ftp/rfc/rfc9846.html#section-6.2</a:t>
            </a:r>
          </a:p>
          <a:p xmlns:a="http://schemas.openxmlformats.org/drawingml/2006/main">
            <a:r>
              <a:t>https://github.com/openjdk/jdk21u/blob/9de4f68c88a0a1510373f291d1a95b1f6b0db8c8/src/java.base/share/classes/sun/security/ssl/CertificateVerify.java#L1014</a:t>
            </a:r>
          </a:p>
          <a:p xmlns:a="http://schemas.openxmlformats.org/drawingml/2006/main">
            <a:r>
              <a:t>https://github.com/openjdk/jdk21u/blob/9de4f68c88a0a1510373f291d1a95b1f6b0db8c8/src/java.base/share/classes/sun/security/ssl/PreSharedKeyExtension.java#L565</a:t>
            </a:r>
          </a:p>
          <a:p xmlns:a="http://schemas.openxmlformats.org/drawingml/2006/main">
            <a:r>
              <a:t>https://github.com/openjdk/jdk21u/blob/9de4f68c88a0a1510373f291d1a95b1f6b0db8c8/src/java.base/share/classes/sun/security/ssl/Finished.java#L122</a:t>
            </a:r>
          </a:p>
          <a:p xmlns:a="http://schemas.openxmlformats.org/drawingml/2006/main">
            <a:r>
              <a:t>https://github.com/openjdk/jdk21u/blob/9de4f68c88a0a1510373f291d1a95b1f6b0db8c8/src/java.base/share/classes/sun/security/ssl/Alert.java#L59</a:t>
            </a:r>
          </a:p>
          <a:p xmlns:a="http://schemas.openxmlformats.org/drawingml/2006/main">
            <a:r>
              <a:t>対象133ファイルにおける当該Alertの全明示参照索引（定義行を除く）：</a:t>
            </a:r>
          </a:p>
          <a:p xmlns:a="http://schemas.openxmlformats.org/drawingml/2006/main">
            <a:r>
              <a:t>Finished.java:123 [direct fatal call] https://github.com/openjdk/jdk21u/blob/9de4f68c88a0a1510373f291d1a95b1f6b0db8c8/src/java.base/share/classes/sun/security/ssl/Finished.java#L123</a:t>
            </a:r>
          </a:p>
          <a:p xmlns:a="http://schemas.openxmlformats.org/drawingml/2006/main">
            <a:r>
              <a:t/>
            </a:r>
          </a:p>
          <a:p xmlns:a="http://schemas.openxmlformats.org/drawingml/2006/main">
            <a:r>
              <a:t>【70 protocol_version】</a:t>
            </a:r>
          </a:p>
          <a:p xmlns:a="http://schemas.openxmlformats.org/drawingml/2006/main">
            <a:r>
              <a:t>RFC条件：認識したプロトコル版をサポートできない。</a:t>
            </a:r>
          </a:p>
          <a:p xmlns:a="http://schemas.openxmlformats.org/drawingml/2006/main">
            <a:r>
              <a:t>定義：あり</a:t>
            </a:r>
          </a:p>
          <a:p xmlns:a="http://schemas.openxmlformats.org/drawingml/2006/main">
            <a:r>
              <a:t>静的評価：経路あり・用途に相違</a:t>
            </a:r>
          </a:p>
          <a:p xmlns:a="http://schemas.openxmlformats.org/drawingml/2006/main">
            <a:r>
              <a:t>RFC違反の判定：違反あり（MUST不一致）</a:t>
            </a:r>
          </a:p>
          <a:p xmlns:a="http://schemas.openxmlformats.org/drawingml/2006/main">
            <a:r>
              <a:t>判定理由：ServerHello.supported_versionsに未提示版がある場合、§4.3.1は47を指定するが、activeProtocolsにない版を70へ変換する。supported_versionsなしで旧版を交渉する場合の70は別条件。</a:t>
            </a:r>
          </a:p>
          <a:p xmlns:a="http://schemas.openxmlformats.org/drawingml/2006/main">
            <a:r>
              <a:t>詳細：通常の版不一致とlegacy_version検査に70の経路がある。ただしsupported_versionsの未提示版はRFC §4.3.1で47指定なのに、ServerHello処理はactiveProtocolsに含まれないと70にする {ServerHello.java:965}。新規セッション作成禁止でも70を選ぶ {ServerHello.java:1247}。全用途が§6.2の条件と一致するとはいえない。</a:t>
            </a:r>
          </a:p>
          <a:p xmlns:a="http://schemas.openxmlformats.org/drawingml/2006/main">
            <a:r>
              <a:t>送信経路：共通版なし {ClientHello.java:905}、TLS 1.3 legacy_version不正 {ClientHello.java:1143}、{ServerHello.java:1222}。</a:t>
            </a:r>
          </a:p>
          <a:p xmlns:a="http://schemas.openxmlformats.org/drawingml/2006/main">
            <a:r>
              <a:t>根拠：</a:t>
            </a:r>
          </a:p>
          <a:p xmlns:a="http://schemas.openxmlformats.org/drawingml/2006/main">
            <a:r>
              <a:t>https://www.ietf.org/ietf-ftp/rfc/rfc9846.html#section-4.3.1</a:t>
            </a:r>
          </a:p>
          <a:p xmlns:a="http://schemas.openxmlformats.org/drawingml/2006/main">
            <a:r>
              <a:t>https://www.ietf.org/ietf-ftp/rfc/rfc9846.html#section-6.2</a:t>
            </a:r>
          </a:p>
          <a:p xmlns:a="http://schemas.openxmlformats.org/drawingml/2006/main">
            <a:r>
              <a:t>https://github.com/openjdk/jdk21u/blob/9de4f68c88a0a1510373f291d1a95b1f6b0db8c8/src/java.base/share/classes/sun/security/ssl/ServerHello.java#L955</a:t>
            </a:r>
          </a:p>
          <a:p xmlns:a="http://schemas.openxmlformats.org/drawingml/2006/main">
            <a:r>
              <a:t>https://github.com/openjdk/jdk21u/blob/9de4f68c88a0a1510373f291d1a95b1f6b0db8c8/src/java.base/share/classes/sun/security/ssl/ServerHello.java#L965</a:t>
            </a:r>
          </a:p>
          <a:p xmlns:a="http://schemas.openxmlformats.org/drawingml/2006/main">
            <a:r>
              <a:t>https://github.com/openjdk/jdk21u/blob/9de4f68c88a0a1510373f291d1a95b1f6b0db8c8/src/java.base/share/classes/sun/security/ssl/ClientHello.java#L905</a:t>
            </a:r>
          </a:p>
          <a:p xmlns:a="http://schemas.openxmlformats.org/drawingml/2006/main">
            <a:r>
              <a:t>https://github.com/openjdk/jdk21u/blob/9de4f68c88a0a1510373f291d1a95b1f6b0db8c8/src/java.base/share/classes/sun/security/ssl/ClientHello.java#L1143</a:t>
            </a:r>
          </a:p>
          <a:p xmlns:a="http://schemas.openxmlformats.org/drawingml/2006/main">
            <a:r>
              <a:t>https://github.com/openjdk/jdk21u/blob/9de4f68c88a0a1510373f291d1a95b1f6b0db8c8/src/java.base/share/classes/sun/security/ssl/ServerHello.java#L1222</a:t>
            </a:r>
          </a:p>
          <a:p xmlns:a="http://schemas.openxmlformats.org/drawingml/2006/main">
            <a:r>
              <a:t>https://github.com/openjdk/jdk21u/blob/9de4f68c88a0a1510373f291d1a95b1f6b0db8c8/src/java.base/share/classes/sun/security/ssl/ServerHello.java#L1247</a:t>
            </a:r>
          </a:p>
          <a:p xmlns:a="http://schemas.openxmlformats.org/drawingml/2006/main">
            <a:r>
              <a:t>https://github.com/openjdk/jdk21u/blob/9de4f68c88a0a1510373f291d1a95b1f6b0db8c8/src/java.base/share/classes/sun/security/ssl/Alert.java#L61</a:t>
            </a:r>
          </a:p>
          <a:p xmlns:a="http://schemas.openxmlformats.org/drawingml/2006/main">
            <a:r>
              <a:t>対象133ファイルにおける当該Alertの全明示参照索引（定義行を除く）：</a:t>
            </a:r>
          </a:p>
          <a:p xmlns:a="http://schemas.openxmlformats.org/drawingml/2006/main">
            <a:r>
              <a:t>ClientHello.java:872 [direct fatal call] https://github.com/openjdk/jdk21u/blob/9de4f68c88a0a1510373f291d1a95b1f6b0db8c8/src/java.base/share/classes/sun/security/ssl/ClientHello.java#L872</a:t>
            </a:r>
          </a:p>
          <a:p xmlns:a="http://schemas.openxmlformats.org/drawingml/2006/main">
            <a:r>
              <a:t>ClientHello.java:905 [direct fatal call] https://github.com/openjdk/jdk21u/blob/9de4f68c88a0a1510373f291d1a95b1f6b0db8c8/src/java.base/share/classes/sun/security/ssl/ClientHello.java#L905</a:t>
            </a:r>
          </a:p>
          <a:p xmlns:a="http://schemas.openxmlformats.org/drawingml/2006/main">
            <a:r>
              <a:t>ClientHello.java:1143 [direct fatal call] https://github.com/openjdk/jdk21u/blob/9de4f68c88a0a1510373f291d1a95b1f6b0db8c8/src/java.base/share/classes/sun/security/ssl/ClientHello.java#L1143</a:t>
            </a:r>
          </a:p>
          <a:p xmlns:a="http://schemas.openxmlformats.org/drawingml/2006/main">
            <a:r>
              <a:t>ServerHello.java:132 [direct fatal call] https://github.com/openjdk/jdk21u/blob/9de4f68c88a0a1510373f291d1a95b1f6b0db8c8/src/java.base/share/classes/sun/security/ssl/ServerHello.java#L132</a:t>
            </a:r>
          </a:p>
          <a:p xmlns:a="http://schemas.openxmlformats.org/drawingml/2006/main">
            <a:r>
              <a:t>ServerHello.java:910 [direct fatal call] https://github.com/openjdk/jdk21u/blob/9de4f68c88a0a1510373f291d1a95b1f6b0db8c8/src/java.base/share/classes/sun/security/ssl/ServerHello.java#L910</a:t>
            </a:r>
          </a:p>
          <a:p xmlns:a="http://schemas.openxmlformats.org/drawingml/2006/main">
            <a:r>
              <a:t>ServerHello.java:917 [direct fatal call] https://github.com/openjdk/jdk21u/blob/9de4f68c88a0a1510373f291d1a95b1f6b0db8c8/src/java.base/share/classes/sun/security/ssl/ServerHello.java#L917</a:t>
            </a:r>
          </a:p>
          <a:p xmlns:a="http://schemas.openxmlformats.org/drawingml/2006/main">
            <a:r>
              <a:t>ServerHello.java:966 [direct fatal call] https://github.com/openjdk/jdk21u/blob/9de4f68c88a0a1510373f291d1a95b1f6b0db8c8/src/java.base/share/classes/sun/security/ssl/ServerHello.java#L966</a:t>
            </a:r>
          </a:p>
          <a:p xmlns:a="http://schemas.openxmlformats.org/drawingml/2006/main">
            <a:r>
              <a:t>ServerHello.java:1030 [direct fatal call] https://github.com/openjdk/jdk21u/blob/9de4f68c88a0a1510373f291d1a95b1f6b0db8c8/src/java.base/share/classes/sun/security/ssl/ServerHello.java#L1030</a:t>
            </a:r>
          </a:p>
          <a:p xmlns:a="http://schemas.openxmlformats.org/drawingml/2006/main">
            <a:r>
              <a:t>ServerHello.java:1042 [direct fatal call] https://github.com/openjdk/jdk21u/blob/9de4f68c88a0a1510373f291d1a95b1f6b0db8c8/src/java.base/share/classes/sun/security/ssl/ServerHello.java#L1042</a:t>
            </a:r>
          </a:p>
          <a:p xmlns:a="http://schemas.openxmlformats.org/drawingml/2006/main">
            <a:r>
              <a:t>ServerHello.java:1068 [direct fatal call] https://github.com/openjdk/jdk21u/blob/9de4f68c88a0a1510373f291d1a95b1f6b0db8c8/src/java.base/share/classes/sun/security/ssl/ServerHello.java#L1068</a:t>
            </a:r>
          </a:p>
          <a:p xmlns:a="http://schemas.openxmlformats.org/drawingml/2006/main">
            <a:r>
              <a:t>ServerHello.java:1076 [direct fatal call] https://github.com/openjdk/jdk21u/blob/9de4f68c88a0a1510373f291d1a95b1f6b0db8c8/src/java.base/share/classes/sun/security/ssl/ServerHello.java#L1076</a:t>
            </a:r>
          </a:p>
          <a:p xmlns:a="http://schemas.openxmlformats.org/drawingml/2006/main">
            <a:r>
              <a:t>ServerHello.java:1093 [direct fatal call] https://github.com/openjdk/jdk21u/blob/9de4f68c88a0a1510373f291d1a95b1f6b0db8c8/src/java.base/share/classes/sun/security/ssl/ServerHello.java#L1093</a:t>
            </a:r>
          </a:p>
          <a:p xmlns:a="http://schemas.openxmlformats.org/drawingml/2006/main">
            <a:r>
              <a:t>ServerHello.java:1112 [direct fatal call] https://github.com/openjdk/jdk21u/blob/9de4f68c88a0a1510373f291d1a95b1f6b0db8c8/src/java.base/share/classes/sun/security/ssl/ServerHello.java#L1112</a:t>
            </a:r>
          </a:p>
          <a:p xmlns:a="http://schemas.openxmlformats.org/drawingml/2006/main">
            <a:r>
              <a:t>ServerHello.java:1222 [direct fatal call] https://github.com/openjdk/jdk21u/blob/9de4f68c88a0a1510373f291d1a95b1f6b0db8c8/src/java.base/share/classes/sun/security/ssl/ServerHello.java#L1222</a:t>
            </a:r>
          </a:p>
          <a:p xmlns:a="http://schemas.openxmlformats.org/drawingml/2006/main">
            <a:r>
              <a:t>ServerHello.java:1247 [direct fatal call] https://github.com/openjdk/jdk21u/blob/9de4f68c88a0a1510373f291d1a95b1f6b0db8c8/src/java.base/share/classes/sun/security/ssl/ServerHello.java#L1247</a:t>
            </a:r>
          </a:p>
          <a:p xmlns:a="http://schemas.openxmlformats.org/drawingml/2006/main">
            <a:r>
              <a:t>ServerHello.java:1425 [direct fatal call] https://github.com/openjdk/jdk21u/blob/9de4f68c88a0a1510373f291d1a95b1f6b0db8c8/src/java.base/share/classes/sun/security/ssl/ServerHello.java#L1425</a:t>
            </a:r>
          </a:p>
          <a:p xmlns:a="http://schemas.openxmlformats.org/drawingml/2006/main">
            <a:r>
              <a:t/>
            </a:r>
          </a:p>
          <a:p xmlns:a="http://schemas.openxmlformats.org/drawingml/2006/main">
            <a:r>
              <a:t>【71 insufficient_security】</a:t>
            </a:r>
          </a:p>
          <a:p xmlns:a="http://schemas.openxmlformats.org/drawingml/2006/main">
            <a:r>
              <a:t>RFC条件：サーバーがクライアントより強いセキュリティパラメーターを要求。</a:t>
            </a:r>
          </a:p>
          <a:p xmlns:a="http://schemas.openxmlformats.org/drawingml/2006/main">
            <a:r>
              <a:t>定義：あり</a:t>
            </a:r>
          </a:p>
          <a:p xmlns:a="http://schemas.openxmlformats.org/drawingml/2006/main">
            <a:r>
              <a:t>静的評価：経路あり・TLS 1.3の送信役割に相違</a:t>
            </a:r>
          </a:p>
          <a:p xmlns:a="http://schemas.openxmlformats.org/drawingml/2006/main">
            <a:r>
              <a:t>RFC違反の判定：SHOULDとの差・違反断定保留</a:t>
            </a:r>
          </a:p>
          <a:p xmlns:a="http://schemas.openxmlformats.org/drawingml/2006/main">
            <a:r>
              <a:t>判定理由：TLS 1.3クライアントが71を送る経路は、サーバーが強いパラメーターを要求するという§6.2の定義と異なる。ただし引用条件にクライアント送信を明示禁止するMUST NOTはない。共通パラメーターなしでサーバーが40を選ぶことは§4.2.1が許す。</a:t>
            </a:r>
          </a:p>
          <a:p xmlns:a="http://schemas.openxmlformats.org/drawingml/2006/main">
            <a:r>
              <a:t>詳細：8個の直接呼出しのうちTLS 1.3のものはSHKeyShareConsumerで、クライアントが71を送る。§6.2のサーバーによる拒否という記述とは役割が異なる。TLS 1.3サーバーで71を選ぶ経路は見つからない。なおRFC §4.2.1はパラメーター共通集合なしで40または71を許すため、サーバーが40を使うだけで一律違反とはいえない。</a:t>
            </a:r>
          </a:p>
          <a:p xmlns:a="http://schemas.openxmlformats.org/drawingml/2006/main">
            <a:r>
              <a:t>送信経路：TLS 1.3のサーバーkey_shareがクライアント側制約に違反 {KeyShareExtension.java:672}。他7箇所は旧版鍵交換。</a:t>
            </a:r>
          </a:p>
          <a:p xmlns:a="http://schemas.openxmlformats.org/drawingml/2006/main">
            <a:r>
              <a:t>根拠：</a:t>
            </a:r>
          </a:p>
          <a:p xmlns:a="http://schemas.openxmlformats.org/drawingml/2006/main">
            <a:r>
              <a:t>https://www.ietf.org/ietf-ftp/rfc/rfc9846.html#section-6.2</a:t>
            </a:r>
          </a:p>
          <a:p xmlns:a="http://schemas.openxmlformats.org/drawingml/2006/main">
            <a:r>
              <a:t>https://www.ietf.org/ietf-ftp/rfc/rfc9846.html#section-4.2.1</a:t>
            </a:r>
          </a:p>
          <a:p xmlns:a="http://schemas.openxmlformats.org/drawingml/2006/main">
            <a:r>
              <a:t>https://github.com/openjdk/jdk21u/blob/9de4f68c88a0a1510373f291d1a95b1f6b0db8c8/src/java.base/share/classes/sun/security/ssl/KeyShareExtension.java#L672</a:t>
            </a:r>
          </a:p>
          <a:p xmlns:a="http://schemas.openxmlformats.org/drawingml/2006/main">
            <a:r>
              <a:t>https://github.com/openjdk/jdk21u/blob/9de4f68c88a0a1510373f291d1a95b1f6b0db8c8/src/java.base/share/classes/sun/security/ssl/Alert.java#L62</a:t>
            </a:r>
          </a:p>
          <a:p xmlns:a="http://schemas.openxmlformats.org/drawingml/2006/main">
            <a:r>
              <a:t>対象133ファイルにおける当該Alertの全明示参照索引（定義行を除く）：</a:t>
            </a:r>
          </a:p>
          <a:p xmlns:a="http://schemas.openxmlformats.org/drawingml/2006/main">
            <a:r>
              <a:t>DHServerKeyExchange.java:533 [direct fatal call] https://github.com/openjdk/jdk21u/blob/9de4f68c88a0a1510373f291d1a95b1f6b0db8c8/src/java.base/share/classes/sun/security/ssl/DHServerKeyExchange.java#L533</a:t>
            </a:r>
          </a:p>
          <a:p xmlns:a="http://schemas.openxmlformats.org/drawingml/2006/main">
            <a:r>
              <a:t>DHServerKeyExchange.java:539 [direct fatal call] https://github.com/openjdk/jdk21u/blob/9de4f68c88a0a1510373f291d1a95b1f6b0db8c8/src/java.base/share/classes/sun/security/ssl/DHServerKeyExchange.java#L539</a:t>
            </a:r>
          </a:p>
          <a:p xmlns:a="http://schemas.openxmlformats.org/drawingml/2006/main">
            <a:r>
              <a:t>ECDHClientKeyExchange.java:327 [direct fatal call] https://github.com/openjdk/jdk21u/blob/9de4f68c88a0a1510373f291d1a95b1f6b0db8c8/src/java.base/share/classes/sun/security/ssl/ECDHClientKeyExchange.java#L327</a:t>
            </a:r>
          </a:p>
          <a:p xmlns:a="http://schemas.openxmlformats.org/drawingml/2006/main">
            <a:r>
              <a:t>ECDHClientKeyExchange.java:511 [direct fatal call] https://github.com/openjdk/jdk21u/blob/9de4f68c88a0a1510373f291d1a95b1f6b0db8c8/src/java.base/share/classes/sun/security/ssl/ECDHClientKeyExchange.java#L511</a:t>
            </a:r>
          </a:p>
          <a:p xmlns:a="http://schemas.openxmlformats.org/drawingml/2006/main">
            <a:r>
              <a:t>ECDHServerKeyExchange.java:227 [direct fatal call] https://github.com/openjdk/jdk21u/blob/9de4f68c88a0a1510373f291d1a95b1f6b0db8c8/src/java.base/share/classes/sun/security/ssl/ECDHServerKeyExchange.java#L227</a:t>
            </a:r>
          </a:p>
          <a:p xmlns:a="http://schemas.openxmlformats.org/drawingml/2006/main">
            <a:r>
              <a:t>KeyShareExtension.java:672 [direct fatal call] https://github.com/openjdk/jdk21u/blob/9de4f68c88a0a1510373f291d1a95b1f6b0db8c8/src/java.base/share/classes/sun/security/ssl/KeyShareExtension.java#L672</a:t>
            </a:r>
          </a:p>
          <a:p xmlns:a="http://schemas.openxmlformats.org/drawingml/2006/main">
            <a:r>
              <a:t>RSAServerKeyExchange.java:316 [direct fatal call] https://github.com/openjdk/jdk21u/blob/9de4f68c88a0a1510373f291d1a95b1f6b0db8c8/src/java.base/share/classes/sun/security/ssl/RSAServerKeyExchange.java#L316</a:t>
            </a:r>
          </a:p>
          <a:p xmlns:a="http://schemas.openxmlformats.org/drawingml/2006/main">
            <a:r>
              <a:t>RSAServerKeyExchange.java:322 [direct fatal call] https://github.com/openjdk/jdk21u/blob/9de4f68c88a0a1510373f291d1a95b1f6b0db8c8/src/java.base/share/classes/sun/security/ssl/RSAServerKeyExchange.java#L322</a:t>
            </a:r>
          </a:p>
          <a:p xmlns:a="http://schemas.openxmlformats.org/drawingml/2006/main">
            <a:r>
              <a:t/>
            </a:r>
          </a:p>
          <a:p xmlns:a="http://schemas.openxmlformats.org/drawingml/2006/main">
            <a:r>
              <a:t/>
            </a:r>
          </a:p>
          <a:p xmlns:a="http://schemas.openxmlformats.org/drawingml/2006/main">
            <a:r>
              <a:t>根拠URL</a:t>
            </a:r>
          </a:p>
          <a:p xmlns:a="http://schemas.openxmlformats.org/drawingml/2006/main">
            <a:r>
              <a:t>https://www.ietf.org/ietf-ftp/rfc/rfc9846.html#section-6</a:t>
            </a:r>
          </a:p>
          <a:p xmlns:a="http://schemas.openxmlformats.org/drawingml/2006/main">
            <a:r>
              <a:t>https://www.ietf.org/ietf-ftp/rfc/rfc9846.html#section-6.2</a:t>
            </a:r>
          </a:p>
          <a:p xmlns:a="http://schemas.openxmlformats.org/drawingml/2006/main">
            <a:r>
              <a:t>https://github.com/openjdk/jdk21u/blob/9de4f68c88a0a1510373f291d1a95b1f6b0db8c8/src/java.base/share/classes/sun/security/ssl/KeyUpdate.java#L80</a:t>
            </a:r>
          </a:p>
          <a:p xmlns:a="http://schemas.openxmlformats.org/drawingml/2006/main">
            <a:r>
              <a:t>https://github.com/openjdk/jdk21u/blob/9de4f68c88a0a1510373f291d1a95b1f6b0db8c8/src/java.base/share/classes/sun/security/ssl/CertificateVerify.java#L956</a:t>
            </a:r>
          </a:p>
          <a:p xmlns:a="http://schemas.openxmlformats.org/drawingml/2006/main">
            <a:r>
              <a:t>https://github.com/openjdk/jdk21u/blob/9de4f68c88a0a1510373f291d1a95b1f6b0db8c8/src/java.base/share/classes/sun/security/ssl/SSLExtensions.java#L63</a:t>
            </a:r>
          </a:p>
          <a:p xmlns:a="http://schemas.openxmlformats.org/drawingml/2006/main">
            <a:r>
              <a:t>https://github.com/openjdk/jdk21u/blob/9de4f68c88a0a1510373f291d1a95b1f6b0db8c8/src/java.base/share/classes/sun/security/ssl/Finished.java#L105</a:t>
            </a:r>
          </a:p>
          <a:p xmlns:a="http://schemas.openxmlformats.org/drawingml/2006/main">
            <a:r>
              <a:t>https://github.com/openjdk/jdk21u/blob/9de4f68c88a0a1510373f291d1a95b1f6b0db8c8/src/java.base/share/classes/sun/security/ssl/CertificateMessage.java#L1150</a:t>
            </a:r>
          </a:p>
          <a:p xmlns:a="http://schemas.openxmlformats.org/drawingml/2006/main">
            <a:r>
              <a:t>https://github.com/openjdk/jdk21u/blob/9de4f68c88a0a1510373f291d1a95b1f6b0db8c8/src/java.base/share/classes/sun/security/ssl/HandshakeContext.java#L482</a:t>
            </a:r>
          </a:p>
          <a:p xmlns:a="http://schemas.openxmlformats.org/drawingml/2006/main">
            <a:r>
              <a:t>https://github.com/openjdk/jdk21u/blob/9de4f68c88a0a1510373f291d1a95b1f6b0db8c8/src/java.base/share/classes/sun/security/ssl/Alert.java#L58</a:t>
            </a:r>
          </a:p>
          <a:p xmlns:a="http://schemas.openxmlformats.org/drawingml/2006/main">
            <a:r>
              <a:t>https://www.ietf.org/ietf-ftp/rfc/rfc9846.html#section-4.5.2</a:t>
            </a:r>
          </a:p>
          <a:p xmlns:a="http://schemas.openxmlformats.org/drawingml/2006/main">
            <a:r>
              <a:t>https://www.ietf.org/ietf-ftp/rfc/rfc9846.html#section-4.5.3</a:t>
            </a:r>
          </a:p>
          <a:p xmlns:a="http://schemas.openxmlformats.org/drawingml/2006/main">
            <a:r>
              <a:t>https://github.com/openjdk/jdk21u/blob/9de4f68c88a0a1510373f291d1a95b1f6b0db8c8/src/java.base/share/classes/sun/security/ssl/CertificateVerify.java#L1014</a:t>
            </a:r>
          </a:p>
          <a:p xmlns:a="http://schemas.openxmlformats.org/drawingml/2006/main">
            <a:r>
              <a:t>https://github.com/openjdk/jdk21u/blob/9de4f68c88a0a1510373f291d1a95b1f6b0db8c8/src/java.base/share/classes/sun/security/ssl/PreSharedKeyExtension.java#L565</a:t>
            </a:r>
          </a:p>
          <a:p xmlns:a="http://schemas.openxmlformats.org/drawingml/2006/main">
            <a:r>
              <a:t>https://github.com/openjdk/jdk21u/blob/9de4f68c88a0a1510373f291d1a95b1f6b0db8c8/src/java.base/share/classes/sun/security/ssl/Finished.java#L122</a:t>
            </a:r>
          </a:p>
          <a:p xmlns:a="http://schemas.openxmlformats.org/drawingml/2006/main">
            <a:r>
              <a:t>https://github.com/openjdk/jdk21u/blob/9de4f68c88a0a1510373f291d1a95b1f6b0db8c8/src/java.base/share/classes/sun/security/ssl/Alert.java#L59</a:t>
            </a:r>
          </a:p>
          <a:p xmlns:a="http://schemas.openxmlformats.org/drawingml/2006/main">
            <a:r>
              <a:t>https://www.ietf.org/ietf-ftp/rfc/rfc9846.html#section-4.3.1</a:t>
            </a:r>
          </a:p>
          <a:p xmlns:a="http://schemas.openxmlformats.org/drawingml/2006/main">
            <a:r>
              <a:t>https://github.com/openjdk/jdk21u/blob/9de4f68c88a0a1510373f291d1a95b1f6b0db8c8/src/java.base/share/classes/sun/security/ssl/ServerHello.java#L955</a:t>
            </a:r>
          </a:p>
          <a:p xmlns:a="http://schemas.openxmlformats.org/drawingml/2006/main">
            <a:r>
              <a:t>https://github.com/openjdk/jdk21u/blob/9de4f68c88a0a1510373f291d1a95b1f6b0db8c8/src/java.base/share/classes/sun/security/ssl/ServerHello.java#L965</a:t>
            </a:r>
          </a:p>
          <a:p xmlns:a="http://schemas.openxmlformats.org/drawingml/2006/main">
            <a:r>
              <a:t>https://github.com/openjdk/jdk21u/blob/9de4f68c88a0a1510373f291d1a95b1f6b0db8c8/src/java.base/share/classes/sun/security/ssl/ClientHello.java#L905</a:t>
            </a:r>
          </a:p>
          <a:p xmlns:a="http://schemas.openxmlformats.org/drawingml/2006/main">
            <a:r>
              <a:t>https://github.com/openjdk/jdk21u/blob/9de4f68c88a0a1510373f291d1a95b1f6b0db8c8/src/java.base/share/classes/sun/security/ssl/ClientHello.java#L1143</a:t>
            </a:r>
          </a:p>
          <a:p xmlns:a="http://schemas.openxmlformats.org/drawingml/2006/main">
            <a:r>
              <a:t>https://github.com/openjdk/jdk21u/blob/9de4f68c88a0a1510373f291d1a95b1f6b0db8c8/src/java.base/share/classes/sun/security/ssl/ServerHello.java#L1222</a:t>
            </a:r>
          </a:p>
          <a:p xmlns:a="http://schemas.openxmlformats.org/drawingml/2006/main">
            <a:r>
              <a:t>https://github.com/openjdk/jdk21u/blob/9de4f68c88a0a1510373f291d1a95b1f6b0db8c8/src/java.base/share/classes/sun/security/ssl/ServerHello.java#L1247</a:t>
            </a:r>
          </a:p>
          <a:p xmlns:a="http://schemas.openxmlformats.org/drawingml/2006/main">
            <a:r>
              <a:t>https://github.com/openjdk/jdk21u/blob/9de4f68c88a0a1510373f291d1a95b1f6b0db8c8/src/java.base/share/classes/sun/security/ssl/Alert.java#L61</a:t>
            </a:r>
          </a:p>
          <a:p xmlns:a="http://schemas.openxmlformats.org/drawingml/2006/main">
            <a:r>
              <a:t>https://www.ietf.org/ietf-ftp/rfc/rfc9846.html#section-4.2.1</a:t>
            </a:r>
          </a:p>
          <a:p xmlns:a="http://schemas.openxmlformats.org/drawingml/2006/main">
            <a:r>
              <a:t>https://github.com/openjdk/jdk21u/blob/9de4f68c88a0a1510373f291d1a95b1f6b0db8c8/src/java.base/share/classes/sun/security/ssl/KeyShareExtension.java#L672</a:t>
            </a:r>
          </a:p>
          <a:p xmlns:a="http://schemas.openxmlformats.org/drawingml/2006/main">
            <a:r>
              <a:t>https://github.com/openjdk/jdk21u/blob/9de4f68c88a0a1510373f291d1a95b1f6b0db8c8/src/java.base/share/classes/sun/security/ssl/Alert.java#L62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 internal_error】</a:t>
            </a:r>
          </a:p>
          <a:p xmlns:a="http://schemas.openxmlformats.org/drawingml/2006/main">
            <a:r>
              <a:t>RFC条件：相手やプロトコル正当性と無関係の内部エラー。</a:t>
            </a:r>
          </a:p>
          <a:p xmlns:a="http://schemas.openxmlformats.org/drawingml/2006/main">
            <a:r>
              <a:t>定義：あり</a:t>
            </a:r>
          </a:p>
          <a:p xmlns:a="http://schemas.openxmlformats.org/drawingml/2006/main">
            <a:r>
              <a:t>静的評価：経路あり・全内部障害は未保証</a:t>
            </a:r>
          </a:p>
          <a:p xmlns:a="http://schemas.openxmlformats.org/drawingml/2006/main">
            <a:r>
              <a:t>RFC違反の判定：違反未確認（確認範囲）</a:t>
            </a:r>
          </a:p>
          <a:p xmlns:a="http://schemas.openxmlformats.org/drawingml/2006/main">
            <a:r>
              <a:t>判定理由：全内部障害で80を必ず送る義務は確認していない。§6.2の送信は原則SHOULDであり、メモリ不足など送信不能となる障害を捕捉していないことだけでは違反とはいえない。</a:t>
            </a:r>
          </a:p>
          <a:p xmlns:a="http://schemas.openxmlformats.org/drawingml/2006/main">
            <a:r>
              <a:t>詳細：鍵導出・利用可能なアルゴリズムの欠如など多数の処理で80を選ぶ。異常の起源が本当に相手と無関係かは個別原因に依存する。OutOfMemoryErrorなどError全般を捕捉して必ず80を送る仕組みではない。Finishedのverify_data生成IOExceptionには47を選ぶ例もある {Finished.java:119}。</a:t>
            </a:r>
          </a:p>
          <a:p xmlns:a="http://schemas.openxmlformats.org/drawingml/2006/main">
            <a:r>
              <a:t>送信経路：HKDF/HMACなどの内部処理失敗 {PreSharedKeyExtension.java:797}、一般RuntimeExceptionの集約 {SSLSocketImpl.java:1695}。</a:t>
            </a:r>
          </a:p>
          <a:p xmlns:a="http://schemas.openxmlformats.org/drawingml/2006/main">
            <a:r>
              <a:t>根拠：</a:t>
            </a:r>
          </a:p>
          <a:p xmlns:a="http://schemas.openxmlformats.org/drawingml/2006/main">
            <a:r>
              <a:t>https://www.ietf.org/ietf-ftp/rfc/rfc9846.html#section-6.2</a:t>
            </a:r>
          </a:p>
          <a:p xmlns:a="http://schemas.openxmlformats.org/drawingml/2006/main">
            <a:r>
              <a:t>https://github.com/openjdk/jdk21u/blob/9de4f68c88a0a1510373f291d1a95b1f6b0db8c8/src/java.base/share/classes/sun/security/ssl/PreSharedKeyExtension.java#L797</a:t>
            </a:r>
          </a:p>
          <a:p xmlns:a="http://schemas.openxmlformats.org/drawingml/2006/main">
            <a:r>
              <a:t>https://github.com/openjdk/jdk21u/blob/9de4f68c88a0a1510373f291d1a95b1f6b0db8c8/src/java.base/share/classes/sun/security/ssl/TransportContext.java#L412</a:t>
            </a:r>
          </a:p>
          <a:p xmlns:a="http://schemas.openxmlformats.org/drawingml/2006/main">
            <a:r>
              <a:t>https://github.com/openjdk/jdk21u/blob/9de4f68c88a0a1510373f291d1a95b1f6b0db8c8/src/java.base/share/classes/sun/security/ssl/SSLSocketImpl.java#L1695</a:t>
            </a:r>
          </a:p>
          <a:p xmlns:a="http://schemas.openxmlformats.org/drawingml/2006/main">
            <a:r>
              <a:t>https://github.com/openjdk/jdk21u/blob/9de4f68c88a0a1510373f291d1a95b1f6b0db8c8/src/java.base/share/classes/sun/security/ssl/Finished.java#L119</a:t>
            </a:r>
          </a:p>
          <a:p xmlns:a="http://schemas.openxmlformats.org/drawingml/2006/main">
            <a:r>
              <a:t>https://github.com/openjdk/jdk21u/blob/9de4f68c88a0a1510373f291d1a95b1f6b0db8c8/src/java.base/share/classes/sun/security/ssl/Alert.java#L63</a:t>
            </a:r>
          </a:p>
          <a:p xmlns:a="http://schemas.openxmlformats.org/drawingml/2006/main">
            <a:r>
              <a:t>対象133ファイルにおける当該Alertの全明示参照索引（定義行を除く）：</a:t>
            </a:r>
          </a:p>
          <a:p xmlns:a="http://schemas.openxmlformats.org/drawingml/2006/main">
            <a:r>
              <a:t>CertificateMessage.java:108 [direct fatal call] https://github.com/openjdk/jdk21u/blob/9de4f68c88a0a1510373f291d1a95b1f6b0db8c8/src/java.base/share/classes/sun/security/ssl/CertificateMessage.java#L108</a:t>
            </a:r>
          </a:p>
          <a:p xmlns:a="http://schemas.openxmlformats.org/drawingml/2006/main">
            <a:r>
              <a:t>CertificateMessage.java:255 [direct fatal call] https://github.com/openjdk/jdk21u/blob/9de4f68c88a0a1510373f291d1a95b1f6b0db8c8/src/java.base/share/classes/sun/security/ssl/CertificateMessage.java#L255</a:t>
            </a:r>
          </a:p>
          <a:p xmlns:a="http://schemas.openxmlformats.org/drawingml/2006/main">
            <a:r>
              <a:t>CertificateStatus.java:179 [direct fatal call] https://github.com/openjdk/jdk21u/blob/9de4f68c88a0a1510373f291d1a95b1f6b0db8c8/src/java.base/share/classes/sun/security/ssl/CertificateStatus.java#L179</a:t>
            </a:r>
          </a:p>
          <a:p xmlns:a="http://schemas.openxmlformats.org/drawingml/2006/main">
            <a:r>
              <a:t>CertificateVerify.java:88 [direct fatal call] https://github.com/openjdk/jdk21u/blob/9de4f68c88a0a1510373f291d1a95b1f6b0db8c8/src/java.base/share/classes/sun/security/ssl/CertificateVerify.java#L88</a:t>
            </a:r>
          </a:p>
          <a:p xmlns:a="http://schemas.openxmlformats.org/drawingml/2006/main">
            <a:r>
              <a:t>CertificateVerify.java:149 [direct fatal call] https://github.com/openjdk/jdk21u/blob/9de4f68c88a0a1510373f291d1a95b1f6b0db8c8/src/java.base/share/classes/sun/security/ssl/CertificateVerify.java#L149</a:t>
            </a:r>
          </a:p>
          <a:p xmlns:a="http://schemas.openxmlformats.org/drawingml/2006/main">
            <a:r>
              <a:t>CertificateVerify.java:342 [direct fatal call] https://github.com/openjdk/jdk21u/blob/9de4f68c88a0a1510373f291d1a95b1f6b0db8c8/src/java.base/share/classes/sun/security/ssl/CertificateVerify.java#L342</a:t>
            </a:r>
          </a:p>
          <a:p xmlns:a="http://schemas.openxmlformats.org/drawingml/2006/main">
            <a:r>
              <a:t>CertificateVerify.java:402 [direct fatal call] https://github.com/openjdk/jdk21u/blob/9de4f68c88a0a1510373f291d1a95b1f6b0db8c8/src/java.base/share/classes/sun/security/ssl/CertificateVerify.java#L402</a:t>
            </a:r>
          </a:p>
          <a:p xmlns:a="http://schemas.openxmlformats.org/drawingml/2006/main">
            <a:r>
              <a:t>CertificateVerify.java:601 [direct fatal call] https://github.com/openjdk/jdk21u/blob/9de4f68c88a0a1510373f291d1a95b1f6b0db8c8/src/java.base/share/classes/sun/security/ssl/CertificateVerify.java#L601</a:t>
            </a:r>
          </a:p>
          <a:p xmlns:a="http://schemas.openxmlformats.org/drawingml/2006/main">
            <a:r>
              <a:t>CertificateVerify.java:681 [direct fatal call] https://github.com/openjdk/jdk21u/blob/9de4f68c88a0a1510373f291d1a95b1f6b0db8c8/src/java.base/share/classes/sun/security/ssl/CertificateVerify.java#L681</a:t>
            </a:r>
          </a:p>
          <a:p xmlns:a="http://schemas.openxmlformats.org/drawingml/2006/main">
            <a:r>
              <a:t>CertificateVerify.java:913 [direct fatal call] https://github.com/openjdk/jdk21u/blob/9de4f68c88a0a1510373f291d1a95b1f6b0db8c8/src/java.base/share/classes/sun/security/ssl/CertificateVerify.java#L913</a:t>
            </a:r>
          </a:p>
          <a:p xmlns:a="http://schemas.openxmlformats.org/drawingml/2006/main">
            <a:r>
              <a:t>CertificateVerify.java:1019 [direct fatal call] https://github.com/openjdk/jdk21u/blob/9de4f68c88a0a1510373f291d1a95b1f6b0db8c8/src/java.base/share/classes/sun/security/ssl/CertificateVerify.java#L1019</a:t>
            </a:r>
          </a:p>
          <a:p xmlns:a="http://schemas.openxmlformats.org/drawingml/2006/main">
            <a:r>
              <a:t>DHClientKeyExchange.java:205 [direct fatal call] https://github.com/openjdk/jdk21u/blob/9de4f68c88a0a1510373f291d1a95b1f6b0db8c8/src/java.base/share/classes/sun/security/ssl/DHClientKeyExchange.java#L205</a:t>
            </a:r>
          </a:p>
          <a:p xmlns:a="http://schemas.openxmlformats.org/drawingml/2006/main">
            <a:r>
              <a:t>DHClientKeyExchange.java:217 [direct fatal call] https://github.com/openjdk/jdk21u/blob/9de4f68c88a0a1510373f291d1a95b1f6b0db8c8/src/java.base/share/classes/sun/security/ssl/DHClientKeyExchange.java#L217</a:t>
            </a:r>
          </a:p>
          <a:p xmlns:a="http://schemas.openxmlformats.org/drawingml/2006/main">
            <a:r>
              <a:t>DHClientKeyExchange.java:266 [direct fatal call] https://github.com/openjdk/jdk21u/blob/9de4f68c88a0a1510373f291d1a95b1f6b0db8c8/src/java.base/share/classes/sun/security/ssl/DHClientKeyExchange.java#L266</a:t>
            </a:r>
          </a:p>
          <a:p xmlns:a="http://schemas.openxmlformats.org/drawingml/2006/main">
            <a:r>
              <a:t>DHClientKeyExchange.java:313 [direct fatal call] https://github.com/openjdk/jdk21u/blob/9de4f68c88a0a1510373f291d1a95b1f6b0db8c8/src/java.base/share/classes/sun/security/ssl/DHClientKeyExchange.java#L313</a:t>
            </a:r>
          </a:p>
          <a:p xmlns:a="http://schemas.openxmlformats.org/drawingml/2006/main">
            <a:r>
              <a:t>DHServerKeyExchange.java:138 [direct fatal call] https://github.com/openjdk/jdk21u/blob/9de4f68c88a0a1510373f291d1a95b1f6b0db8c8/src/java.base/share/classes/sun/security/ssl/DHServerKeyExchange.java#L138</a:t>
            </a:r>
          </a:p>
          <a:p xmlns:a="http://schemas.openxmlformats.org/drawingml/2006/main">
            <a:r>
              <a:t>DHServerKeyExchange.java:153 [direct fatal call] https://github.com/openjdk/jdk21u/blob/9de4f68c88a0a1510373f291d1a95b1f6b0db8c8/src/java.base/share/classes/sun/security/ssl/DHServerKeyExchange.java#L153</a:t>
            </a:r>
          </a:p>
          <a:p xmlns:a="http://schemas.openxmlformats.org/drawingml/2006/main">
            <a:r>
              <a:t>DHServerKeyExchange.java:165 [direct fatal call] https://github.com/openjdk/jdk21u/blob/9de4f68c88a0a1510373f291d1a95b1f6b0db8c8/src/java.base/share/classes/sun/security/ssl/DHServerKeyExchange.java#L165</a:t>
            </a:r>
          </a:p>
          <a:p xmlns:a="http://schemas.openxmlformats.org/drawingml/2006/main">
            <a:r>
              <a:t>DHServerKeyExchange.java:247 [direct fatal call] https://github.com/openjdk/jdk21u/blob/9de4f68c88a0a1510373f291d1a95b1f6b0db8c8/src/java.base/share/classes/sun/security/ssl/DHServerKeyExchange.java#L247</a:t>
            </a:r>
          </a:p>
          <a:p xmlns:a="http://schemas.openxmlformats.org/drawingml/2006/main">
            <a:r>
              <a:t>DHServerKeyExchange.java:257 [direct fatal call] https://github.com/openjdk/jdk21u/blob/9de4f68c88a0a1510373f291d1a95b1f6b0db8c8/src/java.base/share/classes/sun/security/ssl/DHServerKeyExchange.java#L257</a:t>
            </a:r>
          </a:p>
          <a:p xmlns:a="http://schemas.openxmlformats.org/drawingml/2006/main">
            <a:r>
              <a:t>ECDHClientKeyExchange.java:162 [direct fatal call] https://github.com/openjdk/jdk21u/blob/9de4f68c88a0a1510373f291d1a95b1f6b0db8c8/src/java.base/share/classes/sun/security/ssl/ECDHClientKeyExchange.java#L162</a:t>
            </a:r>
          </a:p>
          <a:p xmlns:a="http://schemas.openxmlformats.org/drawingml/2006/main">
            <a:r>
              <a:t>ECDHClientKeyExchange.java:217 [direct fatal call] https://github.com/openjdk/jdk21u/blob/9de4f68c88a0a1510373f291d1a95b1f6b0db8c8/src/java.base/share/classes/sun/security/ssl/ECDHClientKeyExchange.java#L217</a:t>
            </a:r>
          </a:p>
          <a:p xmlns:a="http://schemas.openxmlformats.org/drawingml/2006/main">
            <a:r>
              <a:t>ECDHClientKeyExchange.java:229 [direct fatal call] https://github.com/openjdk/jdk21u/blob/9de4f68c88a0a1510373f291d1a95b1f6b0db8c8/src/java.base/share/classes/sun/security/ssl/ECDHClientKeyExchange.java#L229</a:t>
            </a:r>
          </a:p>
          <a:p xmlns:a="http://schemas.openxmlformats.org/drawingml/2006/main">
            <a:r>
              <a:t>ECDHClientKeyExchange.java:269 [direct fatal call] https://github.com/openjdk/jdk21u/blob/9de4f68c88a0a1510373f291d1a95b1f6b0db8c8/src/java.base/share/classes/sun/security/ssl/ECDHClientKeyExchange.java#L269</a:t>
            </a:r>
          </a:p>
          <a:p xmlns:a="http://schemas.openxmlformats.org/drawingml/2006/main">
            <a:r>
              <a:t>ECDHClientKeyExchange.java:305 [direct fatal call] https://github.com/openjdk/jdk21u/blob/9de4f68c88a0a1510373f291d1a95b1f6b0db8c8/src/java.base/share/classes/sun/security/ssl/ECDHClientKeyExchange.java#L305</a:t>
            </a:r>
          </a:p>
          <a:p xmlns:a="http://schemas.openxmlformats.org/drawingml/2006/main">
            <a:r>
              <a:t>ECDHClientKeyExchange.java:349 [direct fatal call] https://github.com/openjdk/jdk21u/blob/9de4f68c88a0a1510373f291d1a95b1f6b0db8c8/src/java.base/share/classes/sun/security/ssl/ECDHClientKeyExchange.java#L349</a:t>
            </a:r>
          </a:p>
          <a:p xmlns:a="http://schemas.openxmlformats.org/drawingml/2006/main">
            <a:r>
              <a:t>ECDHClientKeyExchange.java:388 [direct fatal call] https://github.com/openjdk/jdk21u/blob/9de4f68c88a0a1510373f291d1a95b1f6b0db8c8/src/java.base/share/classes/sun/security/ssl/ECDHClientKeyExchange.java#L388</a:t>
            </a:r>
          </a:p>
          <a:p xmlns:a="http://schemas.openxmlformats.org/drawingml/2006/main">
            <a:r>
              <a:t>ECDHClientKeyExchange.java:417 [direct fatal call] https://github.com/openjdk/jdk21u/blob/9de4f68c88a0a1510373f291d1a95b1f6b0db8c8/src/java.base/share/classes/sun/security/ssl/ECDHClientKeyExchange.java#L417</a:t>
            </a:r>
          </a:p>
          <a:p xmlns:a="http://schemas.openxmlformats.org/drawingml/2006/main">
            <a:r>
              <a:t>ECDHClientKeyExchange.java:429 [direct fatal call] https://github.com/openjdk/jdk21u/blob/9de4f68c88a0a1510373f291d1a95b1f6b0db8c8/src/java.base/share/classes/sun/security/ssl/ECDHClientKeyExchange.java#L429</a:t>
            </a:r>
          </a:p>
          <a:p xmlns:a="http://schemas.openxmlformats.org/drawingml/2006/main">
            <a:r>
              <a:t>ECDHClientKeyExchange.java:474 [direct fatal call] https://github.com/openjdk/jdk21u/blob/9de4f68c88a0a1510373f291d1a95b1f6b0db8c8/src/java.base/share/classes/sun/security/ssl/ECDHClientKeyExchange.java#L474</a:t>
            </a:r>
          </a:p>
          <a:p xmlns:a="http://schemas.openxmlformats.org/drawingml/2006/main">
            <a:r>
              <a:t>ECDHClientKeyExchange.java:489 [direct fatal call] https://github.com/openjdk/jdk21u/blob/9de4f68c88a0a1510373f291d1a95b1f6b0db8c8/src/java.base/share/classes/sun/security/ssl/ECDHClientKeyExchange.java#L489</a:t>
            </a:r>
          </a:p>
          <a:p xmlns:a="http://schemas.openxmlformats.org/drawingml/2006/main">
            <a:r>
              <a:t>ECDHClientKeyExchange.java:533 [direct fatal call] https://github.com/openjdk/jdk21u/blob/9de4f68c88a0a1510373f291d1a95b1f6b0db8c8/src/java.base/share/classes/sun/security/ssl/ECDHClientKeyExchange.java#L533</a:t>
            </a:r>
          </a:p>
          <a:p xmlns:a="http://schemas.openxmlformats.org/drawingml/2006/main">
            <a:r>
              <a:t>ECDHServerKeyExchange.java:149 [direct fatal call] https://github.com/openjdk/jdk21u/blob/9de4f68c88a0a1510373f291d1a95b1f6b0db8c8/src/java.base/share/classes/sun/security/ssl/ECDHServerKeyExchange.java#L149</a:t>
            </a:r>
          </a:p>
          <a:p xmlns:a="http://schemas.openxmlformats.org/drawingml/2006/main">
            <a:r>
              <a:t>ECDHServerKeyExchange.java:164 [direct fatal call] https://github.com/openjdk/jdk21u/blob/9de4f68c88a0a1510373f291d1a95b1f6b0db8c8/src/java.base/share/classes/sun/security/ssl/ECDHServerKeyExchange.java#L164</a:t>
            </a:r>
          </a:p>
          <a:p xmlns:a="http://schemas.openxmlformats.org/drawingml/2006/main">
            <a:r>
              <a:t>ECDHServerKeyExchange.java:177 [direct fatal call] https://github.com/openjdk/jdk21u/blob/9de4f68c88a0a1510373f291d1a95b1f6b0db8c8/src/java.base/share/classes/sun/security/ssl/ECDHServerKeyExchange.java#L177</a:t>
            </a:r>
          </a:p>
          <a:p xmlns:a="http://schemas.openxmlformats.org/drawingml/2006/main">
            <a:r>
              <a:t>ECDHServerKeyExchange.java:289 [direct fatal call] https://github.com/openjdk/jdk21u/blob/9de4f68c88a0a1510373f291d1a95b1f6b0db8c8/src/java.base/share/classes/sun/security/ssl/ECDHServerKeyExchange.java#L289</a:t>
            </a:r>
          </a:p>
          <a:p xmlns:a="http://schemas.openxmlformats.org/drawingml/2006/main">
            <a:r>
              <a:t>ECDHServerKeyExchange.java:299 [direct fatal call] https://github.com/openjdk/jdk21u/blob/9de4f68c88a0a1510373f291d1a95b1f6b0db8c8/src/java.base/share/classes/sun/security/ssl/ECDHServerKeyExchange.java#L299</a:t>
            </a:r>
          </a:p>
          <a:p xmlns:a="http://schemas.openxmlformats.org/drawingml/2006/main">
            <a:r>
              <a:t>Finished.java:705 [direct fatal call] https://github.com/openjdk/jdk21u/blob/9de4f68c88a0a1510373f291d1a95b1f6b0db8c8/src/java.base/share/classes/sun/security/ssl/Finished.java#L705</a:t>
            </a:r>
          </a:p>
          <a:p xmlns:a="http://schemas.openxmlformats.org/drawingml/2006/main">
            <a:r>
              <a:t>Finished.java:713 [direct fatal call] https://github.com/openjdk/jdk21u/blob/9de4f68c88a0a1510373f291d1a95b1f6b0db8c8/src/java.base/share/classes/sun/security/ssl/Finished.java#L713</a:t>
            </a:r>
          </a:p>
          <a:p xmlns:a="http://schemas.openxmlformats.org/drawingml/2006/main">
            <a:r>
              <a:t>Finished.java:749 [direct fatal call] https://github.com/openjdk/jdk21u/blob/9de4f68c88a0a1510373f291d1a95b1f6b0db8c8/src/java.base/share/classes/sun/security/ssl/Finished.java#L749</a:t>
            </a:r>
          </a:p>
          <a:p xmlns:a="http://schemas.openxmlformats.org/drawingml/2006/main">
            <a:r>
              <a:t>Finished.java:793 [direct fatal call] https://github.com/openjdk/jdk21u/blob/9de4f68c88a0a1510373f291d1a95b1f6b0db8c8/src/java.base/share/classes/sun/security/ssl/Finished.java#L793</a:t>
            </a:r>
          </a:p>
          <a:p xmlns:a="http://schemas.openxmlformats.org/drawingml/2006/main">
            <a:r>
              <a:t>Finished.java:801 [direct fatal call] https://github.com/openjdk/jdk21u/blob/9de4f68c88a0a1510373f291d1a95b1f6b0db8c8/src/java.base/share/classes/sun/security/ssl/Finished.java#L801</a:t>
            </a:r>
          </a:p>
          <a:p xmlns:a="http://schemas.openxmlformats.org/drawingml/2006/main">
            <a:r>
              <a:t>Finished.java:853 [direct fatal call] https://github.com/openjdk/jdk21u/blob/9de4f68c88a0a1510373f291d1a95b1f6b0db8c8/src/java.base/share/classes/sun/security/ssl/Finished.java#L853</a:t>
            </a:r>
          </a:p>
          <a:p xmlns:a="http://schemas.openxmlformats.org/drawingml/2006/main">
            <a:r>
              <a:t>Finished.java:952 [direct fatal call] https://github.com/openjdk/jdk21u/blob/9de4f68c88a0a1510373f291d1a95b1f6b0db8c8/src/java.base/share/classes/sun/security/ssl/Finished.java#L952</a:t>
            </a:r>
          </a:p>
          <a:p xmlns:a="http://schemas.openxmlformats.org/drawingml/2006/main">
            <a:r>
              <a:t>Finished.java:960 [direct fatal call] https://github.com/openjdk/jdk21u/blob/9de4f68c88a0a1510373f291d1a95b1f6b0db8c8/src/java.base/share/classes/sun/security/ssl/Finished.java#L960</a:t>
            </a:r>
          </a:p>
          <a:p xmlns:a="http://schemas.openxmlformats.org/drawingml/2006/main">
            <a:r>
              <a:t>Finished.java:1018 [direct fatal call] https://github.com/openjdk/jdk21u/blob/9de4f68c88a0a1510373f291d1a95b1f6b0db8c8/src/java.base/share/classes/sun/security/ssl/Finished.java#L1018</a:t>
            </a:r>
          </a:p>
          <a:p xmlns:a="http://schemas.openxmlformats.org/drawingml/2006/main">
            <a:r>
              <a:t>Finished.java:1079 [direct fatal call] https://github.com/openjdk/jdk21u/blob/9de4f68c88a0a1510373f291d1a95b1f6b0db8c8/src/java.base/share/classes/sun/security/ssl/Finished.java#L1079</a:t>
            </a:r>
          </a:p>
          <a:p xmlns:a="http://schemas.openxmlformats.org/drawingml/2006/main">
            <a:r>
              <a:t>Finished.java:1087 [direct fatal call] https://github.com/openjdk/jdk21u/blob/9de4f68c88a0a1510373f291d1a95b1f6b0db8c8/src/java.base/share/classes/sun/security/ssl/Finished.java#L1087</a:t>
            </a:r>
          </a:p>
          <a:p xmlns:a="http://schemas.openxmlformats.org/drawingml/2006/main">
            <a:r>
              <a:t>Finished.java:1131 [direct fatal call] https://github.com/openjdk/jdk21u/blob/9de4f68c88a0a1510373f291d1a95b1f6b0db8c8/src/java.base/share/classes/sun/security/ssl/Finished.java#L1131</a:t>
            </a:r>
          </a:p>
          <a:p xmlns:a="http://schemas.openxmlformats.org/drawingml/2006/main">
            <a:r>
              <a:t>HandshakeContext.java:362 [direct fatal call] https://github.com/openjdk/jdk21u/blob/9de4f68c88a0a1510373f291d1a95b1f6b0db8c8/src/java.base/share/classes/sun/security/ssl/HandshakeContext.java#L362</a:t>
            </a:r>
          </a:p>
          <a:p xmlns:a="http://schemas.openxmlformats.org/drawingml/2006/main">
            <a:r>
              <a:t>KeyShareExtension.java:935 [direct fatal call] https://github.com/openjdk/jdk21u/blob/9de4f68c88a0a1510373f291d1a95b1f6b0db8c8/src/java.base/share/classes/sun/security/ssl/KeyShareExtension.java#L935</a:t>
            </a:r>
          </a:p>
          <a:p xmlns:a="http://schemas.openxmlformats.org/drawingml/2006/main">
            <a:r>
              <a:t>KeyUpdate.java:204 [direct fatal call] https://github.com/openjdk/jdk21u/blob/9de4f68c88a0a1510373f291d1a95b1f6b0db8c8/src/java.base/share/classes/sun/security/ssl/KeyUpdate.java#L204</a:t>
            </a:r>
          </a:p>
          <a:p xmlns:a="http://schemas.openxmlformats.org/drawingml/2006/main">
            <a:r>
              <a:t>KeyUpdate.java:214 [direct fatal call] https://github.com/openjdk/jdk21u/blob/9de4f68c88a0a1510373f291d1a95b1f6b0db8c8/src/java.base/share/classes/sun/security/ssl/KeyUpdate.java#L214</a:t>
            </a:r>
          </a:p>
          <a:p xmlns:a="http://schemas.openxmlformats.org/drawingml/2006/main">
            <a:r>
              <a:t>KeyUpdate.java:242 [direct fatal call] https://github.com/openjdk/jdk21u/blob/9de4f68c88a0a1510373f291d1a95b1f6b0db8c8/src/java.base/share/classes/sun/security/ssl/KeyUpdate.java#L242</a:t>
            </a:r>
          </a:p>
          <a:p xmlns:a="http://schemas.openxmlformats.org/drawingml/2006/main">
            <a:r>
              <a:t>KeyUpdate.java:283 [direct fatal call] https://github.com/openjdk/jdk21u/blob/9de4f68c88a0a1510373f291d1a95b1f6b0db8c8/src/java.base/share/classes/sun/security/ssl/KeyUpdate.java#L283</a:t>
            </a:r>
          </a:p>
          <a:p xmlns:a="http://schemas.openxmlformats.org/drawingml/2006/main">
            <a:r>
              <a:t>KeyUpdate.java:293 [direct fatal call] https://github.com/openjdk/jdk21u/blob/9de4f68c88a0a1510373f291d1a95b1f6b0db8c8/src/java.base/share/classes/sun/security/ssl/KeyUpdate.java#L293</a:t>
            </a:r>
          </a:p>
          <a:p xmlns:a="http://schemas.openxmlformats.org/drawingml/2006/main">
            <a:r>
              <a:t>KeyUpdate.java:309 [direct fatal call] https://github.com/openjdk/jdk21u/blob/9de4f68c88a0a1510373f291d1a95b1f6b0db8c8/src/java.base/share/classes/sun/security/ssl/KeyUpdate.java#L309</a:t>
            </a:r>
          </a:p>
          <a:p xmlns:a="http://schemas.openxmlformats.org/drawingml/2006/main">
            <a:r>
              <a:t>PreSharedKeyExtension.java:530 [direct fatal call] https://github.com/openjdk/jdk21u/blob/9de4f68c88a0a1510373f291d1a95b1f6b0db8c8/src/java.base/share/classes/sun/security/ssl/PreSharedKeyExtension.java#L530</a:t>
            </a:r>
          </a:p>
          <a:p xmlns:a="http://schemas.openxmlformats.org/drawingml/2006/main">
            <a:r>
              <a:t>PreSharedKeyExtension.java:557 [direct fatal call] https://github.com/openjdk/jdk21u/blob/9de4f68c88a0a1510373f291d1a95b1f6b0db8c8/src/java.base/share/classes/sun/security/ssl/PreSharedKeyExtension.java#L557</a:t>
            </a:r>
          </a:p>
          <a:p xmlns:a="http://schemas.openxmlformats.org/drawingml/2006/main">
            <a:r>
              <a:t>PreSharedKeyExtension.java:797 [direct fatal call] https://github.com/openjdk/jdk21u/blob/9de4f68c88a0a1510373f291d1a95b1f6b0db8c8/src/java.base/share/classes/sun/security/ssl/PreSharedKeyExtension.java#L797</a:t>
            </a:r>
          </a:p>
          <a:p xmlns:a="http://schemas.openxmlformats.org/drawingml/2006/main">
            <a:r>
              <a:t>PreSharedKeyExtension.java:800 [direct fatal call] https://github.com/openjdk/jdk21u/blob/9de4f68c88a0a1510373f291d1a95b1f6b0db8c8/src/java.base/share/classes/sun/security/ssl/PreSharedKeyExtension.java#L800</a:t>
            </a:r>
          </a:p>
          <a:p xmlns:a="http://schemas.openxmlformats.org/drawingml/2006/main">
            <a:r>
              <a:t>PreSharedKeyExtension.java:819 [direct fatal call] https://github.com/openjdk/jdk21u/blob/9de4f68c88a0a1510373f291d1a95b1f6b0db8c8/src/java.base/share/classes/sun/security/ssl/PreSharedKeyExtension.java#L819</a:t>
            </a:r>
          </a:p>
          <a:p xmlns:a="http://schemas.openxmlformats.org/drawingml/2006/main">
            <a:r>
              <a:t>RenegoInfoExtension.java:428 [direct fatal call] https://github.com/openjdk/jdk21u/blob/9de4f68c88a0a1510373f291d1a95b1f6b0db8c8/src/java.base/share/classes/sun/security/ssl/RenegoInfoExtension.java#L428</a:t>
            </a:r>
          </a:p>
          <a:p xmlns:a="http://schemas.openxmlformats.org/drawingml/2006/main">
            <a:r>
              <a:t>RenegoInfoExtension.java:506 [direct fatal call] https://github.com/openjdk/jdk21u/blob/9de4f68c88a0a1510373f291d1a95b1f6b0db8c8/src/java.base/share/classes/sun/security/ssl/RenegoInfoExtension.java#L506</a:t>
            </a:r>
          </a:p>
          <a:p xmlns:a="http://schemas.openxmlformats.org/drawingml/2006/main">
            <a:r>
              <a:t>RSAClientKeyExchange.java:207 [direct fatal call] https://github.com/openjdk/jdk21u/blob/9de4f68c88a0a1510373f291d1a95b1f6b0db8c8/src/java.base/share/classes/sun/security/ssl/RSAClientKeyExchange.java#L207</a:t>
            </a:r>
          </a:p>
          <a:p xmlns:a="http://schemas.openxmlformats.org/drawingml/2006/main">
            <a:r>
              <a:t>RSAClientKeyExchange.java:219 [direct fatal call] https://github.com/openjdk/jdk21u/blob/9de4f68c88a0a1510373f291d1a95b1f6b0db8c8/src/java.base/share/classes/sun/security/ssl/RSAClientKeyExchange.java#L219</a:t>
            </a:r>
          </a:p>
          <a:p xmlns:a="http://schemas.openxmlformats.org/drawingml/2006/main">
            <a:r>
              <a:t>RSAClientKeyExchange.java:295 [direct fatal call] https://github.com/openjdk/jdk21u/blob/9de4f68c88a0a1510373f291d1a95b1f6b0db8c8/src/java.base/share/classes/sun/security/ssl/RSAClientKeyExchange.java#L295</a:t>
            </a:r>
          </a:p>
          <a:p xmlns:a="http://schemas.openxmlformats.org/drawingml/2006/main">
            <a:r>
              <a:t>RSAClientKeyExchange.java:307 [direct fatal call] https://github.com/openjdk/jdk21u/blob/9de4f68c88a0a1510373f291d1a95b1f6b0db8c8/src/java.base/share/classes/sun/security/ssl/RSAClientKeyExchange.java#L307</a:t>
            </a:r>
          </a:p>
          <a:p xmlns:a="http://schemas.openxmlformats.org/drawingml/2006/main">
            <a:r>
              <a:t>RSAServerKeyExchange.java:97 [direct fatal call] https://github.com/openjdk/jdk21u/blob/9de4f68c88a0a1510373f291d1a95b1f6b0db8c8/src/java.base/share/classes/sun/security/ssl/RSAServerKeyExchange.java#L97</a:t>
            </a:r>
          </a:p>
          <a:p xmlns:a="http://schemas.openxmlformats.org/drawingml/2006/main">
            <a:r>
              <a:t>RSAServerKeyExchange.java:141 [direct fatal call] https://github.com/openjdk/jdk21u/blob/9de4f68c88a0a1510373f291d1a95b1f6b0db8c8/src/java.base/share/classes/sun/security/ssl/RSAServerKeyExchange.java#L141</a:t>
            </a:r>
          </a:p>
          <a:p xmlns:a="http://schemas.openxmlformats.org/drawingml/2006/main">
            <a:r>
              <a:t>ServerHello.java:375 [direct fatal call] https://github.com/openjdk/jdk21u/blob/9de4f68c88a0a1510373f291d1a95b1f6b0db8c8/src/java.base/share/classes/sun/security/ssl/ServerHello.java#L375</a:t>
            </a:r>
          </a:p>
          <a:p xmlns:a="http://schemas.openxmlformats.org/drawingml/2006/main">
            <a:r>
              <a:t>ServerHello.java:582 [direct fatal call] https://github.com/openjdk/jdk21u/blob/9de4f68c88a0a1510373f291d1a95b1f6b0db8c8/src/java.base/share/classes/sun/security/ssl/ServerHello.java#L582</a:t>
            </a:r>
          </a:p>
          <a:p xmlns:a="http://schemas.openxmlformats.org/drawingml/2006/main">
            <a:r>
              <a:t>ServerHello.java:594 [direct fatal call] https://github.com/openjdk/jdk21u/blob/9de4f68c88a0a1510373f291d1a95b1f6b0db8c8/src/java.base/share/classes/sun/security/ssl/ServerHello.java#L594</a:t>
            </a:r>
          </a:p>
          <a:p xmlns:a="http://schemas.openxmlformats.org/drawingml/2006/main">
            <a:r>
              <a:t>ServerHello.java:1147 [direct fatal call] https://github.com/openjdk/jdk21u/blob/9de4f68c88a0a1510373f291d1a95b1f6b0db8c8/src/java.base/share/classes/sun/security/ssl/ServerHello.java#L1147</a:t>
            </a:r>
          </a:p>
          <a:p xmlns:a="http://schemas.openxmlformats.org/drawingml/2006/main">
            <a:r>
              <a:t>ServerHello.java:1260 [direct fatal call] https://github.com/openjdk/jdk21u/blob/9de4f68c88a0a1510373f291d1a95b1f6b0db8c8/src/java.base/share/classes/sun/security/ssl/ServerHello.java#L1260</a:t>
            </a:r>
          </a:p>
          <a:p xmlns:a="http://schemas.openxmlformats.org/drawingml/2006/main">
            <a:r>
              <a:t>ServerHello.java:1281 [direct fatal call] https://github.com/openjdk/jdk21u/blob/9de4f68c88a0a1510373f291d1a95b1f6b0db8c8/src/java.base/share/classes/sun/security/ssl/ServerHello.java#L1281</a:t>
            </a:r>
          </a:p>
          <a:p xmlns:a="http://schemas.openxmlformats.org/drawingml/2006/main">
            <a:r>
              <a:t>ServerHello.java:1292 [direct fatal call] https://github.com/openjdk/jdk21u/blob/9de4f68c88a0a1510373f291d1a95b1f6b0db8c8/src/java.base/share/classes/sun/security/ssl/ServerHello.java#L1292</a:t>
            </a:r>
          </a:p>
          <a:p xmlns:a="http://schemas.openxmlformats.org/drawingml/2006/main">
            <a:r>
              <a:t>SSLEngineImpl.java:112 [direct fatal call] https://github.com/openjdk/jdk21u/blob/9de4f68c88a0a1510373f291d1a95b1f6b0db8c8/src/java.base/share/classes/sun/security/ssl/SSLEngineImpl.java#L112</a:t>
            </a:r>
          </a:p>
          <a:p xmlns:a="http://schemas.openxmlformats.org/drawingml/2006/main">
            <a:r>
              <a:t>SSLEngineImpl.java:152 [direct fatal call] https://github.com/openjdk/jdk21u/blob/9de4f68c88a0a1510373f291d1a95b1f6b0db8c8/src/java.base/share/classes/sun/security/ssl/SSLEngineImpl.java#L152</a:t>
            </a:r>
          </a:p>
          <a:p xmlns:a="http://schemas.openxmlformats.org/drawingml/2006/main">
            <a:r>
              <a:t>SSLEngineImpl.java:155 [direct fatal call] https://github.com/openjdk/jdk21u/blob/9de4f68c88a0a1510373f291d1a95b1f6b0db8c8/src/java.base/share/classes/sun/security/ssl/SSLEngineImpl.java#L155</a:t>
            </a:r>
          </a:p>
          <a:p xmlns:a="http://schemas.openxmlformats.org/drawingml/2006/main">
            <a:r>
              <a:t>SSLEngineImpl.java:520 [direct fatal call] https://github.com/openjdk/jdk21u/blob/9de4f68c88a0a1510373f291d1a95b1f6b0db8c8/src/java.base/share/classes/sun/security/ssl/SSLEngineImpl.java#L520</a:t>
            </a:r>
          </a:p>
          <a:p xmlns:a="http://schemas.openxmlformats.org/drawingml/2006/main">
            <a:r>
              <a:t>SSLEngineImpl.java:523 [direct fatal call] https://github.com/openjdk/jdk21u/blob/9de4f68c88a0a1510373f291d1a95b1f6b0db8c8/src/java.base/share/classes/sun/security/ssl/SSLEngineImpl.java#L523</a:t>
            </a:r>
          </a:p>
          <a:p xmlns:a="http://schemas.openxmlformats.org/drawingml/2006/main">
            <a:r>
              <a:t>SSLSocketImpl.java:1695 [selection / comparison] https://github.com/openjdk/jdk21u/blob/9de4f68c88a0a1510373f291d1a95b1f6b0db8c8/src/java.base/share/classes/sun/security/ssl/SSLSocketImpl.java#L1695</a:t>
            </a:r>
          </a:p>
          <a:p xmlns:a="http://schemas.openxmlformats.org/drawingml/2006/main">
            <a:r>
              <a:t>SSLTransport.java:214 [direct fatal call] https://github.com/openjdk/jdk21u/blob/9de4f68c88a0a1510373f291d1a95b1f6b0db8c8/src/java.base/share/classes/sun/security/ssl/SSLTransport.java#L214</a:t>
            </a:r>
          </a:p>
          <a:p xmlns:a="http://schemas.openxmlformats.org/drawingml/2006/main">
            <a:r>
              <a:t/>
            </a:r>
          </a:p>
          <a:p xmlns:a="http://schemas.openxmlformats.org/drawingml/2006/main">
            <a:r>
              <a:t>【86 inappropriate_fallback】</a:t>
            </a:r>
          </a:p>
          <a:p xmlns:a="http://schemas.openxmlformats.org/drawingml/2006/main">
            <a:r>
              <a:t>RFC条件：不適切なクライアントの接続再試行をサーバーが拒否。</a:t>
            </a:r>
          </a:p>
          <a:p xmlns:a="http://schemas.openxmlformats.org/drawingml/2006/main">
            <a:r>
              <a:t>定義：あり</a:t>
            </a:r>
          </a:p>
          <a:p xmlns:a="http://schemas.openxmlformats.org/drawingml/2006/main">
            <a:r>
              <a:t>静的評価：定義のみ・RFC 7507検出経路なし</a:t>
            </a:r>
          </a:p>
          <a:p xmlns:a="http://schemas.openxmlformats.org/drawingml/2006/main">
            <a:r>
              <a:t>RFC違反の判定：条件付き違反（RFC 7507適用時）</a:t>
            </a:r>
          </a:p>
          <a:p xmlns:a="http://schemas.openxmlformats.org/drawingml/2006/main">
            <a:r>
              <a:t>判定理由：RFC 7507 §3のSCSV・対応版の条件が成立し、未対応版による70という例外にも該当しない場合は86が必須だが、送信・検出経路がない。RFC 9846 §6.2の列挙だけから全構成の違反と断定するのではなく、RFC 7507の適用を条件とする。</a:t>
            </a:r>
          </a:p>
          <a:p xmlns:a="http://schemas.openxmlformats.org/drawingml/2006/main">
            <a:r>
              <a:t>詳細：86を送る箇所と、TLS_FALLBACK_SCSVを見て最高対応版との比較を行う経路は見つからない。RFC 7507 §3の発生条件を満たす場合の86送信は確認できない。TLS 1.3のServerHello.randomによるdowngrade検出とは別の機構であり、後者があることは86の実装を意味しない。</a:t>
            </a:r>
          </a:p>
          <a:p xmlns:a="http://schemas.openxmlformats.org/drawingml/2006/main">
            <a:r>
              <a:t>送信経路：送信側参照なし。TLS_FALLBACK_SCSVは名前・値登録のみ {CipherSuite.java:693}。</a:t>
            </a:r>
          </a:p>
          <a:p xmlns:a="http://schemas.openxmlformats.org/drawingml/2006/main">
            <a:r>
              <a:t>根拠：</a:t>
            </a:r>
          </a:p>
          <a:p xmlns:a="http://schemas.openxmlformats.org/drawingml/2006/main">
            <a:r>
              <a:t>https://www.ietf.org/ietf-ftp/rfc/rfc9846.html#section-6.2</a:t>
            </a:r>
          </a:p>
          <a:p xmlns:a="http://schemas.openxmlformats.org/drawingml/2006/main">
            <a:r>
              <a:t>https://github.com/openjdk/jdk21u/blob/9de4f68c88a0a1510373f291d1a95b1f6b0db8c8/src/java.base/share/classes/sun/security/ssl/CipherSuite.java#L693</a:t>
            </a:r>
          </a:p>
          <a:p xmlns:a="http://schemas.openxmlformats.org/drawingml/2006/main">
            <a:r>
              <a:t>https://github.com/openjdk/jdk21u/blob/9de4f68c88a0a1510373f291d1a95b1f6b0db8c8/src/java.base/share/classes/sun/security/ssl/Alert.java#L64</a:t>
            </a:r>
          </a:p>
          <a:p xmlns:a="http://schemas.openxmlformats.org/drawingml/2006/main">
            <a:r>
              <a:t>https://www.rfc-editor.org/rfc/rfc7507.html#section-3</a:t>
            </a:r>
          </a:p>
          <a:p xmlns:a="http://schemas.openxmlformats.org/drawingml/2006/main">
            <a:r>
              <a:t>対象133ファイルにおける当該Alertの全明示参照索引（定義行を除く）：</a:t>
            </a:r>
          </a:p>
          <a:p xmlns:a="http://schemas.openxmlformats.org/drawingml/2006/main">
            <a:r>
              <a:t>参照0件。未定義または定義のみであり、未実装だけから違反と断定しない。</a:t>
            </a:r>
          </a:p>
          <a:p xmlns:a="http://schemas.openxmlformats.org/drawingml/2006/main">
            <a:r>
              <a:t/>
            </a:r>
          </a:p>
          <a:p xmlns:a="http://schemas.openxmlformats.org/drawingml/2006/main">
            <a:r>
              <a:t>【109 missing_extension】</a:t>
            </a:r>
          </a:p>
          <a:p xmlns:a="http://schemas.openxmlformats.org/drawingml/2006/main">
            <a:r>
              <a:t>RFC条件：版や交渉条件から必須の拡張が欠落。</a:t>
            </a:r>
          </a:p>
          <a:p xmlns:a="http://schemas.openxmlformats.org/drawingml/2006/main">
            <a:r>
              <a:t>定義：あり</a:t>
            </a:r>
          </a:p>
          <a:p xmlns:a="http://schemas.openxmlformats.org/drawingml/2006/main">
            <a:r>
              <a:t>静的評価：経路あり・網羅一致せず</a:t>
            </a:r>
          </a:p>
          <a:p xmlns:a="http://schemas.openxmlformats.org/drawingml/2006/main">
            <a:r>
              <a:t>RFC違反の判定：SHOULDとの差・違反断定保留</a:t>
            </a:r>
          </a:p>
          <a:p xmlns:a="http://schemas.openxmlformats.org/drawingml/2006/main">
            <a:r>
              <a:t>判定理由：PSK modes欠落は47を選ぶ。§4.3.9のMUST abortは満たすが番号を指定していないので、109との差は§6.2のSHOULDに基づく判定。§9.2の明示的な109指定と混同しない。SNI必須化を提供しないこと自体も違反ではない。</a:t>
            </a:r>
          </a:p>
          <a:p xmlns:a="http://schemas.openxmlformats.org/drawingml/2006/main">
            <a:r>
              <a:t>詳細：6個の直接呼出しを確認。CertificateRequestを生成する側で必要な拡張が利用できない場合にも109 {SignatureAlgorithmsExtension.java:388}。PSKがあるのにpsk_key_exchange_modesがない場合は47へ集約 {PreSharedKeyExtension.java:352}。SNI必須ポリシーによる109は提供されていないとのコメントがある {ServerNameExtension.java:319}。SNI必須化自体は任意なので、その未提供だけでは違反とはしない。</a:t>
            </a:r>
          </a:p>
          <a:p xmlns:a="http://schemas.openxmlformats.org/drawingml/2006/main">
            <a:r>
              <a:t>送信経路：key_shareとsupported_groupsの片方欠落 {KeyShareExtension.java:426}、{SupportedGroupsExtension.java:295}。signature_algorithms欠落 {SignatureAlgorithmsExtension.java:314}、{SignatureAlgorithmsExtension.java:499}。</a:t>
            </a:r>
          </a:p>
          <a:p xmlns:a="http://schemas.openxmlformats.org/drawingml/2006/main">
            <a:r>
              <a:t>根拠：</a:t>
            </a:r>
          </a:p>
          <a:p xmlns:a="http://schemas.openxmlformats.org/drawingml/2006/main">
            <a:r>
              <a:t>https://www.ietf.org/ietf-ftp/rfc/rfc9846.html#section-4.3.9</a:t>
            </a:r>
          </a:p>
          <a:p xmlns:a="http://schemas.openxmlformats.org/drawingml/2006/main">
            <a:r>
              <a:t>https://www.ietf.org/ietf-ftp/rfc/rfc9846.html#section-6.2</a:t>
            </a:r>
          </a:p>
          <a:p xmlns:a="http://schemas.openxmlformats.org/drawingml/2006/main">
            <a:r>
              <a:t>https://www.ietf.org/ietf-ftp/rfc/rfc9846.html#section-9.2</a:t>
            </a:r>
          </a:p>
          <a:p xmlns:a="http://schemas.openxmlformats.org/drawingml/2006/main">
            <a:r>
              <a:t>https://github.com/openjdk/jdk21u/blob/9de4f68c88a0a1510373f291d1a95b1f6b0db8c8/src/java.base/share/classes/sun/security/ssl/PreSharedKeyExtension.java#L352</a:t>
            </a:r>
          </a:p>
          <a:p xmlns:a="http://schemas.openxmlformats.org/drawingml/2006/main">
            <a:r>
              <a:t>https://github.com/openjdk/jdk21u/blob/9de4f68c88a0a1510373f291d1a95b1f6b0db8c8/src/java.base/share/classes/sun/security/ssl/KeyShareExtension.java#L426</a:t>
            </a:r>
          </a:p>
          <a:p xmlns:a="http://schemas.openxmlformats.org/drawingml/2006/main">
            <a:r>
              <a:t>https://github.com/openjdk/jdk21u/blob/9de4f68c88a0a1510373f291d1a95b1f6b0db8c8/src/java.base/share/classes/sun/security/ssl/SupportedGroupsExtension.java#L295</a:t>
            </a:r>
          </a:p>
          <a:p xmlns:a="http://schemas.openxmlformats.org/drawingml/2006/main">
            <a:r>
              <a:t>https://github.com/openjdk/jdk21u/blob/9de4f68c88a0a1510373f291d1a95b1f6b0db8c8/src/java.base/share/classes/sun/security/ssl/SignatureAlgorithmsExtension.java#L314</a:t>
            </a:r>
          </a:p>
          <a:p xmlns:a="http://schemas.openxmlformats.org/drawingml/2006/main">
            <a:r>
              <a:t>https://github.com/openjdk/jdk21u/blob/9de4f68c88a0a1510373f291d1a95b1f6b0db8c8/src/java.base/share/classes/sun/security/ssl/SignatureAlgorithmsExtension.java#L499</a:t>
            </a:r>
          </a:p>
          <a:p xmlns:a="http://schemas.openxmlformats.org/drawingml/2006/main">
            <a:r>
              <a:t>https://github.com/openjdk/jdk21u/blob/9de4f68c88a0a1510373f291d1a95b1f6b0db8c8/src/java.base/share/classes/sun/security/ssl/SignatureAlgorithmsExtension.java#L388</a:t>
            </a:r>
          </a:p>
          <a:p xmlns:a="http://schemas.openxmlformats.org/drawingml/2006/main">
            <a:r>
              <a:t>https://github.com/openjdk/jdk21u/blob/9de4f68c88a0a1510373f291d1a95b1f6b0db8c8/src/java.base/share/classes/sun/security/ssl/ServerNameExtension.java#L319</a:t>
            </a:r>
          </a:p>
          <a:p xmlns:a="http://schemas.openxmlformats.org/drawingml/2006/main">
            <a:r>
              <a:t>https://github.com/openjdk/jdk21u/blob/9de4f68c88a0a1510373f291d1a95b1f6b0db8c8/src/java.base/share/classes/sun/security/ssl/Alert.java#L67</a:t>
            </a:r>
          </a:p>
          <a:p xmlns:a="http://schemas.openxmlformats.org/drawingml/2006/main">
            <a:r>
              <a:t>対象133ファイルにおける当該Alertの全明示参照索引（定義行を除く）：</a:t>
            </a:r>
          </a:p>
          <a:p xmlns:a="http://schemas.openxmlformats.org/drawingml/2006/main">
            <a:r>
              <a:t>KeyShareExtension.java:426 [direct fatal call] https://github.com/openjdk/jdk21u/blob/9de4f68c88a0a1510373f291d1a95b1f6b0db8c8/src/java.base/share/classes/sun/security/ssl/KeyShareExtension.java#L426</a:t>
            </a:r>
          </a:p>
          <a:p xmlns:a="http://schemas.openxmlformats.org/drawingml/2006/main">
            <a:r>
              <a:t>PreSharedKeyExtension.java:866 [direct fatal call] https://github.com/openjdk/jdk21u/blob/9de4f68c88a0a1510373f291d1a95b1f6b0db8c8/src/java.base/share/classes/sun/security/ssl/PreSharedKeyExtension.java#L866</a:t>
            </a:r>
          </a:p>
          <a:p xmlns:a="http://schemas.openxmlformats.org/drawingml/2006/main">
            <a:r>
              <a:t>SignatureAlgorithmsExtension.java:314 [direct fatal call] https://github.com/openjdk/jdk21u/blob/9de4f68c88a0a1510373f291d1a95b1f6b0db8c8/src/java.base/share/classes/sun/security/ssl/SignatureAlgorithmsExtension.java#L314</a:t>
            </a:r>
          </a:p>
          <a:p xmlns:a="http://schemas.openxmlformats.org/drawingml/2006/main">
            <a:r>
              <a:t>SignatureAlgorithmsExtension.java:388 [direct fatal call] https://github.com/openjdk/jdk21u/blob/9de4f68c88a0a1510373f291d1a95b1f6b0db8c8/src/java.base/share/classes/sun/security/ssl/SignatureAlgorithmsExtension.java#L388</a:t>
            </a:r>
          </a:p>
          <a:p xmlns:a="http://schemas.openxmlformats.org/drawingml/2006/main">
            <a:r>
              <a:t>SignatureAlgorithmsExtension.java:499 [direct fatal call] https://github.com/openjdk/jdk21u/blob/9de4f68c88a0a1510373f291d1a95b1f6b0db8c8/src/java.base/share/classes/sun/security/ssl/SignatureAlgorithmsExtension.java#L499</a:t>
            </a:r>
          </a:p>
          <a:p xmlns:a="http://schemas.openxmlformats.org/drawingml/2006/main">
            <a:r>
              <a:t>SupportedGroupsExtension.java:295 [direct fatal call] https://github.com/openjdk/jdk21u/blob/9de4f68c88a0a1510373f291d1a95b1f6b0db8c8/src/java.base/share/classes/sun/security/ssl/SupportedGroupsExtension.java#L295</a:t>
            </a:r>
          </a:p>
          <a:p xmlns:a="http://schemas.openxmlformats.org/drawingml/2006/main">
            <a:r>
              <a:t/>
            </a:r>
          </a:p>
          <a:p xmlns:a="http://schemas.openxmlformats.org/drawingml/2006/main">
            <a:r>
              <a:t>【110 unsupported_extension】</a:t>
            </a:r>
          </a:p>
          <a:p xmlns:a="http://schemas.openxmlformats.org/drawingml/2006/main">
            <a:r>
              <a:t>RFC条件：対応するClientHello／CertificateRequestで提示されていない応答拡張。</a:t>
            </a:r>
          </a:p>
          <a:p xmlns:a="http://schemas.openxmlformats.org/drawingml/2006/main">
            <a:r>
              <a:t>定義：あり</a:t>
            </a:r>
          </a:p>
          <a:p xmlns:a="http://schemas.openxmlformats.org/drawingml/2006/main">
            <a:r>
              <a:t>静的評価：経路あり・相違あり</a:t>
            </a:r>
          </a:p>
          <a:p xmlns:a="http://schemas.openxmlformats.org/drawingml/2006/main">
            <a:r>
              <a:t>RFC違反の判定：違反あり（MUST不一致）</a:t>
            </a:r>
          </a:p>
          <a:p xmlns:a="http://schemas.openxmlformats.org/drawingml/2006/main">
            <a:r>
              <a:t>判定理由：未要求のALPN応答を110でなく10にする。TLS 1.3のEncryptedExtensionsでも同じconsumerを使うため、未提示応答拡張に110を要求する§4.3と不一致。</a:t>
            </a:r>
          </a:p>
          <a:p xmlns:a="http://schemas.openxmlformats.org/drawingml/2006/main">
            <a:r>
              <a:t>詳細：提示されていないALPN応答は110でなく10 {AlpnExtension.java:475}。認識しているが配置先が不正な拡張に対しServerHelloでは110を使う一方、他のメッセージでは無視する共通分岐がある {SSLExtensions.java:81}。RFC §4.3は未提示応答110と、既知拡張の配置違反47を区別するため、全応答・全配置で一致するとはいえない。</a:t>
            </a:r>
          </a:p>
          <a:p xmlns:a="http://schemas.openxmlformats.org/drawingml/2006/main">
            <a:r>
              <a:t>送信経路：共通拡張処理 {SSLExtensions.java:102}、{SSLExtensions.java:121}。旧版extended_master_secretに2箇所。</a:t>
            </a:r>
          </a:p>
          <a:p xmlns:a="http://schemas.openxmlformats.org/drawingml/2006/main">
            <a:r>
              <a:t>根拠：</a:t>
            </a:r>
          </a:p>
          <a:p xmlns:a="http://schemas.openxmlformats.org/drawingml/2006/main">
            <a:r>
              <a:t>https://www.ietf.org/ietf-ftp/rfc/rfc9846.html#section-4.3</a:t>
            </a:r>
          </a:p>
          <a:p xmlns:a="http://schemas.openxmlformats.org/drawingml/2006/main">
            <a:r>
              <a:t>https://www.ietf.org/ietf-ftp/rfc/rfc9846.html#section-6.2</a:t>
            </a:r>
          </a:p>
          <a:p xmlns:a="http://schemas.openxmlformats.org/drawingml/2006/main">
            <a:r>
              <a:t>https://github.com/openjdk/jdk21u/blob/9de4f68c88a0a1510373f291d1a95b1f6b0db8c8/src/java.base/share/classes/sun/security/ssl/AlpnExtension.java#L475</a:t>
            </a:r>
          </a:p>
          <a:p xmlns:a="http://schemas.openxmlformats.org/drawingml/2006/main">
            <a:r>
              <a:t>https://github.com/openjdk/jdk21u/blob/9de4f68c88a0a1510373f291d1a95b1f6b0db8c8/src/java.base/share/classes/sun/security/ssl/SSLExtension.java#L205</a:t>
            </a:r>
          </a:p>
          <a:p xmlns:a="http://schemas.openxmlformats.org/drawingml/2006/main">
            <a:r>
              <a:t>https://github.com/openjdk/jdk21u/blob/9de4f68c88a0a1510373f291d1a95b1f6b0db8c8/src/java.base/share/classes/sun/security/ssl/SSLExtensions.java#L102</a:t>
            </a:r>
          </a:p>
          <a:p xmlns:a="http://schemas.openxmlformats.org/drawingml/2006/main">
            <a:r>
              <a:t>https://github.com/openjdk/jdk21u/blob/9de4f68c88a0a1510373f291d1a95b1f6b0db8c8/src/java.base/share/classes/sun/security/ssl/SSLExtensions.java#L121</a:t>
            </a:r>
          </a:p>
          <a:p xmlns:a="http://schemas.openxmlformats.org/drawingml/2006/main">
            <a:r>
              <a:t>https://github.com/openjdk/jdk21u/blob/9de4f68c88a0a1510373f291d1a95b1f6b0db8c8/src/java.base/share/classes/sun/security/ssl/SSLExtensions.java#L81</a:t>
            </a:r>
          </a:p>
          <a:p xmlns:a="http://schemas.openxmlformats.org/drawingml/2006/main">
            <a:r>
              <a:t>https://github.com/openjdk/jdk21u/blob/9de4f68c88a0a1510373f291d1a95b1f6b0db8c8/src/java.base/share/classes/sun/security/ssl/Alert.java#L68</a:t>
            </a:r>
          </a:p>
          <a:p xmlns:a="http://schemas.openxmlformats.org/drawingml/2006/main">
            <a:r>
              <a:t>対象133ファイルにおける当該Alertの全明示参照索引（定義行を除く）：</a:t>
            </a:r>
          </a:p>
          <a:p xmlns:a="http://schemas.openxmlformats.org/drawingml/2006/main">
            <a:r>
              <a:t>ExtendedMasterSecretExtension.java:317 [direct fatal call] https://github.com/openjdk/jdk21u/blob/9de4f68c88a0a1510373f291d1a95b1f6b0db8c8/src/java.base/share/classes/sun/security/ssl/ExtendedMasterSecretExtension.java#L317</a:t>
            </a:r>
          </a:p>
          <a:p xmlns:a="http://schemas.openxmlformats.org/drawingml/2006/main">
            <a:r>
              <a:t>ExtendedMasterSecretExtension.java:327 [direct fatal call] https://github.com/openjdk/jdk21u/blob/9de4f68c88a0a1510373f291d1a95b1f6b0db8c8/src/java.base/share/classes/sun/security/ssl/ExtendedMasterSecretExtension.java#L327</a:t>
            </a:r>
          </a:p>
          <a:p xmlns:a="http://schemas.openxmlformats.org/drawingml/2006/main">
            <a:r>
              <a:t>SSLExtensions.java:103 [direct fatal call] https://github.com/openjdk/jdk21u/blob/9de4f68c88a0a1510373f291d1a95b1f6b0db8c8/src/java.base/share/classes/sun/security/ssl/SSLExtensions.java#L103</a:t>
            </a:r>
          </a:p>
          <a:p xmlns:a="http://schemas.openxmlformats.org/drawingml/2006/main">
            <a:r>
              <a:t>SSLExtensions.java:122 [direct fatal call] https://github.com/openjdk/jdk21u/blob/9de4f68c88a0a1510373f291d1a95b1f6b0db8c8/src/java.base/share/classes/sun/security/ssl/SSLExtensions.java#L122</a:t>
            </a:r>
          </a:p>
          <a:p xmlns:a="http://schemas.openxmlformats.org/drawingml/2006/main">
            <a:r>
              <a:t/>
            </a:r>
          </a:p>
          <a:p xmlns:a="http://schemas.openxmlformats.org/drawingml/2006/main">
            <a:r>
              <a:t/>
            </a:r>
          </a:p>
          <a:p xmlns:a="http://schemas.openxmlformats.org/drawingml/2006/main">
            <a:r>
              <a:t>根拠URL</a:t>
            </a:r>
          </a:p>
          <a:p xmlns:a="http://schemas.openxmlformats.org/drawingml/2006/main">
            <a:r>
              <a:t>https://www.ietf.org/ietf-ftp/rfc/rfc9846.html#section-6.2</a:t>
            </a:r>
          </a:p>
          <a:p xmlns:a="http://schemas.openxmlformats.org/drawingml/2006/main">
            <a:r>
              <a:t>https://github.com/openjdk/jdk21u/blob/9de4f68c88a0a1510373f291d1a95b1f6b0db8c8/src/java.base/share/classes/sun/security/ssl/PreSharedKeyExtension.java#L797</a:t>
            </a:r>
          </a:p>
          <a:p xmlns:a="http://schemas.openxmlformats.org/drawingml/2006/main">
            <a:r>
              <a:t>https://github.com/openjdk/jdk21u/blob/9de4f68c88a0a1510373f291d1a95b1f6b0db8c8/src/java.base/share/classes/sun/security/ssl/TransportContext.java#L412</a:t>
            </a:r>
          </a:p>
          <a:p xmlns:a="http://schemas.openxmlformats.org/drawingml/2006/main">
            <a:r>
              <a:t>https://github.com/openjdk/jdk21u/blob/9de4f68c88a0a1510373f291d1a95b1f6b0db8c8/src/java.base/share/classes/sun/security/ssl/SSLSocketImpl.java#L1695</a:t>
            </a:r>
          </a:p>
          <a:p xmlns:a="http://schemas.openxmlformats.org/drawingml/2006/main">
            <a:r>
              <a:t>https://github.com/openjdk/jdk21u/blob/9de4f68c88a0a1510373f291d1a95b1f6b0db8c8/src/java.base/share/classes/sun/security/ssl/Finished.java#L119</a:t>
            </a:r>
          </a:p>
          <a:p xmlns:a="http://schemas.openxmlformats.org/drawingml/2006/main">
            <a:r>
              <a:t>https://github.com/openjdk/jdk21u/blob/9de4f68c88a0a1510373f291d1a95b1f6b0db8c8/src/java.base/share/classes/sun/security/ssl/Alert.java#L63</a:t>
            </a:r>
          </a:p>
          <a:p xmlns:a="http://schemas.openxmlformats.org/drawingml/2006/main">
            <a:r>
              <a:t>https://github.com/openjdk/jdk21u/blob/9de4f68c88a0a1510373f291d1a95b1f6b0db8c8/src/java.base/share/classes/sun/security/ssl/CipherSuite.java#L693</a:t>
            </a:r>
          </a:p>
          <a:p xmlns:a="http://schemas.openxmlformats.org/drawingml/2006/main">
            <a:r>
              <a:t>https://github.com/openjdk/jdk21u/blob/9de4f68c88a0a1510373f291d1a95b1f6b0db8c8/src/java.base/share/classes/sun/security/ssl/Alert.java#L64</a:t>
            </a:r>
          </a:p>
          <a:p xmlns:a="http://schemas.openxmlformats.org/drawingml/2006/main">
            <a:r>
              <a:t>https://www.rfc-editor.org/rfc/rfc7507.html#section-3</a:t>
            </a:r>
          </a:p>
          <a:p xmlns:a="http://schemas.openxmlformats.org/drawingml/2006/main">
            <a:r>
              <a:t>https://www.ietf.org/ietf-ftp/rfc/rfc9846.html#section-4.3.9</a:t>
            </a:r>
          </a:p>
          <a:p xmlns:a="http://schemas.openxmlformats.org/drawingml/2006/main">
            <a:r>
              <a:t>https://www.ietf.org/ietf-ftp/rfc/rfc9846.html#section-9.2</a:t>
            </a:r>
          </a:p>
          <a:p xmlns:a="http://schemas.openxmlformats.org/drawingml/2006/main">
            <a:r>
              <a:t>https://github.com/openjdk/jdk21u/blob/9de4f68c88a0a1510373f291d1a95b1f6b0db8c8/src/java.base/share/classes/sun/security/ssl/PreSharedKeyExtension.java#L352</a:t>
            </a:r>
          </a:p>
          <a:p xmlns:a="http://schemas.openxmlformats.org/drawingml/2006/main">
            <a:r>
              <a:t>https://github.com/openjdk/jdk21u/blob/9de4f68c88a0a1510373f291d1a95b1f6b0db8c8/src/java.base/share/classes/sun/security/ssl/KeyShareExtension.java#L426</a:t>
            </a:r>
          </a:p>
          <a:p xmlns:a="http://schemas.openxmlformats.org/drawingml/2006/main">
            <a:r>
              <a:t>https://github.com/openjdk/jdk21u/blob/9de4f68c88a0a1510373f291d1a95b1f6b0db8c8/src/java.base/share/classes/sun/security/ssl/SupportedGroupsExtension.java#L295</a:t>
            </a:r>
          </a:p>
          <a:p xmlns:a="http://schemas.openxmlformats.org/drawingml/2006/main">
            <a:r>
              <a:t>https://github.com/openjdk/jdk21u/blob/9de4f68c88a0a1510373f291d1a95b1f6b0db8c8/src/java.base/share/classes/sun/security/ssl/SignatureAlgorithmsExtension.java#L314</a:t>
            </a:r>
          </a:p>
          <a:p xmlns:a="http://schemas.openxmlformats.org/drawingml/2006/main">
            <a:r>
              <a:t>https://github.com/openjdk/jdk21u/blob/9de4f68c88a0a1510373f291d1a95b1f6b0db8c8/src/java.base/share/classes/sun/security/ssl/SignatureAlgorithmsExtension.java#L499</a:t>
            </a:r>
          </a:p>
          <a:p xmlns:a="http://schemas.openxmlformats.org/drawingml/2006/main">
            <a:r>
              <a:t>https://github.com/openjdk/jdk21u/blob/9de4f68c88a0a1510373f291d1a95b1f6b0db8c8/src/java.base/share/classes/sun/security/ssl/SignatureAlgorithmsExtension.java#L388</a:t>
            </a:r>
          </a:p>
          <a:p xmlns:a="http://schemas.openxmlformats.org/drawingml/2006/main">
            <a:r>
              <a:t>https://github.com/openjdk/jdk21u/blob/9de4f68c88a0a1510373f291d1a95b1f6b0db8c8/src/java.base/share/classes/sun/security/ssl/ServerNameExtension.java#L319</a:t>
            </a:r>
          </a:p>
          <a:p xmlns:a="http://schemas.openxmlformats.org/drawingml/2006/main">
            <a:r>
              <a:t>https://github.com/openjdk/jdk21u/blob/9de4f68c88a0a1510373f291d1a95b1f6b0db8c8/src/java.base/share/classes/sun/security/ssl/Alert.java#L67</a:t>
            </a:r>
          </a:p>
          <a:p xmlns:a="http://schemas.openxmlformats.org/drawingml/2006/main">
            <a:r>
              <a:t>https://www.ietf.org/ietf-ftp/rfc/rfc9846.html#section-4.3</a:t>
            </a:r>
          </a:p>
          <a:p xmlns:a="http://schemas.openxmlformats.org/drawingml/2006/main">
            <a:r>
              <a:t>https://github.com/openjdk/jdk21u/blob/9de4f68c88a0a1510373f291d1a95b1f6b0db8c8/src/java.base/share/classes/sun/security/ssl/AlpnExtension.java#L475</a:t>
            </a:r>
          </a:p>
          <a:p xmlns:a="http://schemas.openxmlformats.org/drawingml/2006/main">
            <a:r>
              <a:t>https://github.com/openjdk/jdk21u/blob/9de4f68c88a0a1510373f291d1a95b1f6b0db8c8/src/java.base/share/classes/sun/security/ssl/SSLExtension.java#L205</a:t>
            </a:r>
          </a:p>
          <a:p xmlns:a="http://schemas.openxmlformats.org/drawingml/2006/main">
            <a:r>
              <a:t>https://github.com/openjdk/jdk21u/blob/9de4f68c88a0a1510373f291d1a95b1f6b0db8c8/src/java.base/share/classes/sun/security/ssl/SSLExtensions.java#L102</a:t>
            </a:r>
          </a:p>
          <a:p xmlns:a="http://schemas.openxmlformats.org/drawingml/2006/main">
            <a:r>
              <a:t>https://github.com/openjdk/jdk21u/blob/9de4f68c88a0a1510373f291d1a95b1f6b0db8c8/src/java.base/share/classes/sun/security/ssl/SSLExtensions.java#L121</a:t>
            </a:r>
          </a:p>
          <a:p xmlns:a="http://schemas.openxmlformats.org/drawingml/2006/main">
            <a:r>
              <a:t>https://github.com/openjdk/jdk21u/blob/9de4f68c88a0a1510373f291d1a95b1f6b0db8c8/src/java.base/share/classes/sun/security/ssl/SSLExtensions.java#L81</a:t>
            </a:r>
          </a:p>
          <a:p xmlns:a="http://schemas.openxmlformats.org/drawingml/2006/main">
            <a:r>
              <a:t>https://github.com/openjdk/jdk21u/blob/9de4f68c88a0a1510373f291d1a95b1f6b0db8c8/src/java.base/share/classes/sun/security/ssl/Alert.java#L68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【112 unrecognized_name】</a:t>
            </a:r>
          </a:p>
          <a:p xmlns:a="http://schemas.openxmlformats.org/drawingml/2006/main">
            <a:r>
              <a:t>RFC条件：SNIの名前に対応するサーバーがない。</a:t>
            </a:r>
          </a:p>
          <a:p xmlns:a="http://schemas.openxmlformats.org/drawingml/2006/main">
            <a:r>
              <a:t>定義：あり</a:t>
            </a:r>
          </a:p>
          <a:p xmlns:a="http://schemas.openxmlformats.org/drawingml/2006/main">
            <a:r>
              <a:t>静的評価：設定条件下で経路あり</a:t>
            </a:r>
          </a:p>
          <a:p xmlns:a="http://schemas.openxmlformats.org/drawingml/2006/main">
            <a:r>
              <a:t>RFC違反の判定：違反未確認（確認範囲）</a:t>
            </a:r>
          </a:p>
          <a:p xmlns:a="http://schemas.openxmlformats.org/drawingml/2006/main">
            <a:r>
              <a:t>判定理由：設定されたSNIMatcherの不一致で112。SNIの欠落やMatcher未設定だけで112を送らないことは、§6.2の条件から直ちに違反とはいえない。</a:t>
            </a:r>
          </a:p>
          <a:p xmlns:a="http://schemas.openxmlformats.org/drawingml/2006/main">
            <a:r>
              <a:t>詳細：SNIMatcherが空でなく、chooseSniが一致を返さなければ112。Matcher未設定やSNI拡張がない接続は自動的に112にはしない。ホスト名の実在や仮想ホストの全体をSunJSSEが独自に判定するものではなく、設定されたMatcherに基づく。</a:t>
            </a:r>
          </a:p>
          <a:p xmlns:a="http://schemas.openxmlformats.org/drawingml/2006/main">
            <a:r>
              <a:t>送信経路：設定されたSNIMatcherのいずれにも一致しない {ServerNameExtension.java:305}。</a:t>
            </a:r>
          </a:p>
          <a:p xmlns:a="http://schemas.openxmlformats.org/drawingml/2006/main">
            <a:r>
              <a:t>根拠：</a:t>
            </a:r>
          </a:p>
          <a:p xmlns:a="http://schemas.openxmlformats.org/drawingml/2006/main">
            <a:r>
              <a:t>https://www.ietf.org/ietf-ftp/rfc/rfc9846.html#section-6.2</a:t>
            </a:r>
          </a:p>
          <a:p xmlns:a="http://schemas.openxmlformats.org/drawingml/2006/main">
            <a:r>
              <a:t>https://github.com/openjdk/jdk21u/blob/9de4f68c88a0a1510373f291d1a95b1f6b0db8c8/src/java.base/share/classes/sun/security/ssl/ServerNameExtension.java#L305</a:t>
            </a:r>
          </a:p>
          <a:p xmlns:a="http://schemas.openxmlformats.org/drawingml/2006/main">
            <a:r>
              <a:t>https://github.com/openjdk/jdk21u/blob/9de4f68c88a0a1510373f291d1a95b1f6b0db8c8/src/java.base/share/classes/sun/security/ssl/Alert.java#L70</a:t>
            </a:r>
          </a:p>
          <a:p xmlns:a="http://schemas.openxmlformats.org/drawingml/2006/main">
            <a:r>
              <a:t>対象133ファイルにおける当該Alertの全明示参照索引（定義行を除く）：</a:t>
            </a:r>
          </a:p>
          <a:p xmlns:a="http://schemas.openxmlformats.org/drawingml/2006/main">
            <a:r>
              <a:t>ServerNameExtension.java:315 [direct fatal call] https://github.com/openjdk/jdk21u/blob/9de4f68c88a0a1510373f291d1a95b1f6b0db8c8/src/java.base/share/classes/sun/security/ssl/ServerNameExtension.java#L315</a:t>
            </a:r>
          </a:p>
          <a:p xmlns:a="http://schemas.openxmlformats.org/drawingml/2006/main">
            <a:r>
              <a:t/>
            </a:r>
          </a:p>
          <a:p xmlns:a="http://schemas.openxmlformats.org/drawingml/2006/main">
            <a:r>
              <a:t>【113 bad_certificate_status_response】</a:t>
            </a:r>
          </a:p>
          <a:p xmlns:a="http://schemas.openxmlformats.org/drawingml/2006/main">
            <a:r>
              <a:t>RFC条件：サーバーから受けたOCSP応答が不正・受入不可のときクライアントが送信。</a:t>
            </a:r>
          </a:p>
          <a:p xmlns:a="http://schemas.openxmlformats.org/drawingml/2006/main">
            <a:r>
              <a:t>定義：あり</a:t>
            </a:r>
          </a:p>
          <a:p xmlns:a="http://schemas.openxmlformats.org/drawingml/2006/main">
            <a:r>
              <a:t>静的評価：変換経路あり・送信役割に相違</a:t>
            </a:r>
          </a:p>
          <a:p xmlns:a="http://schemas.openxmlformats.org/drawingml/2006/main">
            <a:r>
              <a:t>RFC違反の判定：SHOULDとの差・違反断定保留</a:t>
            </a:r>
          </a:p>
          <a:p xmlns:a="http://schemas.openxmlformats.org/drawingml/2006/main">
            <a:r>
              <a:t>判定理由：サーバー側の応答生成IOExceptionに113を使う条件・役割は、クライアントが受信OCSPを拒否するという§6.2の定義と異なる。ただし送信役割の記述を、明示的なMUST NOTの違反と同一視しない。</a:t>
            </a:r>
          </a:p>
          <a:p xmlns:a="http://schemas.openxmlformats.org/drawingml/2006/main">
            <a:r>
              <a:t>詳細：クライアント側には113を選ぶ変換経路がある。ただしgetCertificateAlertが認識できる原因に限定される。唯一の直接fatal(BAD_CERT_STATUS_RESPONSE,...)はTLS 1.3証明書status応答を作るサーバー側のIOException処理であり、§6.2のクライアントが送るという定義とは役割が異なる。OCSP失効検査の設定とTrustManagerに依存する。</a:t>
            </a:r>
          </a:p>
          <a:p xmlns:a="http://schemas.openxmlformats.org/drawingml/2006/main">
            <a:r>
              <a:t>送信経路：stapling有効時のREVOKED／UNDETERMINED_REVOCATION_STATUS変換 {CertificateMessage.java:1312}。サーバー側producerにも直接呼出し {CertStatusExtension.java:1168}。</a:t>
            </a:r>
          </a:p>
          <a:p xmlns:a="http://schemas.openxmlformats.org/drawingml/2006/main">
            <a:r>
              <a:t>根拠：</a:t>
            </a:r>
          </a:p>
          <a:p xmlns:a="http://schemas.openxmlformats.org/drawingml/2006/main">
            <a:r>
              <a:t>https://www.ietf.org/ietf-ftp/rfc/rfc9846.html#section-6.2</a:t>
            </a:r>
          </a:p>
          <a:p xmlns:a="http://schemas.openxmlformats.org/drawingml/2006/main">
            <a:r>
              <a:t>https://github.com/openjdk/jdk21u/blob/9de4f68c88a0a1510373f291d1a95b1f6b0db8c8/src/java.base/share/classes/sun/security/ssl/CertStatusExtension.java#L1168</a:t>
            </a:r>
          </a:p>
          <a:p xmlns:a="http://schemas.openxmlformats.org/drawingml/2006/main">
            <a:r>
              <a:t>https://github.com/openjdk/jdk21u/blob/9de4f68c88a0a1510373f291d1a95b1f6b0db8c8/src/java.base/share/classes/sun/security/ssl/CertificateMessage.java#L1312</a:t>
            </a:r>
          </a:p>
          <a:p xmlns:a="http://schemas.openxmlformats.org/drawingml/2006/main">
            <a:r>
              <a:t>https://github.com/openjdk/jdk21u/blob/9de4f68c88a0a1510373f291d1a95b1f6b0db8c8/src/java.base/share/classes/sun/security/ssl/Alert.java#L71</a:t>
            </a:r>
          </a:p>
          <a:p xmlns:a="http://schemas.openxmlformats.org/drawingml/2006/main">
            <a:r>
              <a:t>対象133ファイルにおける当該Alertの全明示参照索引（定義行を除く）：</a:t>
            </a:r>
          </a:p>
          <a:p xmlns:a="http://schemas.openxmlformats.org/drawingml/2006/main">
            <a:r>
              <a:t>CertificateMessage.java:1314 [certificate alert mapping] https://github.com/openjdk/jdk21u/blob/9de4f68c88a0a1510373f291d1a95b1f6b0db8c8/src/java.base/share/classes/sun/security/ssl/CertificateMessage.java#L1314</a:t>
            </a:r>
          </a:p>
          <a:p xmlns:a="http://schemas.openxmlformats.org/drawingml/2006/main">
            <a:r>
              <a:t>CertificateMessage.java:1318 [certificate alert mapping] https://github.com/openjdk/jdk21u/blob/9de4f68c88a0a1510373f291d1a95b1f6b0db8c8/src/java.base/share/classes/sun/security/ssl/CertificateMessage.java#L1318</a:t>
            </a:r>
          </a:p>
          <a:p xmlns:a="http://schemas.openxmlformats.org/drawingml/2006/main">
            <a:r>
              <a:t>CertStatusExtension.java:1168 [direct fatal call] https://github.com/openjdk/jdk21u/blob/9de4f68c88a0a1510373f291d1a95b1f6b0db8c8/src/java.base/share/classes/sun/security/ssl/CertStatusExtension.java#L1168</a:t>
            </a:r>
          </a:p>
          <a:p xmlns:a="http://schemas.openxmlformats.org/drawingml/2006/main">
            <a:r>
              <a:t/>
            </a:r>
          </a:p>
          <a:p xmlns:a="http://schemas.openxmlformats.org/drawingml/2006/main">
            <a:r>
              <a:t>【115 unknown_psk_identity】</a:t>
            </a:r>
          </a:p>
          <a:p xmlns:a="http://schemas.openxmlformats.org/drawingml/2006/main">
            <a:r>
              <a:t>RFC条件：受入可能なPSK identityがない。サーバー送信はOPTIONAL。</a:t>
            </a:r>
          </a:p>
          <a:p xmlns:a="http://schemas.openxmlformats.org/drawingml/2006/main">
            <a:r>
              <a:t>定義：あり</a:t>
            </a:r>
          </a:p>
          <a:p xmlns:a="http://schemas.openxmlformats.org/drawingml/2006/main">
            <a:r>
              <a:t>静的評価：定義のみ・省略は許容</a:t>
            </a:r>
          </a:p>
          <a:p xmlns:a="http://schemas.openxmlformats.org/drawingml/2006/main">
            <a:r>
              <a:t>RFC違反の判定：省略は違反でない（OPTIONAL）</a:t>
            </a:r>
          </a:p>
          <a:p xmlns:a="http://schemas.openxmlformats.org/drawingml/2006/main">
            <a:r>
              <a:t>判定理由：§6.2が115の送信をOPTIONALとしているので、省略そのものは違反でない。未知ticketを無視して通常ハンドシェイクを試みることと、既知PSKのbinder不正の番号選択は別問題。</a:t>
            </a:r>
          </a:p>
          <a:p xmlns:a="http://schemas.openxmlformats.org/drawingml/2006/main">
            <a:r>
              <a:t>詳細：115を送る経路は見つからない。受入可能な再開セッションがなければisResumption=falseとして通常ハンドシェイクに進む処理がある。RFC §6.2は115送信をOPTIONALとしているため、未送信という事実だけでは違反ではない。binder値不一致の47という別問題と混同しない。</a:t>
            </a:r>
          </a:p>
          <a:p xmlns:a="http://schemas.openxmlformats.org/drawingml/2006/main">
            <a:r>
              <a:t>送信経路：送信側参照なし。不一致ticketは再開を断念 {PreSharedKeyExtension.java:416}。</a:t>
            </a:r>
          </a:p>
          <a:p xmlns:a="http://schemas.openxmlformats.org/drawingml/2006/main">
            <a:r>
              <a:t>根拠：</a:t>
            </a:r>
          </a:p>
          <a:p xmlns:a="http://schemas.openxmlformats.org/drawingml/2006/main">
            <a:r>
              <a:t>https://www.ietf.org/ietf-ftp/rfc/rfc9846.html#section-6.2</a:t>
            </a:r>
          </a:p>
          <a:p xmlns:a="http://schemas.openxmlformats.org/drawingml/2006/main">
            <a:r>
              <a:t>https://github.com/openjdk/jdk21u/blob/9de4f68c88a0a1510373f291d1a95b1f6b0db8c8/src/java.base/share/classes/sun/security/ssl/PreSharedKeyExtension.java#L416</a:t>
            </a:r>
          </a:p>
          <a:p xmlns:a="http://schemas.openxmlformats.org/drawingml/2006/main">
            <a:r>
              <a:t>https://github.com/openjdk/jdk21u/blob/9de4f68c88a0a1510373f291d1a95b1f6b0db8c8/src/java.base/share/classes/sun/security/ssl/Alert.java#L74</a:t>
            </a:r>
          </a:p>
          <a:p xmlns:a="http://schemas.openxmlformats.org/drawingml/2006/main">
            <a:r>
              <a:t>対象133ファイルにおける当該Alertの全明示参照索引（定義行を除く）：</a:t>
            </a:r>
          </a:p>
          <a:p xmlns:a="http://schemas.openxmlformats.org/drawingml/2006/main">
            <a:r>
              <a:t>参照0件。未定義または定義のみであり、未実装だけから違反と断定しない。</a:t>
            </a:r>
          </a:p>
          <a:p xmlns:a="http://schemas.openxmlformats.org/drawingml/2006/main">
            <a:r>
              <a:t/>
            </a:r>
          </a:p>
          <a:p xmlns:a="http://schemas.openxmlformats.org/drawingml/2006/main">
            <a:r>
              <a:t>【116 certificate_required】</a:t>
            </a:r>
          </a:p>
          <a:p xmlns:a="http://schemas.openxmlformats.org/drawingml/2006/main">
            <a:r>
              <a:t>RFC条件：クライアント証明書が必要なのに提示されない。</a:t>
            </a:r>
          </a:p>
          <a:p xmlns:a="http://schemas.openxmlformats.org/drawingml/2006/main">
            <a:r>
              <a:t>定義：あり</a:t>
            </a:r>
          </a:p>
          <a:p xmlns:a="http://schemas.openxmlformats.org/drawingml/2006/main">
            <a:r>
              <a:t>静的評価：更新版に対応経路・GAとの差あり</a:t>
            </a:r>
          </a:p>
          <a:p xmlns:a="http://schemas.openxmlformats.org/drawingml/2006/main">
            <a:r>
              <a:t>RFC違反の判定：違反未確認（21.0.12の該当経路）</a:t>
            </a:r>
          </a:p>
          <a:p xmlns:a="http://schemas.openxmlformats.org/drawingml/2006/main">
            <a:r>
              <a:t>判定理由：空のクライアントCertificateを認証必須設定で拒否する経路は116で、§4.5.1.3と整合する。21 GAの同じ拒否分岐は42なので、その旧版分岐は番号指定に違反する。</a:t>
            </a:r>
          </a:p>
          <a:p xmlns:a="http://schemas.openxmlformats.org/drawingml/2006/main">
            <a:r>
              <a:t>詳細：21.0.12では上記条件で116、任意のクライアント認証なら継続。Certificateメッセージ自体を飛ばす場合は状態違反10などになり得るため、未提示の全意味を116にまとめてはいない。21 GAでは同じ空チェーンの分岐でBAD_CERTIFICATE(42)を使っていた。</a:t>
            </a:r>
          </a:p>
          <a:p xmlns:a="http://schemas.openxmlformats.org/drawingml/2006/main">
            <a:r>
              <a:t>送信経路：TLS 1.3で空のクライアントCertificateかつCLIENT_AUTH_REQUIRED {CertificateMessage.java:1126}。</a:t>
            </a:r>
          </a:p>
          <a:p xmlns:a="http://schemas.openxmlformats.org/drawingml/2006/main">
            <a:r>
              <a:t>根拠：</a:t>
            </a:r>
          </a:p>
          <a:p xmlns:a="http://schemas.openxmlformats.org/drawingml/2006/main">
            <a:r>
              <a:t>https://www.ietf.org/ietf-ftp/rfc/rfc9846.html#section-4.5.1.3</a:t>
            </a:r>
          </a:p>
          <a:p xmlns:a="http://schemas.openxmlformats.org/drawingml/2006/main">
            <a:r>
              <a:t>https://www.ietf.org/ietf-ftp/rfc/rfc9846.html#section-6.2</a:t>
            </a:r>
          </a:p>
          <a:p xmlns:a="http://schemas.openxmlformats.org/drawingml/2006/main">
            <a:r>
              <a:t>https://github.com/openjdk/jdk21u/blob/9de4f68c88a0a1510373f291d1a95b1f6b0db8c8/src/java.base/share/classes/sun/security/ssl/CertificateMessage.java#L1126</a:t>
            </a:r>
          </a:p>
          <a:p xmlns:a="http://schemas.openxmlformats.org/drawingml/2006/main">
            <a:r>
              <a:t>https://github.com/openjdk/jdk21u/blob/9de4f68c88a0a1510373f291d1a95b1f6b0db8c8/src/java.base/share/classes/sun/security/ssl/Alert.java#L75</a:t>
            </a:r>
          </a:p>
          <a:p xmlns:a="http://schemas.openxmlformats.org/drawingml/2006/main">
            <a:r>
              <a:t>対象133ファイルにおける当該Alertの全明示参照索引（定義行を除く）：</a:t>
            </a:r>
          </a:p>
          <a:p xmlns:a="http://schemas.openxmlformats.org/drawingml/2006/main">
            <a:r>
              <a:t>CertificateMessage.java:1126 [direct fatal call] https://github.com/openjdk/jdk21u/blob/9de4f68c88a0a1510373f291d1a95b1f6b0db8c8/src/java.base/share/classes/sun/security/ssl/CertificateMessage.java#L1126</a:t>
            </a:r>
          </a:p>
          <a:p xmlns:a="http://schemas.openxmlformats.org/drawingml/2006/main">
            <a:r>
              <a:t/>
            </a:r>
          </a:p>
          <a:p xmlns:a="http://schemas.openxmlformats.org/drawingml/2006/main">
            <a:r>
              <a:t/>
            </a:r>
          </a:p>
          <a:p xmlns:a="http://schemas.openxmlformats.org/drawingml/2006/main">
            <a:r>
              <a:t>根拠URL</a:t>
            </a:r>
          </a:p>
          <a:p xmlns:a="http://schemas.openxmlformats.org/drawingml/2006/main">
            <a:r>
              <a:t>https://www.ietf.org/ietf-ftp/rfc/rfc9846.html#section-6.2</a:t>
            </a:r>
          </a:p>
          <a:p xmlns:a="http://schemas.openxmlformats.org/drawingml/2006/main">
            <a:r>
              <a:t>https://github.com/openjdk/jdk21u/blob/9de4f68c88a0a1510373f291d1a95b1f6b0db8c8/src/java.base/share/classes/sun/security/ssl/ServerNameExtension.java#L305</a:t>
            </a:r>
          </a:p>
          <a:p xmlns:a="http://schemas.openxmlformats.org/drawingml/2006/main">
            <a:r>
              <a:t>https://github.com/openjdk/jdk21u/blob/9de4f68c88a0a1510373f291d1a95b1f6b0db8c8/src/java.base/share/classes/sun/security/ssl/Alert.java#L70</a:t>
            </a:r>
          </a:p>
          <a:p xmlns:a="http://schemas.openxmlformats.org/drawingml/2006/main">
            <a:r>
              <a:t>https://github.com/openjdk/jdk21u/blob/9de4f68c88a0a1510373f291d1a95b1f6b0db8c8/src/java.base/share/classes/sun/security/ssl/CertStatusExtension.java#L1168</a:t>
            </a:r>
          </a:p>
          <a:p xmlns:a="http://schemas.openxmlformats.org/drawingml/2006/main">
            <a:r>
              <a:t>https://github.com/openjdk/jdk21u/blob/9de4f68c88a0a1510373f291d1a95b1f6b0db8c8/src/java.base/share/classes/sun/security/ssl/CertificateMessage.java#L1312</a:t>
            </a:r>
          </a:p>
          <a:p xmlns:a="http://schemas.openxmlformats.org/drawingml/2006/main">
            <a:r>
              <a:t>https://github.com/openjdk/jdk21u/blob/9de4f68c88a0a1510373f291d1a95b1f6b0db8c8/src/java.base/share/classes/sun/security/ssl/Alert.java#L71</a:t>
            </a:r>
          </a:p>
          <a:p xmlns:a="http://schemas.openxmlformats.org/drawingml/2006/main">
            <a:r>
              <a:t>https://github.com/openjdk/jdk21u/blob/9de4f68c88a0a1510373f291d1a95b1f6b0db8c8/src/java.base/share/classes/sun/security/ssl/PreSharedKeyExtension.java#L416</a:t>
            </a:r>
          </a:p>
          <a:p xmlns:a="http://schemas.openxmlformats.org/drawingml/2006/main">
            <a:r>
              <a:t>https://github.com/openjdk/jdk21u/blob/9de4f68c88a0a1510373f291d1a95b1f6b0db8c8/src/java.base/share/classes/sun/security/ssl/Alert.java#L74</a:t>
            </a:r>
          </a:p>
          <a:p xmlns:a="http://schemas.openxmlformats.org/drawingml/2006/main">
            <a:r>
              <a:t>https://www.ietf.org/ietf-ftp/rfc/rfc9846.html#section-4.5.1.3</a:t>
            </a:r>
          </a:p>
          <a:p xmlns:a="http://schemas.openxmlformats.org/drawingml/2006/main">
            <a:r>
              <a:t>https://github.com/openjdk/jdk21u/blob/9de4f68c88a0a1510373f291d1a95b1f6b0db8c8/src/java.base/share/classes/sun/security/ssl/CertificateMessage.java#L1126</a:t>
            </a:r>
          </a:p>
          <a:p xmlns:a="http://schemas.openxmlformats.org/drawingml/2006/main">
            <a:r>
              <a:t>https://github.com/openjdk/jdk21u/blob/9de4f68c88a0a1510373f291d1a95b1f6b0db8c8/src/java.base/share/classes/sun/security/ssl/Alert.java#L75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【117 general_error】</a:t>
            </a:r>
          </a:p>
          <a:p xmlns:a="http://schemas.openxmlformats.org/drawingml/2006/main">
            <a:r>
              <a:t>RFC条件：具体的なエラーがない、または詳細を隠したいときの一般エラー。</a:t>
            </a:r>
          </a:p>
          <a:p xmlns:a="http://schemas.openxmlformats.org/drawingml/2006/main">
            <a:r>
              <a:t>定義：なし</a:t>
            </a:r>
          </a:p>
          <a:p xmlns:a="http://schemas.openxmlformats.org/drawingml/2006/main">
            <a:r>
              <a:t>静的評価：未定義・送信未実装</a:t>
            </a:r>
          </a:p>
          <a:p xmlns:a="http://schemas.openxmlformats.org/drawingml/2006/main">
            <a:r>
              <a:t>RFC違反の判定：未定義だけでは違反でない</a:t>
            </a:r>
          </a:p>
          <a:p xmlns:a="http://schemas.openxmlformats.org/drawingml/2006/main">
            <a:r>
              <a:t>判定理由：117を送信可能にする明示的な実装義務、または必ず117を選ばなければならない条件は今回の根拠では確認していない。未定義は機能差だが、それ単独をRFC違反と断定しない。</a:t>
            </a:r>
          </a:p>
          <a:p xmlns:a="http://schemas.openxmlformats.org/drawingml/2006/main">
            <a:r>
              <a:t>詳細：RFC 9846で追加された117は、固定した21.0.12にも21 GAにもない。従来のINTERNAL_ERROR(80)は117と同じ番号でも同じ発生条件でもない。117を受信した場合に未知アラートとしてfatal処理することと、117を生成・送信できることは別。一般エラーを必ず選ぶ義務が全失敗条件にある、とまではいえない。</a:t>
            </a:r>
          </a:p>
          <a:p xmlns:a="http://schemas.openxmlformats.org/drawingml/2006/main">
            <a:r>
              <a:t>送信経路：Alert列挙定義・送信側参照ともになし。</a:t>
            </a:r>
          </a:p>
          <a:p xmlns:a="http://schemas.openxmlformats.org/drawingml/2006/main">
            <a:r>
              <a:t>根拠：</a:t>
            </a:r>
          </a:p>
          <a:p xmlns:a="http://schemas.openxmlformats.org/drawingml/2006/main">
            <a:r>
              <a:t>https://www.ietf.org/ietf-ftp/rfc/rfc9846.html#section-6.2</a:t>
            </a:r>
          </a:p>
          <a:p xmlns:a="http://schemas.openxmlformats.org/drawingml/2006/main">
            <a:r>
              <a:t>https://www.ietf.org/ietf-ftp/rfc/rfc9846.html#section-9</a:t>
            </a:r>
          </a:p>
          <a:p xmlns:a="http://schemas.openxmlformats.org/drawingml/2006/main">
            <a:r>
              <a:t>https://github.com/openjdk/jdk21u/blob/9de4f68c88a0a1510373f291d1a95b1f6b0db8c8/src/java.base/share/classes/sun/security/ssl/Alert.java#L42</a:t>
            </a:r>
          </a:p>
          <a:p xmlns:a="http://schemas.openxmlformats.org/drawingml/2006/main">
            <a:r>
              <a:t>対象133ファイルにおける当該Alertの全明示参照索引（定義行を除く）：</a:t>
            </a:r>
          </a:p>
          <a:p xmlns:a="http://schemas.openxmlformats.org/drawingml/2006/main">
            <a:r>
              <a:t>参照0件。未定義または定義のみであり、未実装だけから違反と断定しない。</a:t>
            </a:r>
          </a:p>
          <a:p xmlns:a="http://schemas.openxmlformats.org/drawingml/2006/main">
            <a:r>
              <a:t/>
            </a:r>
          </a:p>
          <a:p xmlns:a="http://schemas.openxmlformats.org/drawingml/2006/main">
            <a:r>
              <a:t>【120 no_application_protocol】</a:t>
            </a:r>
          </a:p>
          <a:p xmlns:a="http://schemas.openxmlformats.org/drawingml/2006/main">
            <a:r>
              <a:t>RFC条件：ALPNでクライアント提示とサーバー対応プロトコルに共通集合がない。</a:t>
            </a:r>
          </a:p>
          <a:p xmlns:a="http://schemas.openxmlformats.org/drawingml/2006/main">
            <a:r>
              <a:t>定義：あり</a:t>
            </a:r>
          </a:p>
          <a:p xmlns:a="http://schemas.openxmlformats.org/drawingml/2006/main">
            <a:r>
              <a:t>静的評価：設定条件下で対応経路</a:t>
            </a:r>
          </a:p>
          <a:p xmlns:a="http://schemas.openxmlformats.org/drawingml/2006/main">
            <a:r>
              <a:t>RFC違反の判定：違反未確認（確認範囲）</a:t>
            </a:r>
          </a:p>
          <a:p xmlns:a="http://schemas.openxmlformats.org/drawingml/2006/main">
            <a:r>
              <a:t>判定理由：ALPNを交渉する設定下で共通プロトコルがなければ120を選び、確認した分岐は§6.2と対応する。ALPN未設定などを含む全条件適合の証明ではない。</a:t>
            </a:r>
          </a:p>
          <a:p xmlns:a="http://schemas.openxmlformats.org/drawingml/2006/main">
            <a:r>
              <a:t>詳細：設定されたALPNプロトコルの不一致に120を選ぶ。selectorが空文字を返す場合はALPNを選ばず継続するので常に120ではない。ALPN未設定・未提示の場合も必ず120を送るという意味ではない。該当設定下の経路はRFCの交渉失敗条件に対応する。</a:t>
            </a:r>
          </a:p>
          <a:p xmlns:a="http://schemas.openxmlformats.org/drawingml/2006/main">
            <a:r>
              <a:t>送信経路：共通ALPNなし {AlpnExtension.java:322}。SSLEngine／SSLSocketのselectorがnullまたは未提示値を返す {AlpnExtension.java:400}、{AlpnExtension.java:413}。</a:t>
            </a:r>
          </a:p>
          <a:p xmlns:a="http://schemas.openxmlformats.org/drawingml/2006/main">
            <a:r>
              <a:t>根拠：</a:t>
            </a:r>
          </a:p>
          <a:p xmlns:a="http://schemas.openxmlformats.org/drawingml/2006/main">
            <a:r>
              <a:t>https://www.ietf.org/ietf-ftp/rfc/rfc9846.html#section-6.2</a:t>
            </a:r>
          </a:p>
          <a:p xmlns:a="http://schemas.openxmlformats.org/drawingml/2006/main">
            <a:r>
              <a:t>https://github.com/openjdk/jdk21u/blob/9de4f68c88a0a1510373f291d1a95b1f6b0db8c8/src/java.base/share/classes/sun/security/ssl/AlpnExtension.java#L322</a:t>
            </a:r>
          </a:p>
          <a:p xmlns:a="http://schemas.openxmlformats.org/drawingml/2006/main">
            <a:r>
              <a:t>https://github.com/openjdk/jdk21u/blob/9de4f68c88a0a1510373f291d1a95b1f6b0db8c8/src/java.base/share/classes/sun/security/ssl/AlpnExtension.java#L400</a:t>
            </a:r>
          </a:p>
          <a:p xmlns:a="http://schemas.openxmlformats.org/drawingml/2006/main">
            <a:r>
              <a:t>https://github.com/openjdk/jdk21u/blob/9de4f68c88a0a1510373f291d1a95b1f6b0db8c8/src/java.base/share/classes/sun/security/ssl/AlpnExtension.java#L413</a:t>
            </a:r>
          </a:p>
          <a:p xmlns:a="http://schemas.openxmlformats.org/drawingml/2006/main">
            <a:r>
              <a:t>https://github.com/openjdk/jdk21u/blob/9de4f68c88a0a1510373f291d1a95b1f6b0db8c8/src/java.base/share/classes/sun/security/ssl/Alert.java#L76</a:t>
            </a:r>
          </a:p>
          <a:p xmlns:a="http://schemas.openxmlformats.org/drawingml/2006/main">
            <a:r>
              <a:t>対象133ファイルにおける当該Alertの全明示参照索引（定義行を除く）：</a:t>
            </a:r>
          </a:p>
          <a:p xmlns:a="http://schemas.openxmlformats.org/drawingml/2006/main">
            <a:r>
              <a:t>AlpnExtension.java:322 [direct fatal call] https://github.com/openjdk/jdk21u/blob/9de4f68c88a0a1510373f291d1a95b1f6b0db8c8/src/java.base/share/classes/sun/security/ssl/AlpnExtension.java#L322</a:t>
            </a:r>
          </a:p>
          <a:p xmlns:a="http://schemas.openxmlformats.org/drawingml/2006/main">
            <a:r>
              <a:t>AlpnExtension.java:400 [direct fatal call] https://github.com/openjdk/jdk21u/blob/9de4f68c88a0a1510373f291d1a95b1f6b0db8c8/src/java.base/share/classes/sun/security/ssl/AlpnExtension.java#L400</a:t>
            </a:r>
          </a:p>
          <a:p xmlns:a="http://schemas.openxmlformats.org/drawingml/2006/main">
            <a:r>
              <a:t>AlpnExtension.java:413 [direct fatal call] https://github.com/openjdk/jdk21u/blob/9de4f68c88a0a1510373f291d1a95b1f6b0db8c8/src/java.base/share/classes/sun/security/ssl/AlpnExtension.java#L413</a:t>
            </a:r>
          </a:p>
          <a:p xmlns:a="http://schemas.openxmlformats.org/drawingml/2006/main">
            <a:r>
              <a:t/>
            </a:r>
          </a:p>
          <a:p xmlns:a="http://schemas.openxmlformats.org/drawingml/2006/main">
            <a:r>
              <a:t/>
            </a:r>
          </a:p>
          <a:p xmlns:a="http://schemas.openxmlformats.org/drawingml/2006/main">
            <a:r>
              <a:t>根拠URL</a:t>
            </a:r>
          </a:p>
          <a:p xmlns:a="http://schemas.openxmlformats.org/drawingml/2006/main">
            <a:r>
              <a:t>https://www.ietf.org/ietf-ftp/rfc/rfc9846.html#section-6.2</a:t>
            </a:r>
          </a:p>
          <a:p xmlns:a="http://schemas.openxmlformats.org/drawingml/2006/main">
            <a:r>
              <a:t>https://www.ietf.org/ietf-ftp/rfc/rfc9846.html#section-9</a:t>
            </a:r>
          </a:p>
          <a:p xmlns:a="http://schemas.openxmlformats.org/drawingml/2006/main">
            <a:r>
              <a:t>https://github.com/openjdk/jdk21u/blob/9de4f68c88a0a1510373f291d1a95b1f6b0db8c8/src/java.base/share/classes/sun/security/ssl/Alert.java#L42</a:t>
            </a:r>
          </a:p>
          <a:p xmlns:a="http://schemas.openxmlformats.org/drawingml/2006/main">
            <a:r>
              <a:t>https://github.com/openjdk/jdk21u/blob/9de4f68c88a0a1510373f291d1a95b1f6b0db8c8/src/java.base/share/classes/sun/security/ssl/AlpnExtension.java#L322</a:t>
            </a:r>
          </a:p>
          <a:p xmlns:a="http://schemas.openxmlformats.org/drawingml/2006/main">
            <a:r>
              <a:t>https://github.com/openjdk/jdk21u/blob/9de4f68c88a0a1510373f291d1a95b1f6b0db8c8/src/java.base/share/classes/sun/security/ssl/AlpnExtension.java#L400</a:t>
            </a:r>
          </a:p>
          <a:p xmlns:a="http://schemas.openxmlformats.org/drawingml/2006/main">
            <a:r>
              <a:t>https://github.com/openjdk/jdk21u/blob/9de4f68c88a0a1510373f291d1a95b1f6b0db8c8/src/java.base/share/classes/sun/security/ssl/AlpnExtension.java#L413</a:t>
            </a:r>
          </a:p>
          <a:p xmlns:a="http://schemas.openxmlformats.org/drawingml/2006/main">
            <a:r>
              <a:t>https://github.com/openjdk/jdk21u/blob/9de4f68c88a0a1510373f291d1a95b1f6b0db8c8/src/java.base/share/classes/sun/security/ssl/Alert.java#L76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GA比較は主にAlert.javaとCertificateMessage.javaに限定した。更新版全体の差分調査ではない。空クライアントCertificateに対し中止する場合の116指定はRFC §4.5.1.3と§6.2の特定アラート指定の説明に基づく。</a:t>
            </a:r>
          </a:p>
          <a:p xmlns:a="http://schemas.openxmlformats.org/drawingml/2006/main">
            <a:r>
              <a:t/>
            </a:r>
          </a:p>
          <a:p xmlns:a="http://schemas.openxmlformats.org/drawingml/2006/main">
            <a:r>
              <a:t>根拠URL</a:t>
            </a:r>
          </a:p>
          <a:p xmlns:a="http://schemas.openxmlformats.org/drawingml/2006/main">
            <a:r>
              <a:t>https://www.ietf.org/ietf-ftp/rfc/rfc9846.html#section-4.5.1.3</a:t>
            </a:r>
          </a:p>
          <a:p xmlns:a="http://schemas.openxmlformats.org/drawingml/2006/main">
            <a:r>
              <a:t>https://www.ietf.org/ietf-ftp/rfc/rfc9846.html#section-6.2</a:t>
            </a:r>
          </a:p>
          <a:p xmlns:a="http://schemas.openxmlformats.org/drawingml/2006/main">
            <a:r>
              <a:t>https://github.com/openjdk/jdk21u/blob/890adb6410dab4606a4f26a942aed02fb2f55387/src/java.base/share/classes/sun/security/ssl/CertificateMessage.java#L1157</a:t>
            </a:r>
          </a:p>
          <a:p xmlns:a="http://schemas.openxmlformats.org/drawingml/2006/main">
            <a:r>
              <a:t>https://github.com/openjdk/jdk21u/blob/890adb6410dab4606a4f26a942aed02fb2f55387/src/java.base/share/classes/sun/security/ssl/CertificateMessage.java#L1181</a:t>
            </a:r>
          </a:p>
          <a:p xmlns:a="http://schemas.openxmlformats.org/drawingml/2006/main">
            <a:r>
              <a:t>https://github.com/openjdk/jdk21u/blob/9de4f68c88a0a1510373f291d1a95b1f6b0db8c8/src/java.base/share/classes/sun/security/ssl/CertificateMessage.java#L1126</a:t>
            </a:r>
          </a:p>
          <a:p xmlns:a="http://schemas.openxmlformats.org/drawingml/2006/main">
            <a:r>
              <a:t>https://github.com/openjdk/jdk21u/blob/9de4f68c88a0a1510373f291d1a95b1f6b0db8c8/src/java.base/share/classes/sun/security/ssl/CertificateMessage.java#L1150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tOfMemoryErrorなどを含む全障害での送信保証はない。TransportContext.fatalはcloseReasonが既にある場合に再送しない。recvFatalAlert、isOutboundClosed、isBroken、交渉状態などの条件に依存する。SSLSocketのwrite/flush成功やSSLEngineからの生成出力が相手に到達したかは未確認。受信側WARNINGの扱いは別の調査論点で、本資料の主判定は送信番号。</a:t>
            </a:r>
          </a:p>
          <a:p xmlns:a="http://schemas.openxmlformats.org/drawingml/2006/main">
            <a:r>
              <a:t/>
            </a:r>
          </a:p>
          <a:p xmlns:a="http://schemas.openxmlformats.org/drawingml/2006/main">
            <a:r>
              <a:t>根拠URL</a:t>
            </a:r>
          </a:p>
          <a:p xmlns:a="http://schemas.openxmlformats.org/drawingml/2006/main">
            <a:r>
              <a:t>https://github.com/openjdk/jdk21u/blob/9de4f68c88a0a1510373f291d1a95b1f6b0db8c8/src/java.base/share/classes/sun/security/ssl/TransportContext.java#L330</a:t>
            </a:r>
          </a:p>
          <a:p xmlns:a="http://schemas.openxmlformats.org/drawingml/2006/main">
            <a:r>
              <a:t>https://github.com/openjdk/jdk21u/blob/9de4f68c88a0a1510373f291d1a95b1f6b0db8c8/src/java.base/share/classes/sun/security/ssl/TransportContext.java#L412</a:t>
            </a:r>
          </a:p>
          <a:p xmlns:a="http://schemas.openxmlformats.org/drawingml/2006/main">
            <a:r>
              <a:t>https://github.com/openjdk/jdk21u/blob/9de4f68c88a0a1510373f291d1a95b1f6b0db8c8/src/java.base/share/classes/sun/security/ssl/SSLEngineOutputRecord.java#L74</a:t>
            </a:r>
          </a:p>
          <a:p xmlns:a="http://schemas.openxmlformats.org/drawingml/2006/main">
            <a:r>
              <a:t>https://github.com/openjdk/jdk21u/blob/9de4f68c88a0a1510373f291d1a95b1f6b0db8c8/src/java.base/share/classes/sun/security/ssl/SSLSocketOutputRecord.java#L54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全URLは公式資料。固定ソースコミット：9de4f68c88a0a1510373f291d1a95b1f6b0db8c8</a:t>
            </a:r>
          </a:p>
          <a:p xmlns:a="http://schemas.openxmlformats.org/drawingml/2006/main">
            <a:r>
              <a:t>ノート内の484件の明示参照にはTLS 1.2以前・DTLSの共通コードも含む。</a:t>
            </a:r>
          </a:p>
          <a:p xmlns:a="http://schemas.openxmlformats.org/drawingml/2006/main">
            <a:r>
              <a:t/>
            </a:r>
          </a:p>
          <a:p xmlns:a="http://schemas.openxmlformats.org/drawingml/2006/main">
            <a:r>
              <a:t>根拠URL</a:t>
            </a:r>
          </a:p>
          <a:p xmlns:a="http://schemas.openxmlformats.org/drawingml/2006/main">
            <a:r>
              <a:t>https://www.ietf.org/ietf-ftp/rfc/rfc9846.html#section-6.2</a:t>
            </a:r>
          </a:p>
          <a:p xmlns:a="http://schemas.openxmlformats.org/drawingml/2006/main">
            <a:r>
              <a:t>https://github.com/openjdk/jdk21u/tree/9de4f68c88a0a1510373f291d1a95b1f6b0db8c8</a:t>
            </a:r>
          </a:p>
          <a:p xmlns:a="http://schemas.openxmlformats.org/drawingml/2006/main">
            <a:r>
              <a:t>https://github.com/openjdk/jdk21u/blob/9de4f68c88a0a1510373f291d1a95b1f6b0db8c8/src/java.base/share/classes/sun/security/ssl/Alert.java#L42</a:t>
            </a:r>
          </a:p>
          <a:p xmlns:a="http://schemas.openxmlformats.org/drawingml/2006/main">
            <a:r>
              <a:t>https://github.com/openjdk/jdk21u/blob/9de4f68c88a0a1510373f291d1a95b1f6b0db8c8/src/java.base/share/classes/sun/security/ssl/TransportContext.java#L412</a:t>
            </a:r>
          </a:p>
          <a:p xmlns:a="http://schemas.openxmlformats.org/drawingml/2006/main">
            <a:r>
              <a:t>https://www.rfc-editor.org/rfc/rfc2119.html</a:t>
            </a:r>
          </a:p>
          <a:p xmlns:a="http://schemas.openxmlformats.org/drawingml/2006/main">
            <a:r>
              <a:t>https://www.rfc-editor.org/rfc/rfc7507.html#section-3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9ccd4c9e1c94fa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5879d23ac3d47b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983fe899ef2403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2e2d2e1cd8f4d7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bd7310cf5ae483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0baeba4eeed4e1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8896E6-8598-466A-AA04-DDA4A4B07D1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37016F8-B547-44F6-A304-D27CC311E99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A1A9F6B-4C32-4CF8-83E9-CF3E2348D05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4508226-03CA-40DB-83BC-8C7B8DBBDBA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8D35164-DA25-45C4-BDBE-D1036F7717D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9D57FC2-B43E-4814-9F74-9D8106A03E7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1ED97B1-9180-4728-B083-2BD370F8F21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95BE8C0-6DD3-447B-AF88-1F0E3C26CA6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04A1EF5-BCF8-4992-877E-BCBDB0DD3BB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DA8D7F1-97DD-4498-A8F8-5DD3015C39B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a643fa341d5420c" /><Relationship Type="http://schemas.openxmlformats.org/officeDocument/2006/relationships/slideLayout" Target="/ppt/slideLayouts/slideLayout1.xml" Id="R557d88bd594541da" /><Relationship Type="http://schemas.openxmlformats.org/officeDocument/2006/relationships/slideLayout" Target="/ppt/slideLayouts/slideLayout2.xml" Id="Rf035f4235b614fcb" /><Relationship Type="http://schemas.openxmlformats.org/officeDocument/2006/relationships/slideLayout" Target="/ppt/slideLayouts/slideLayout3.xml" Id="R773594c13f2b4da5" /><Relationship Type="http://schemas.openxmlformats.org/officeDocument/2006/relationships/slideLayout" Target="/ppt/slideLayouts/slideLayout4.xml" Id="R063bdc737a18423b" /><Relationship Type="http://schemas.openxmlformats.org/officeDocument/2006/relationships/slideLayout" Target="/ppt/slideLayouts/slideLayout5.xml" Id="Rabfd135fbd404e08" /><Relationship Type="http://schemas.openxmlformats.org/officeDocument/2006/relationships/slideLayout" Target="/ppt/slideLayouts/slideLayout6.xml" Id="R98084fc9e4cb44c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57d88bd594541da"/>
    <p:sldLayoutId xmlns:r="http://schemas.openxmlformats.org/officeDocument/2006/relationships" id="2147483650" r:id="Rf035f4235b614fcb"/>
    <p:sldLayoutId xmlns:r="http://schemas.openxmlformats.org/officeDocument/2006/relationships" id="2147483651" r:id="R773594c13f2b4da5"/>
    <p:sldLayoutId xmlns:r="http://schemas.openxmlformats.org/officeDocument/2006/relationships" id="2147483652" r:id="R063bdc737a18423b"/>
    <p:sldLayoutId xmlns:r="http://schemas.openxmlformats.org/officeDocument/2006/relationships" id="2147483653" r:id="Rabfd135fbd404e08"/>
    <p:sldLayoutId xmlns:r="http://schemas.openxmlformats.org/officeDocument/2006/relationships" id="2147483654" r:id="R98084fc9e4cb44c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960f5b78e4d40ed" /><Relationship Type="http://schemas.openxmlformats.org/officeDocument/2006/relationships/notesSlide" Target="/ppt/notesSlides/notesSlide1.xml" Id="Raa3f95e48dc94a8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013d02128e64c07" /><Relationship Type="http://schemas.openxmlformats.org/officeDocument/2006/relationships/notesSlide" Target="/ppt/notesSlides/notesSlide2.xml" Id="Ra804838d724f417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d2611dbc0c0409a" /><Relationship Type="http://schemas.openxmlformats.org/officeDocument/2006/relationships/notesSlide" Target="/ppt/notesSlides/notesSlide3.xml" Id="Rc9fb1b5924524bb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6a1cbbc4ffa40e6" /><Relationship Type="http://schemas.openxmlformats.org/officeDocument/2006/relationships/hyperlink" Target="https://www.ietf.org/ietf-ftp/rfc/rfc9846.html#section-4.5.2" TargetMode="External" Id="Re794c275c646408c" /><Relationship Type="http://schemas.openxmlformats.org/officeDocument/2006/relationships/hyperlink" Target="https://github.com/openjdk/jdk21u/blob/9de4f68c88a0a1510373f291d1a95b1f6b0db8c8/src/java.base/share/classes/sun/security/ssl/CertificateVerify.java#L1014" TargetMode="External" Id="Rb65dceb1df5f463c" /><Relationship Type="http://schemas.openxmlformats.org/officeDocument/2006/relationships/hyperlink" Target="https://www.ietf.org/ietf-ftp/rfc/rfc9846.html#section-6" TargetMode="External" Id="Rd6ddb7eb668a4472" /><Relationship Type="http://schemas.openxmlformats.org/officeDocument/2006/relationships/hyperlink" Target="https://github.com/openjdk/jdk21u/blob/9de4f68c88a0a1510373f291d1a95b1f6b0db8c8/src/java.base/share/classes/sun/security/ssl/KeyUpdate.java#L80" TargetMode="External" Id="R6ca8cefd6aad4a10" /><Relationship Type="http://schemas.openxmlformats.org/officeDocument/2006/relationships/hyperlink" Target="https://www.ietf.org/ietf-ftp/rfc/rfc9846.html#section-5.2" TargetMode="External" Id="Rf8c646c083dd4830" /><Relationship Type="http://schemas.openxmlformats.org/officeDocument/2006/relationships/hyperlink" Target="https://github.com/openjdk/jdk21u/blob/9de4f68c88a0a1510373f291d1a95b1f6b0db8c8/src/java.base/share/classes/sun/security/ssl/SSLTransport.java#L144" TargetMode="External" Id="R78f03393664c480d" /><Relationship Type="http://schemas.openxmlformats.org/officeDocument/2006/relationships/hyperlink" Target="https://www.ietf.org/ietf-ftp/rfc/rfc9846.html#section-4.3" TargetMode="External" Id="R5f39f5fb4f464316" /><Relationship Type="http://schemas.openxmlformats.org/officeDocument/2006/relationships/hyperlink" Target="https://github.com/openjdk/jdk21u/blob/9de4f68c88a0a1510373f291d1a95b1f6b0db8c8/src/java.base/share/classes/sun/security/ssl/AlpnExtension.java#L475" TargetMode="External" Id="R8608649032e6425b" /><Relationship Type="http://schemas.openxmlformats.org/officeDocument/2006/relationships/notesSlide" Target="/ppt/notesSlides/notesSlide4.xml" Id="R5a2390af27f0469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80f1c869e1e47d9" /><Relationship Type="http://schemas.openxmlformats.org/officeDocument/2006/relationships/hyperlink" Target="https://www.ietf.org/ietf-ftp/rfc/rfc9846.html#section-5.4" TargetMode="External" Id="R655cbbb912634063" /><Relationship Type="http://schemas.openxmlformats.org/officeDocument/2006/relationships/hyperlink" Target="https://github.com/openjdk/jdk21u/blob/9de4f68c88a0a1510373f291d1a95b1f6b0db8c8/src/java.base/share/classes/sun/security/ssl/SSLCipher.java#L1928" TargetMode="External" Id="R09546a19ce234a72" /><Relationship Type="http://schemas.openxmlformats.org/officeDocument/2006/relationships/hyperlink" Target="https://github.com/openjdk/jdk21u/blob/9de4f68c88a0a1510373f291d1a95b1f6b0db8c8/src/java.base/share/classes/sun/security/ssl/Alert.java#L43" TargetMode="External" Id="R03aa4deddcb74793" /><Relationship Type="http://schemas.openxmlformats.org/officeDocument/2006/relationships/hyperlink" Target="https://www.ietf.org/ietf-ftp/rfc/rfc9846.html#section-5.2" TargetMode="External" Id="R4e14cac0b1ef4ebb" /><Relationship Type="http://schemas.openxmlformats.org/officeDocument/2006/relationships/hyperlink" Target="https://github.com/openjdk/jdk21u/blob/9de4f68c88a0a1510373f291d1a95b1f6b0db8c8/src/java.base/share/classes/sun/security/ssl/SSLCipher.java#L1861" TargetMode="External" Id="R55f45215cbca4310" /><Relationship Type="http://schemas.openxmlformats.org/officeDocument/2006/relationships/hyperlink" Target="https://github.com/openjdk/jdk21u/blob/9de4f68c88a0a1510373f291d1a95b1f6b0db8c8/src/java.base/share/classes/sun/security/ssl/Alert.java#L44" TargetMode="External" Id="Re1cf457aacea45ae" /><Relationship Type="http://schemas.openxmlformats.org/officeDocument/2006/relationships/hyperlink" Target="https://www.ietf.org/ietf-ftp/rfc/rfc9846.html#section-5.1" TargetMode="External" Id="R3e04996d36684a14" /><Relationship Type="http://schemas.openxmlformats.org/officeDocument/2006/relationships/hyperlink" Target="https://github.com/openjdk/jdk21u/blob/9de4f68c88a0a1510373f291d1a95b1f6b0db8c8/src/java.base/share/classes/sun/security/ssl/SSLSocketInputRecord.java#L225" TargetMode="External" Id="Rb0ae59c668744d77" /><Relationship Type="http://schemas.openxmlformats.org/officeDocument/2006/relationships/hyperlink" Target="https://github.com/openjdk/jdk21u/blob/9de4f68c88a0a1510373f291d1a95b1f6b0db8c8/src/java.base/share/classes/sun/security/ssl/Alert.java#L46" TargetMode="External" Id="R81700a5e3f7d447f" /><Relationship Type="http://schemas.openxmlformats.org/officeDocument/2006/relationships/hyperlink" Target="https://www.ietf.org/ietf-ftp/rfc/rfc9846.html#section-4.5.2" TargetMode="External" Id="R8ef82edeee704c65" /><Relationship Type="http://schemas.openxmlformats.org/officeDocument/2006/relationships/hyperlink" Target="https://github.com/openjdk/jdk21u/blob/9de4f68c88a0a1510373f291d1a95b1f6b0db8c8/src/java.base/share/classes/sun/security/ssl/CertificateVerify.java#L1014" TargetMode="External" Id="Rddcd2cdf224b40df" /><Relationship Type="http://schemas.openxmlformats.org/officeDocument/2006/relationships/hyperlink" Target="https://github.com/openjdk/jdk21u/blob/9de4f68c88a0a1510373f291d1a95b1f6b0db8c8/src/java.base/share/classes/sun/security/ssl/Alert.java#L48" TargetMode="External" Id="R3ac0fa7c53734694" /><Relationship Type="http://schemas.openxmlformats.org/officeDocument/2006/relationships/notesSlide" Target="/ppt/notesSlides/notesSlide5.xml" Id="R5cf5dc13f191477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44985e0da4f45fd" /><Relationship Type="http://schemas.openxmlformats.org/officeDocument/2006/relationships/hyperlink" Target="https://www.ietf.org/ietf-ftp/rfc/rfc9846.html#section-4.5.1.3" TargetMode="External" Id="Rfc11b712d14b46c6" /><Relationship Type="http://schemas.openxmlformats.org/officeDocument/2006/relationships/hyperlink" Target="https://github.com/openjdk/jdk21u/blob/9de4f68c88a0a1510373f291d1a95b1f6b0db8c8/src/java.base/share/classes/sun/security/ssl/CertificateMessage.java#L1210" TargetMode="External" Id="R786f86e9fec34e56" /><Relationship Type="http://schemas.openxmlformats.org/officeDocument/2006/relationships/hyperlink" Target="https://github.com/openjdk/jdk21u/blob/9de4f68c88a0a1510373f291d1a95b1f6b0db8c8/src/java.base/share/classes/sun/security/ssl/Alert.java#L50" TargetMode="External" Id="R029c92fa4352410a" /><Relationship Type="http://schemas.openxmlformats.org/officeDocument/2006/relationships/hyperlink" Target="https://www.ietf.org/ietf-ftp/rfc/rfc9846.html#section-4.5.1.2" TargetMode="External" Id="R05a019158b884aa9" /><Relationship Type="http://schemas.openxmlformats.org/officeDocument/2006/relationships/hyperlink" Target="https://github.com/openjdk/jdk21u/blob/9de4f68c88a0a1510373f291d1a95b1f6b0db8c8/src/java.base/share/classes/sun/security/ssl/CertificateMessage.java#L1325" TargetMode="External" Id="R9aafd779ef1441ba" /><Relationship Type="http://schemas.openxmlformats.org/officeDocument/2006/relationships/hyperlink" Target="https://github.com/openjdk/jdk21u/blob/9de4f68c88a0a1510373f291d1a95b1f6b0db8c8/src/java.base/share/classes/sun/security/ssl/Alert.java#L51" TargetMode="External" Id="Rde12f93924fe4742" /><Relationship Type="http://schemas.openxmlformats.org/officeDocument/2006/relationships/hyperlink" Target="https://www.ietf.org/ietf-ftp/rfc/rfc9846.html#section-6.2" TargetMode="External" Id="R4fb2011eba384094" /><Relationship Type="http://schemas.openxmlformats.org/officeDocument/2006/relationships/hyperlink" Target="https://github.com/openjdk/jdk21u/blob/9de4f68c88a0a1510373f291d1a95b1f6b0db8c8/src/java.base/share/classes/sun/security/ssl/CertificateMessage.java#L1232" TargetMode="External" Id="R5760ad8fdc004dc2" /><Relationship Type="http://schemas.openxmlformats.org/officeDocument/2006/relationships/hyperlink" Target="https://github.com/openjdk/jdk21u/blob/9de4f68c88a0a1510373f291d1a95b1f6b0db8c8/src/java.base/share/classes/sun/security/ssl/Alert.java#L52" TargetMode="External" Id="R6037517717aa47c9" /><Relationship Type="http://schemas.openxmlformats.org/officeDocument/2006/relationships/hyperlink" Target="https://www.ietf.org/ietf-ftp/rfc/rfc9846.html#section-6.2" TargetMode="External" Id="R9de408a7cb054ce8" /><Relationship Type="http://schemas.openxmlformats.org/officeDocument/2006/relationships/hyperlink" Target="https://github.com/openjdk/jdk21u/blob/9de4f68c88a0a1510373f291d1a95b1f6b0db8c8/src/java.base/share/classes/sun/security/ssl/CertificateMessage.java#L1322" TargetMode="External" Id="Rba7ec0d040764630" /><Relationship Type="http://schemas.openxmlformats.org/officeDocument/2006/relationships/hyperlink" Target="https://github.com/openjdk/jdk21u/blob/9de4f68c88a0a1510373f291d1a95b1f6b0db8c8/src/java.base/share/classes/sun/security/ssl/Alert.java#L53" TargetMode="External" Id="R570a5cc13ffc47b9" /><Relationship Type="http://schemas.openxmlformats.org/officeDocument/2006/relationships/notesSlide" Target="/ppt/notesSlides/notesSlide6.xml" Id="Rcf7b413a737c4d8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6b6d37382e4485f" /><Relationship Type="http://schemas.openxmlformats.org/officeDocument/2006/relationships/hyperlink" Target="https://www.ietf.org/ietf-ftp/rfc/rfc9846.html#section-4.5.1.3" TargetMode="External" Id="R90daaa0933394a4b" /><Relationship Type="http://schemas.openxmlformats.org/officeDocument/2006/relationships/hyperlink" Target="https://github.com/openjdk/jdk21u/blob/9de4f68c88a0a1510373f291d1a95b1f6b0db8c8/src/java.base/share/classes/sun/security/ssl/CertificateMessage.java#L1232" TargetMode="External" Id="R06cc7400631e476f" /><Relationship Type="http://schemas.openxmlformats.org/officeDocument/2006/relationships/hyperlink" Target="https://github.com/openjdk/jdk21u/blob/9de4f68c88a0a1510373f291d1a95b1f6b0db8c8/src/java.base/share/classes/sun/security/ssl/Alert.java#L54" TargetMode="External" Id="Rff2edcb0c6a74a14" /><Relationship Type="http://schemas.openxmlformats.org/officeDocument/2006/relationships/hyperlink" Target="https://www.ietf.org/ietf-ftp/rfc/rfc9846.html#section-6" TargetMode="External" Id="Ra6b72b75d8ed4a39" /><Relationship Type="http://schemas.openxmlformats.org/officeDocument/2006/relationships/hyperlink" Target="https://github.com/openjdk/jdk21u/blob/9de4f68c88a0a1510373f291d1a95b1f6b0db8c8/src/java.base/share/classes/sun/security/ssl/KeyUpdate.java#L80" TargetMode="External" Id="R428ece24f67f4a93" /><Relationship Type="http://schemas.openxmlformats.org/officeDocument/2006/relationships/hyperlink" Target="https://github.com/openjdk/jdk21u/blob/9de4f68c88a0a1510373f291d1a95b1f6b0db8c8/src/java.base/share/classes/sun/security/ssl/Alert.java#L55" TargetMode="External" Id="R53b31150ba824817" /><Relationship Type="http://schemas.openxmlformats.org/officeDocument/2006/relationships/hyperlink" Target="https://www.ietf.org/ietf-ftp/rfc/rfc9846.html#section-6.2" TargetMode="External" Id="Rddf74df5ca3049a2" /><Relationship Type="http://schemas.openxmlformats.org/officeDocument/2006/relationships/hyperlink" Target="https://github.com/openjdk/jdk21u/blob/9de4f68c88a0a1510373f291d1a95b1f6b0db8c8/src/java.base/share/classes/sun/security/ssl/CertificateMessage.java#L1303" TargetMode="External" Id="Rdb367e4e81c44c62" /><Relationship Type="http://schemas.openxmlformats.org/officeDocument/2006/relationships/hyperlink" Target="https://github.com/openjdk/jdk21u/blob/9de4f68c88a0a1510373f291d1a95b1f6b0db8c8/src/java.base/share/classes/sun/security/ssl/Alert.java#L56" TargetMode="External" Id="R114e1f4d310e48ce" /><Relationship Type="http://schemas.openxmlformats.org/officeDocument/2006/relationships/hyperlink" Target="https://www.ietf.org/ietf-ftp/rfc/rfc9846.html#section-6.2" TargetMode="External" Id="R313d84fed15d4449" /><Relationship Type="http://schemas.openxmlformats.org/officeDocument/2006/relationships/hyperlink" Target="https://github.com/openjdk/jdk21u/blob/9de4f68c88a0a1510373f291d1a95b1f6b0db8c8/src/java.base/share/classes/sun/security/ssl/Alert.java#L57" TargetMode="External" Id="R8bd7bab726f14e95" /><Relationship Type="http://schemas.openxmlformats.org/officeDocument/2006/relationships/hyperlink" Target="https://github.com/openjdk/jdk21u/blob/9de4f68c88a0a1510373f291d1a95b1f6b0db8c8/src/java.base/share/classes/sun/security/ssl/Alert.java#L57" TargetMode="External" Id="Rc91db7623d3d4c7a" /><Relationship Type="http://schemas.openxmlformats.org/officeDocument/2006/relationships/notesSlide" Target="/ppt/notesSlides/notesSlide7.xml" Id="R735fb890139341d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144dbed24c643a3" /><Relationship Type="http://schemas.openxmlformats.org/officeDocument/2006/relationships/hyperlink" Target="https://www.ietf.org/ietf-ftp/rfc/rfc9846.html#section-6" TargetMode="External" Id="Ra426a36fa01c4061" /><Relationship Type="http://schemas.openxmlformats.org/officeDocument/2006/relationships/hyperlink" Target="https://github.com/openjdk/jdk21u/blob/9de4f68c88a0a1510373f291d1a95b1f6b0db8c8/src/java.base/share/classes/sun/security/ssl/KeyUpdate.java#L80" TargetMode="External" Id="Ra8ac42775190479d" /><Relationship Type="http://schemas.openxmlformats.org/officeDocument/2006/relationships/hyperlink" Target="https://github.com/openjdk/jdk21u/blob/9de4f68c88a0a1510373f291d1a95b1f6b0db8c8/src/java.base/share/classes/sun/security/ssl/Alert.java#L58" TargetMode="External" Id="R4291d27e0bac45cd" /><Relationship Type="http://schemas.openxmlformats.org/officeDocument/2006/relationships/hyperlink" Target="https://www.ietf.org/ietf-ftp/rfc/rfc9846.html#section-4.5.2" TargetMode="External" Id="Rad80999fa69849a1" /><Relationship Type="http://schemas.openxmlformats.org/officeDocument/2006/relationships/hyperlink" Target="https://github.com/openjdk/jdk21u/blob/9de4f68c88a0a1510373f291d1a95b1f6b0db8c8/src/java.base/share/classes/sun/security/ssl/CertificateVerify.java#L1014" TargetMode="External" Id="R2b5fcf8a6fe34480" /><Relationship Type="http://schemas.openxmlformats.org/officeDocument/2006/relationships/hyperlink" Target="https://github.com/openjdk/jdk21u/blob/9de4f68c88a0a1510373f291d1a95b1f6b0db8c8/src/java.base/share/classes/sun/security/ssl/Alert.java#L59" TargetMode="External" Id="R002e47de1eb940f8" /><Relationship Type="http://schemas.openxmlformats.org/officeDocument/2006/relationships/hyperlink" Target="https://www.ietf.org/ietf-ftp/rfc/rfc9846.html#section-4.3.1" TargetMode="External" Id="R1f4443d6780649ad" /><Relationship Type="http://schemas.openxmlformats.org/officeDocument/2006/relationships/hyperlink" Target="https://github.com/openjdk/jdk21u/blob/9de4f68c88a0a1510373f291d1a95b1f6b0db8c8/src/java.base/share/classes/sun/security/ssl/ServerHello.java#L955" TargetMode="External" Id="Rd16d071c55fb40cd" /><Relationship Type="http://schemas.openxmlformats.org/officeDocument/2006/relationships/hyperlink" Target="https://github.com/openjdk/jdk21u/blob/9de4f68c88a0a1510373f291d1a95b1f6b0db8c8/src/java.base/share/classes/sun/security/ssl/Alert.java#L61" TargetMode="External" Id="Rb74b4388e9424cea" /><Relationship Type="http://schemas.openxmlformats.org/officeDocument/2006/relationships/hyperlink" Target="https://www.ietf.org/ietf-ftp/rfc/rfc9846.html#section-6.2" TargetMode="External" Id="R9274496a2f414259" /><Relationship Type="http://schemas.openxmlformats.org/officeDocument/2006/relationships/hyperlink" Target="https://github.com/openjdk/jdk21u/blob/9de4f68c88a0a1510373f291d1a95b1f6b0db8c8/src/java.base/share/classes/sun/security/ssl/KeyShareExtension.java#L672" TargetMode="External" Id="Rd75898f6a9124e40" /><Relationship Type="http://schemas.openxmlformats.org/officeDocument/2006/relationships/hyperlink" Target="https://github.com/openjdk/jdk21u/blob/9de4f68c88a0a1510373f291d1a95b1f6b0db8c8/src/java.base/share/classes/sun/security/ssl/Alert.java#L62" TargetMode="External" Id="Rad2a0f7788b84174" /><Relationship Type="http://schemas.openxmlformats.org/officeDocument/2006/relationships/notesSlide" Target="/ppt/notesSlides/notesSlide8.xml" Id="R101fc76266c54e1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f7ec3089e084f6f" /><Relationship Type="http://schemas.openxmlformats.org/officeDocument/2006/relationships/hyperlink" Target="https://www.ietf.org/ietf-ftp/rfc/rfc9846.html#section-6.2" TargetMode="External" Id="R30bb13bd9e434b69" /><Relationship Type="http://schemas.openxmlformats.org/officeDocument/2006/relationships/hyperlink" Target="https://github.com/openjdk/jdk21u/blob/9de4f68c88a0a1510373f291d1a95b1f6b0db8c8/src/java.base/share/classes/sun/security/ssl/PreSharedKeyExtension.java#L797" TargetMode="External" Id="R10a341e95b4240bf" /><Relationship Type="http://schemas.openxmlformats.org/officeDocument/2006/relationships/hyperlink" Target="https://github.com/openjdk/jdk21u/blob/9de4f68c88a0a1510373f291d1a95b1f6b0db8c8/src/java.base/share/classes/sun/security/ssl/Alert.java#L63" TargetMode="External" Id="R16d9aeed8db8474a" /><Relationship Type="http://schemas.openxmlformats.org/officeDocument/2006/relationships/hyperlink" Target="https://www.ietf.org/ietf-ftp/rfc/rfc9846.html#section-6.2" TargetMode="External" Id="R6e4e6371acc34511" /><Relationship Type="http://schemas.openxmlformats.org/officeDocument/2006/relationships/hyperlink" Target="https://github.com/openjdk/jdk21u/blob/9de4f68c88a0a1510373f291d1a95b1f6b0db8c8/src/java.base/share/classes/sun/security/ssl/CipherSuite.java#L693" TargetMode="External" Id="R01130685812d4064" /><Relationship Type="http://schemas.openxmlformats.org/officeDocument/2006/relationships/hyperlink" Target="https://github.com/openjdk/jdk21u/blob/9de4f68c88a0a1510373f291d1a95b1f6b0db8c8/src/java.base/share/classes/sun/security/ssl/Alert.java#L64" TargetMode="External" Id="R3960529e3a494cd8" /><Relationship Type="http://schemas.openxmlformats.org/officeDocument/2006/relationships/hyperlink" Target="https://www.ietf.org/ietf-ftp/rfc/rfc9846.html#section-4.3.9" TargetMode="External" Id="R9a7e2ad5eb954cca" /><Relationship Type="http://schemas.openxmlformats.org/officeDocument/2006/relationships/hyperlink" Target="https://github.com/openjdk/jdk21u/blob/9de4f68c88a0a1510373f291d1a95b1f6b0db8c8/src/java.base/share/classes/sun/security/ssl/PreSharedKeyExtension.java#L352" TargetMode="External" Id="Rff932650a31a41e4" /><Relationship Type="http://schemas.openxmlformats.org/officeDocument/2006/relationships/hyperlink" Target="https://github.com/openjdk/jdk21u/blob/9de4f68c88a0a1510373f291d1a95b1f6b0db8c8/src/java.base/share/classes/sun/security/ssl/Alert.java#L67" TargetMode="External" Id="Rb7de108924674ddb" /><Relationship Type="http://schemas.openxmlformats.org/officeDocument/2006/relationships/hyperlink" Target="https://www.ietf.org/ietf-ftp/rfc/rfc9846.html#section-4.3" TargetMode="External" Id="R511ebf032e40405f" /><Relationship Type="http://schemas.openxmlformats.org/officeDocument/2006/relationships/hyperlink" Target="https://github.com/openjdk/jdk21u/blob/9de4f68c88a0a1510373f291d1a95b1f6b0db8c8/src/java.base/share/classes/sun/security/ssl/AlpnExtension.java#L475" TargetMode="External" Id="R484be748d26f434e" /><Relationship Type="http://schemas.openxmlformats.org/officeDocument/2006/relationships/hyperlink" Target="https://github.com/openjdk/jdk21u/blob/9de4f68c88a0a1510373f291d1a95b1f6b0db8c8/src/java.base/share/classes/sun/security/ssl/Alert.java#L68" TargetMode="External" Id="R215471b64584404d" /><Relationship Type="http://schemas.openxmlformats.org/officeDocument/2006/relationships/notesSlide" Target="/ppt/notesSlides/notesSlide9.xml" Id="Re2608cb5a48747c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64aea2659fb419e" /><Relationship Type="http://schemas.openxmlformats.org/officeDocument/2006/relationships/hyperlink" Target="https://www.ietf.org/ietf-ftp/rfc/rfc9846.html#section-6.2" TargetMode="External" Id="Rb3951f57f6a24c76" /><Relationship Type="http://schemas.openxmlformats.org/officeDocument/2006/relationships/hyperlink" Target="https://github.com/openjdk/jdk21u/blob/9de4f68c88a0a1510373f291d1a95b1f6b0db8c8/src/java.base/share/classes/sun/security/ssl/ServerNameExtension.java#L305" TargetMode="External" Id="R1d3782b9201343a3" /><Relationship Type="http://schemas.openxmlformats.org/officeDocument/2006/relationships/hyperlink" Target="https://github.com/openjdk/jdk21u/blob/9de4f68c88a0a1510373f291d1a95b1f6b0db8c8/src/java.base/share/classes/sun/security/ssl/Alert.java#L70" TargetMode="External" Id="R668e70ec71934bd4" /><Relationship Type="http://schemas.openxmlformats.org/officeDocument/2006/relationships/hyperlink" Target="https://www.ietf.org/ietf-ftp/rfc/rfc9846.html#section-6.2" TargetMode="External" Id="R7bfecb54f9064b64" /><Relationship Type="http://schemas.openxmlformats.org/officeDocument/2006/relationships/hyperlink" Target="https://github.com/openjdk/jdk21u/blob/9de4f68c88a0a1510373f291d1a95b1f6b0db8c8/src/java.base/share/classes/sun/security/ssl/CertStatusExtension.java#L1168" TargetMode="External" Id="Rfebc63f962c64de0" /><Relationship Type="http://schemas.openxmlformats.org/officeDocument/2006/relationships/hyperlink" Target="https://github.com/openjdk/jdk21u/blob/9de4f68c88a0a1510373f291d1a95b1f6b0db8c8/src/java.base/share/classes/sun/security/ssl/Alert.java#L71" TargetMode="External" Id="Raadf9bbcd2a54d97" /><Relationship Type="http://schemas.openxmlformats.org/officeDocument/2006/relationships/hyperlink" Target="https://www.ietf.org/ietf-ftp/rfc/rfc9846.html#section-6.2" TargetMode="External" Id="Reefe03277f564be6" /><Relationship Type="http://schemas.openxmlformats.org/officeDocument/2006/relationships/hyperlink" Target="https://github.com/openjdk/jdk21u/blob/9de4f68c88a0a1510373f291d1a95b1f6b0db8c8/src/java.base/share/classes/sun/security/ssl/PreSharedKeyExtension.java#L416" TargetMode="External" Id="R14edaf440e4f4d33" /><Relationship Type="http://schemas.openxmlformats.org/officeDocument/2006/relationships/hyperlink" Target="https://github.com/openjdk/jdk21u/blob/9de4f68c88a0a1510373f291d1a95b1f6b0db8c8/src/java.base/share/classes/sun/security/ssl/Alert.java#L74" TargetMode="External" Id="Ra26ec5b8b897488c" /><Relationship Type="http://schemas.openxmlformats.org/officeDocument/2006/relationships/hyperlink" Target="https://www.ietf.org/ietf-ftp/rfc/rfc9846.html#section-4.5.1.3" TargetMode="External" Id="R56a7c5b5304e4050" /><Relationship Type="http://schemas.openxmlformats.org/officeDocument/2006/relationships/hyperlink" Target="https://github.com/openjdk/jdk21u/blob/9de4f68c88a0a1510373f291d1a95b1f6b0db8c8/src/java.base/share/classes/sun/security/ssl/CertificateMessage.java#L1126" TargetMode="External" Id="Ra157ff2135f348d7" /><Relationship Type="http://schemas.openxmlformats.org/officeDocument/2006/relationships/hyperlink" Target="https://github.com/openjdk/jdk21u/blob/9de4f68c88a0a1510373f291d1a95b1f6b0db8c8/src/java.base/share/classes/sun/security/ssl/Alert.java#L75" TargetMode="External" Id="R21b0f9a29f554408" /><Relationship Type="http://schemas.openxmlformats.org/officeDocument/2006/relationships/notesSlide" Target="/ppt/notesSlides/notesSlide10.xml" Id="R6196c4b749004ea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8919f3591c14c2c" /><Relationship Type="http://schemas.openxmlformats.org/officeDocument/2006/relationships/hyperlink" Target="https://www.ietf.org/ietf-ftp/rfc/rfc9846.html#section-6.2" TargetMode="External" Id="R7334e7fe6db14c7a" /><Relationship Type="http://schemas.openxmlformats.org/officeDocument/2006/relationships/hyperlink" Target="https://github.com/openjdk/jdk21u/blob/9de4f68c88a0a1510373f291d1a95b1f6b0db8c8/src/java.base/share/classes/sun/security/ssl/Alert.java#L42" TargetMode="External" Id="Re9394e3a2b974ec4" /><Relationship Type="http://schemas.openxmlformats.org/officeDocument/2006/relationships/hyperlink" Target="https://github.com/openjdk/jdk21u/blob/9de4f68c88a0a1510373f291d1a95b1f6b0db8c8/src/java.base/share/classes/sun/security/ssl/Alert.java#L42" TargetMode="External" Id="Ref9e385a672f4c6c" /><Relationship Type="http://schemas.openxmlformats.org/officeDocument/2006/relationships/hyperlink" Target="https://www.ietf.org/ietf-ftp/rfc/rfc9846.html#section-6.2" TargetMode="External" Id="R97fe46f0463e400d" /><Relationship Type="http://schemas.openxmlformats.org/officeDocument/2006/relationships/hyperlink" Target="https://github.com/openjdk/jdk21u/blob/9de4f68c88a0a1510373f291d1a95b1f6b0db8c8/src/java.base/share/classes/sun/security/ssl/AlpnExtension.java#L322" TargetMode="External" Id="R191562cc209f494d" /><Relationship Type="http://schemas.openxmlformats.org/officeDocument/2006/relationships/hyperlink" Target="https://github.com/openjdk/jdk21u/blob/9de4f68c88a0a1510373f291d1a95b1f6b0db8c8/src/java.base/share/classes/sun/security/ssl/Alert.java#L76" TargetMode="External" Id="R63521ebfb92e420f" /><Relationship Type="http://schemas.openxmlformats.org/officeDocument/2006/relationships/notesSlide" Target="/ppt/notesSlides/notesSlide11.xml" Id="R5324dfc7b567499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eb1319529c14c38" /><Relationship Type="http://schemas.openxmlformats.org/officeDocument/2006/relationships/hyperlink" Target="https://github.com/openjdk/jdk21u/blob/890adb6410dab4606a4f26a942aed02fb2f55387/src/java.base/share/classes/sun/security/ssl/CertificateMessage.java#L1157" TargetMode="External" Id="R2e98a9c07e86406c" /><Relationship Type="http://schemas.openxmlformats.org/officeDocument/2006/relationships/hyperlink" Target="https://github.com/openjdk/jdk21u/blob/9de4f68c88a0a1510373f291d1a95b1f6b0db8c8/src/java.base/share/classes/sun/security/ssl/CertificateMessage.java#L1126" TargetMode="External" Id="Ree63f77d82ba4805" /><Relationship Type="http://schemas.openxmlformats.org/officeDocument/2006/relationships/hyperlink" Target="https://github.com/openjdk/jdk21u/blob/890adb6410dab4606a4f26a942aed02fb2f55387/src/java.base/share/classes/sun/security/ssl/CertificateMessage.java#L1181" TargetMode="External" Id="R533807add1b84b28" /><Relationship Type="http://schemas.openxmlformats.org/officeDocument/2006/relationships/hyperlink" Target="https://github.com/openjdk/jdk21u/blob/9de4f68c88a0a1510373f291d1a95b1f6b0db8c8/src/java.base/share/classes/sun/security/ssl/CertificateMessage.java#L1150" TargetMode="External" Id="R109cf0b58f3f49ea" /><Relationship Type="http://schemas.openxmlformats.org/officeDocument/2006/relationships/notesSlide" Target="/ppt/notesSlides/notesSlide12.xml" Id="R49b10a4091304ec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f210fb479624c11" /><Relationship Type="http://schemas.openxmlformats.org/officeDocument/2006/relationships/notesSlide" Target="/ppt/notesSlides/notesSlide13.xml" Id="R397d22fea0174ef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7021177dc3d45ff" /><Relationship Type="http://schemas.openxmlformats.org/officeDocument/2006/relationships/hyperlink" Target="https://www.ietf.org/ietf-ftp/rfc/rfc9846.html#section-6.2" TargetMode="External" Id="Rc94970394b8949d0" /><Relationship Type="http://schemas.openxmlformats.org/officeDocument/2006/relationships/hyperlink" Target="https://github.com/openjdk/jdk21u/tree/9de4f68c88a0a1510373f291d1a95b1f6b0db8c8" TargetMode="External" Id="R5c32ddad20524128" /><Relationship Type="http://schemas.openxmlformats.org/officeDocument/2006/relationships/hyperlink" Target="https://github.com/openjdk/jdk21u/blob/9de4f68c88a0a1510373f291d1a95b1f6b0db8c8/src/java.base/share/classes/sun/security/ssl/Alert.java#L42" TargetMode="External" Id="R664bf7c23d2f4b89" /><Relationship Type="http://schemas.openxmlformats.org/officeDocument/2006/relationships/hyperlink" Target="https://github.com/openjdk/jdk21u/blob/9de4f68c88a0a1510373f291d1a95b1f6b0db8c8/src/java.base/share/classes/sun/security/ssl/TransportContext.java#L412" TargetMode="External" Id="Rc1e8be75500c4b3c" /><Relationship Type="http://schemas.openxmlformats.org/officeDocument/2006/relationships/hyperlink" Target="https://www.rfc-editor.org/rfc/rfc2119.html" TargetMode="External" Id="R79c37171fd434bdd" /><Relationship Type="http://schemas.openxmlformats.org/officeDocument/2006/relationships/hyperlink" Target="https://www.rfc-editor.org/rfc/rfc7507.html#section-3" TargetMode="External" Id="R8bdc2e3bb2e94ce9" /><Relationship Type="http://schemas.openxmlformats.org/officeDocument/2006/relationships/notesSlide" Target="/ppt/notesSlides/notesSlide14.xml" Id="R92d8232359b14c3c" /></Relationships>
</file>

<file path=ppt/slides/slide1.xml><?xml version="1.0" encoding="utf-8"?>
<p:sld xmlns:p="http://schemas.openxmlformats.org/presentationml/2006/main">
  <p:cSld>
    <p:bg>
      <p:bgPr>
        <a:solidFill xmlns:a="http://schemas.openxmlformats.org/drawingml/2006/main">
          <a:srgbClr val="152D48"/>
        </a:solidFill>
      </p:bgPr>
    </p:bg>
    <p:spTree>
      <p:nvGrpSpPr>
        <p:cNvPr id="1" name=""/>
        <p:cNvGrpSpPr/>
        <p:nvPr/>
      </p:nvGrpSpPr>
      <p:grpSpPr>
        <a:xfrm xmlns:a="http://schemas.openxmlformats.org/drawingml/2006/main"/>
      </p:grpSpPr>
      <p:sp>
        <p:nvSpPr>
          <p:cNvPr id="4" name="text-1">
            <a:extLst xmlns:a="http://schemas.openxmlformats.org/drawingml/2006/main">
              <a:ext uri="{FF2B5EF4-FFF2-40B4-BE49-F238E27FC236}">
                <a16:creationId xmlns:a16="http://schemas.microsoft.com/office/drawing/2014/main" id="{20983624-6567-428C-925E-5BE66CDADAB4}"/>
              </a:ext>
            </a:extLst>
          </p:cNvPr>
          <p:cNvSpPr>
            <a:spLocks xmlns:a="http://schemas.openxmlformats.org/drawingml/2006/main" noGrp="1"/>
          </p:cNvSpPr>
          <p:nvPr/>
        </p:nvSpPr>
        <p:spPr>
          <a:xfrm xmlns:a="http://schemas.openxmlformats.org/drawingml/2006/main">
            <a:off x="685800" y="1428750"/>
            <a:ext cx="108204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FFFFFF"/>
                </a:solidFill>
                <a:latin typeface="Meiryo UI"/>
                <a:ea typeface="Meiryo UI"/>
                <a:cs typeface="Meiryo UI"/>
              </a:defRPr>
            </a:defPPr>
          </a:lstStyle>
          <a:p xmlns:a="http://schemas.openxmlformats.org/drawingml/2006/main">
            <a:pPr>
              <a:lnSpc>
                <a:spcPct val="110000"/>
              </a:lnSpc>
              <a:buNone/>
              <a:defRPr sz="4800" b="1">
                <a:solidFill>
                  <a:srgbClr val="FFFFFF"/>
                </a:solidFill>
                <a:latin typeface="Meiryo UI"/>
                <a:ea typeface="Meiryo UI"/>
                <a:cs typeface="Meiryo UI"/>
              </a:defRPr>
            </a:pPr>
            <a:r>
              <a:rPr sz="4800" b="1">
                <a:solidFill>
                  <a:srgbClr val="FFFFFF"/>
                </a:solidFill>
                <a:latin typeface="Meiryo UI"/>
                <a:ea typeface="Meiryo UI"/>
                <a:cs typeface="Meiryo UI"/>
              </a:rPr>
              <a:t>RFC 9846 §6.2</a:t>
            </a:r>
          </a:p>
          <a:p xmlns:a="http://schemas.openxmlformats.org/drawingml/2006/main">
            <a:pPr>
              <a:lnSpc>
                <a:spcPct val="110000"/>
              </a:lnSpc>
              <a:buNone/>
              <a:defRPr sz="4800" b="1">
                <a:solidFill>
                  <a:srgbClr val="FFFFFF"/>
                </a:solidFill>
                <a:latin typeface="Meiryo UI"/>
                <a:ea typeface="Meiryo UI"/>
                <a:cs typeface="Meiryo UI"/>
              </a:defRPr>
            </a:pPr>
            <a:r>
              <a:rPr sz="4800" b="1">
                <a:solidFill>
                  <a:srgbClr val="FFFFFF"/>
                </a:solidFill>
                <a:latin typeface="Meiryo UI"/>
                <a:ea typeface="Meiryo UI"/>
                <a:cs typeface="Meiryo UI"/>
              </a:rPr>
              <a:t>OpenJDK 21 SunJSSE</a:t>
            </a:r>
          </a:p>
        </p:txBody>
      </p:sp>
      <p:sp>
        <p:nvSpPr>
          <p:cNvPr id="2" name="text-2">
            <a:extLst xmlns:a="http://schemas.openxmlformats.org/drawingml/2006/main">
              <a:ext uri="{FF2B5EF4-FFF2-40B4-BE49-F238E27FC236}">
                <a16:creationId xmlns:a16="http://schemas.microsoft.com/office/drawing/2014/main" id="{E036AE2A-34D8-409F-A59C-AEA8513FF8BF}"/>
              </a:ext>
            </a:extLst>
          </p:cNvPr>
          <p:cNvSpPr>
            <a:spLocks xmlns:a="http://schemas.openxmlformats.org/drawingml/2006/main" noGrp="1"/>
          </p:cNvSpPr>
          <p:nvPr/>
        </p:nvSpPr>
        <p:spPr>
          <a:xfrm xmlns:a="http://schemas.openxmlformats.org/drawingml/2006/main">
            <a:off x="723900" y="3619500"/>
            <a:ext cx="10744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FFFFF"/>
                </a:solidFill>
                <a:latin typeface="Meiryo UI"/>
                <a:ea typeface="Meiryo UI"/>
                <a:cs typeface="Meiryo UI"/>
              </a:defRPr>
            </a:defPPr>
          </a:lstStyle>
          <a:p xmlns:a="http://schemas.openxmlformats.org/drawingml/2006/main">
            <a:pPr>
              <a:lnSpc>
                <a:spcPct val="110000"/>
              </a:lnSpc>
              <a:buNone/>
              <a:defRPr sz="2400" b="0">
                <a:solidFill>
                  <a:srgbClr val="FFFFFF"/>
                </a:solidFill>
                <a:latin typeface="Meiryo UI"/>
                <a:ea typeface="Meiryo UI"/>
                <a:cs typeface="Meiryo UI"/>
              </a:defRPr>
            </a:pPr>
            <a:r>
              <a:rPr sz="2400" b="0">
                <a:solidFill>
                  <a:srgbClr val="FFFFFF"/>
                </a:solidFill>
                <a:latin typeface="Meiryo UI"/>
                <a:ea typeface="Meiryo UI"/>
                <a:cs typeface="Meiryo UI"/>
              </a:rPr>
              <a:t>TLS Error Alerts 26種類の実装確認とRFC違反判定</a:t>
            </a:r>
          </a:p>
        </p:txBody>
      </p:sp>
      <p:sp>
        <p:nvSpPr>
          <p:cNvPr id="3" name="text-3">
            <a:extLst xmlns:a="http://schemas.openxmlformats.org/drawingml/2006/main">
              <a:ext uri="{FF2B5EF4-FFF2-40B4-BE49-F238E27FC236}">
                <a16:creationId xmlns:a16="http://schemas.microsoft.com/office/drawing/2014/main" id="{85CFD48E-AA61-4968-B789-73ACCFC49564}"/>
              </a:ext>
            </a:extLst>
          </p:cNvPr>
          <p:cNvSpPr>
            <a:spLocks xmlns:a="http://schemas.openxmlformats.org/drawingml/2006/main" noGrp="1"/>
          </p:cNvSpPr>
          <p:nvPr/>
        </p:nvSpPr>
        <p:spPr>
          <a:xfrm xmlns:a="http://schemas.openxmlformats.org/drawingml/2006/main">
            <a:off x="723900" y="485775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D2E1EF"/>
                </a:solidFill>
                <a:latin typeface="Meiryo UI"/>
                <a:ea typeface="Meiryo UI"/>
                <a:cs typeface="Meiryo UI"/>
              </a:defRPr>
            </a:defPPr>
          </a:lstStyle>
          <a:p xmlns:a="http://schemas.openxmlformats.org/drawingml/2006/main">
            <a:pPr>
              <a:lnSpc>
                <a:spcPct val="110000"/>
              </a:lnSpc>
              <a:buNone/>
              <a:defRPr sz="1800" b="0">
                <a:solidFill>
                  <a:srgbClr val="D2E1EF"/>
                </a:solidFill>
                <a:latin typeface="Meiryo UI"/>
                <a:ea typeface="Meiryo UI"/>
                <a:cs typeface="Meiryo UI"/>
              </a:defRPr>
            </a:pPr>
            <a:r>
              <a:rPr sz="1800" b="0">
                <a:solidFill>
                  <a:srgbClr val="D2E1EF"/>
                </a:solidFill>
                <a:latin typeface="Meiryo UI"/>
                <a:ea typeface="Meiryo UI"/>
                <a:cs typeface="Meiryo UI"/>
              </a:rPr>
              <a:t>対象：OpenJDK 21.0.12+8</a:t>
            </a:r>
          </a:p>
          <a:p xmlns:a="http://schemas.openxmlformats.org/drawingml/2006/main">
            <a:pPr>
              <a:lnSpc>
                <a:spcPct val="110000"/>
              </a:lnSpc>
              <a:buNone/>
              <a:defRPr sz="1800" b="0">
                <a:solidFill>
                  <a:srgbClr val="D2E1EF"/>
                </a:solidFill>
                <a:latin typeface="Meiryo UI"/>
                <a:ea typeface="Meiryo UI"/>
                <a:cs typeface="Meiryo UI"/>
              </a:defRPr>
            </a:pPr>
            <a:r>
              <a:rPr sz="1800" b="0">
                <a:solidFill>
                  <a:srgbClr val="D2E1EF"/>
                </a:solidFill>
                <a:latin typeface="Meiryo UI"/>
                <a:ea typeface="Meiryo UI"/>
                <a:cs typeface="Meiryo UI"/>
              </a:rPr>
              <a:t>ソース静的調査　実行テスト未実施</a:t>
            </a:r>
          </a:p>
          <a:p xmlns:a="http://schemas.openxmlformats.org/drawingml/2006/main">
            <a:pPr>
              <a:lnSpc>
                <a:spcPct val="110000"/>
              </a:lnSpc>
              <a:buNone/>
              <a:defRPr sz="1800" b="0">
                <a:solidFill>
                  <a:srgbClr val="D2E1EF"/>
                </a:solidFill>
                <a:latin typeface="Meiryo UI"/>
                <a:ea typeface="Meiryo UI"/>
                <a:cs typeface="Meiryo UI"/>
              </a:defRPr>
            </a:pPr>
            <a:r>
              <a:rPr sz="1800" b="0">
                <a:solidFill>
                  <a:srgbClr val="D2E1EF"/>
                </a:solidFill>
                <a:latin typeface="Meiryo UI"/>
                <a:ea typeface="Meiryo UI"/>
                <a:cs typeface="Meiryo UI"/>
              </a:rPr>
              <a:t>調査日：2026年10月14日</a:t>
            </a:r>
          </a:p>
        </p:txBody>
      </p:sp>
    </p:spTree>
    <p:extLst>
      <p:ext uri="{BB962C8B-B14F-4D97-AF65-F5344CB8AC3E}">
        <p14:creationId xmlns:p14="http://schemas.microsoft.com/office/powerpoint/2010/main" val="190555746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1">
            <a:extLst xmlns:a="http://schemas.openxmlformats.org/drawingml/2006/main">
              <a:ext uri="{FF2B5EF4-FFF2-40B4-BE49-F238E27FC236}">
                <a16:creationId xmlns:a16="http://schemas.microsoft.com/office/drawing/2014/main" id="{7D483DDE-09B4-48E8-AD02-FEE2446965A3}"/>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D48"/>
                </a:solidFill>
                <a:latin typeface="Meiryo UI"/>
                <a:ea typeface="Meiryo UI"/>
                <a:cs typeface="Meiryo UI"/>
              </a:defRPr>
            </a:defPPr>
          </a:lstStyle>
          <a:p xmlns:a="http://schemas.openxmlformats.org/drawingml/2006/main">
            <a:pPr>
              <a:lnSpc>
                <a:spcPct val="110000"/>
              </a:lnSpc>
              <a:buNone/>
              <a:defRPr sz="3300" b="1">
                <a:solidFill>
                  <a:srgbClr val="152D48"/>
                </a:solidFill>
                <a:latin typeface="Meiryo UI"/>
                <a:ea typeface="Meiryo UI"/>
                <a:cs typeface="Meiryo UI"/>
              </a:defRPr>
            </a:pPr>
            <a:r>
              <a:rPr sz="3300" b="1">
                <a:solidFill>
                  <a:srgbClr val="152D48"/>
                </a:solidFill>
                <a:latin typeface="Meiryo UI"/>
                <a:ea typeface="Meiryo UI"/>
                <a:cs typeface="Meiryo UI"/>
              </a:rPr>
              <a:t>調査結果と対象範囲</a:t>
            </a:r>
          </a:p>
        </p:txBody>
      </p:sp>
      <p:sp>
        <p:nvSpPr>
          <p:cNvPr id="2" name="text-2">
            <a:extLst xmlns:a="http://schemas.openxmlformats.org/drawingml/2006/main">
              <a:ext uri="{FF2B5EF4-FFF2-40B4-BE49-F238E27FC236}">
                <a16:creationId xmlns:a16="http://schemas.microsoft.com/office/drawing/2014/main" id="{E28260C7-A322-4C12-B270-554B564D2703}"/>
              </a:ext>
            </a:extLst>
          </p:cNvPr>
          <p:cNvSpPr>
            <a:spLocks xmlns:a="http://schemas.openxmlformats.org/drawingml/2006/main" noGrp="1"/>
          </p:cNvSpPr>
          <p:nvPr/>
        </p:nvSpPr>
        <p:spPr>
          <a:xfrm xmlns:a="http://schemas.openxmlformats.org/drawingml/2006/main">
            <a:off x="11049000" y="644842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06579"/>
                </a:solidFill>
                <a:latin typeface="Meiryo UI"/>
                <a:ea typeface="Meiryo UI"/>
                <a:cs typeface="Meiryo UI"/>
              </a:defRPr>
            </a:defPPr>
          </a:lstStyle>
          <a:p xmlns:a="http://schemas.openxmlformats.org/drawingml/2006/main">
            <a:pPr>
              <a:lnSpc>
                <a:spcPct val="110000"/>
              </a:lnSpc>
              <a:buNone/>
              <a:defRPr sz="1275" b="0">
                <a:solidFill>
                  <a:srgbClr val="506579"/>
                </a:solidFill>
                <a:latin typeface="Meiryo UI"/>
                <a:ea typeface="Meiryo UI"/>
                <a:cs typeface="Meiryo UI"/>
              </a:defRPr>
            </a:pPr>
            <a:r>
              <a:rPr sz="1275" b="0">
                <a:solidFill>
                  <a:srgbClr val="506579"/>
                </a:solidFill>
                <a:latin typeface="Meiryo UI"/>
                <a:ea typeface="Meiryo UI"/>
                <a:cs typeface="Meiryo UI"/>
              </a:rPr>
              <a:t>02</a:t>
            </a:r>
          </a:p>
        </p:txBody>
      </p:sp>
      <p:sp>
        <p:nvSpPr>
          <p:cNvPr id="3" name="text-3">
            <a:extLst xmlns:a="http://schemas.openxmlformats.org/drawingml/2006/main">
              <a:ext uri="{FF2B5EF4-FFF2-40B4-BE49-F238E27FC236}">
                <a16:creationId xmlns:a16="http://schemas.microsoft.com/office/drawing/2014/main" id="{9E352B0A-D7E2-4E1F-A955-DDF226C8021D}"/>
              </a:ext>
            </a:extLst>
          </p:cNvPr>
          <p:cNvSpPr>
            <a:spLocks xmlns:a="http://schemas.openxmlformats.org/drawingml/2006/main" noGrp="1"/>
          </p:cNvSpPr>
          <p:nvPr/>
        </p:nvSpPr>
        <p:spPr>
          <a:xfrm xmlns:a="http://schemas.openxmlformats.org/drawingml/2006/main">
            <a:off x="609600" y="15240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52D48"/>
                </a:solidFill>
                <a:latin typeface="Meiryo UI"/>
                <a:ea typeface="Meiryo UI"/>
                <a:cs typeface="Meiryo UI"/>
              </a:defRPr>
            </a:defPPr>
          </a:lstStyle>
          <a:p xmlns:a="http://schemas.openxmlformats.org/drawingml/2006/main">
            <a:pPr>
              <a:lnSpc>
                <a:spcPct val="110000"/>
              </a:lnSpc>
              <a:buNone/>
              <a:defRPr sz="3225" b="1">
                <a:solidFill>
                  <a:srgbClr val="152D48"/>
                </a:solidFill>
                <a:latin typeface="Meiryo UI"/>
                <a:ea typeface="Meiryo UI"/>
                <a:cs typeface="Meiryo UI"/>
              </a:defRPr>
            </a:pPr>
            <a:r>
              <a:rPr sz="3225" b="1">
                <a:solidFill>
                  <a:srgbClr val="152D48"/>
                </a:solidFill>
                <a:latin typeface="Meiryo UI"/>
                <a:ea typeface="Meiryo UI"/>
                <a:cs typeface="Meiryo UI"/>
              </a:rPr>
              <a:t>全条件でのRFC適合は確認できない</a:t>
            </a:r>
          </a:p>
        </p:txBody>
      </p:sp>
      <p:sp>
        <p:nvSpPr>
          <p:cNvPr id="4" name="text-4">
            <a:extLst xmlns:a="http://schemas.openxmlformats.org/drawingml/2006/main">
              <a:ext uri="{FF2B5EF4-FFF2-40B4-BE49-F238E27FC236}">
                <a16:creationId xmlns:a16="http://schemas.microsoft.com/office/drawing/2014/main" id="{57FD5784-A2B0-4AF0-B704-F6030A8BB354}"/>
              </a:ext>
            </a:extLst>
          </p:cNvPr>
          <p:cNvSpPr>
            <a:spLocks xmlns:a="http://schemas.openxmlformats.org/drawingml/2006/main" noGrp="1"/>
          </p:cNvSpPr>
          <p:nvPr/>
        </p:nvSpPr>
        <p:spPr>
          <a:xfrm xmlns:a="http://schemas.openxmlformats.org/drawingml/2006/main">
            <a:off x="609600" y="25908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B2E43"/>
                </a:solidFill>
                <a:latin typeface="Meiryo UI"/>
                <a:ea typeface="Meiryo UI"/>
                <a:cs typeface="Meiryo UI"/>
              </a:defRPr>
            </a:defPPr>
          </a:lstStyle>
          <a:p xmlns:a="http://schemas.openxmlformats.org/drawingml/2006/main">
            <a:pPr>
              <a:lnSpc>
                <a:spcPct val="110000"/>
              </a:lnSpc>
              <a:buNone/>
              <a:defRPr sz="2100" b="0">
                <a:solidFill>
                  <a:srgbClr val="1B2E43"/>
                </a:solidFill>
                <a:latin typeface="Meiryo UI"/>
                <a:ea typeface="Meiryo UI"/>
                <a:cs typeface="Meiryo UI"/>
              </a:defRPr>
            </a:pPr>
            <a:r>
              <a:rPr sz="2100" b="0">
                <a:solidFill>
                  <a:srgbClr val="1B2E43"/>
                </a:solidFill>
                <a:latin typeface="Meiryo UI"/>
                <a:ea typeface="Meiryo UI"/>
                <a:cs typeface="Meiryo UI"/>
              </a:rPr>
              <a:t>25種類の番号定義を確認。general_error(117)は未定義。</a:t>
            </a:r>
          </a:p>
        </p:txBody>
      </p:sp>
      <p:sp>
        <p:nvSpPr>
          <p:cNvPr id="5" name="text-5">
            <a:extLst xmlns:a="http://schemas.openxmlformats.org/drawingml/2006/main">
              <a:ext uri="{FF2B5EF4-FFF2-40B4-BE49-F238E27FC236}">
                <a16:creationId xmlns:a16="http://schemas.microsoft.com/office/drawing/2014/main" id="{D691E631-55DD-412A-9D0C-53F748F58E5C}"/>
              </a:ext>
            </a:extLst>
          </p:cNvPr>
          <p:cNvSpPr>
            <a:spLocks xmlns:a="http://schemas.openxmlformats.org/drawingml/2006/main" noGrp="1"/>
          </p:cNvSpPr>
          <p:nvPr/>
        </p:nvSpPr>
        <p:spPr>
          <a:xfrm xmlns:a="http://schemas.openxmlformats.org/drawingml/2006/main">
            <a:off x="609600" y="33718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B2E43"/>
                </a:solidFill>
                <a:latin typeface="Meiryo UI"/>
                <a:ea typeface="Meiryo UI"/>
                <a:cs typeface="Meiryo UI"/>
              </a:defRPr>
            </a:defPPr>
          </a:lstStyle>
          <a:p xmlns:a="http://schemas.openxmlformats.org/drawingml/2006/main">
            <a:pPr>
              <a:lnSpc>
                <a:spcPct val="110000"/>
              </a:lnSpc>
              <a:buNone/>
              <a:defRPr sz="2100" b="0">
                <a:solidFill>
                  <a:srgbClr val="1B2E43"/>
                </a:solidFill>
                <a:latin typeface="Meiryo UI"/>
                <a:ea typeface="Meiryo UI"/>
                <a:cs typeface="Meiryo UI"/>
              </a:defRPr>
            </a:pPr>
            <a:r>
              <a:rPr sz="2100" b="0">
                <a:solidFill>
                  <a:srgbClr val="1B2E43"/>
                </a:solidFill>
                <a:latin typeface="Meiryo UI"/>
                <a:ea typeface="Meiryo UI"/>
                <a:cs typeface="Meiryo UI"/>
              </a:rPr>
              <a:t>指定番号と異なる送信分岐が存在。未実装のみで違反とは判定しない。</a:t>
            </a:r>
          </a:p>
        </p:txBody>
      </p:sp>
      <p:sp>
        <p:nvSpPr>
          <p:cNvPr id="6" name="text-6">
            <a:extLst xmlns:a="http://schemas.openxmlformats.org/drawingml/2006/main">
              <a:ext uri="{FF2B5EF4-FFF2-40B4-BE49-F238E27FC236}">
                <a16:creationId xmlns:a16="http://schemas.microsoft.com/office/drawing/2014/main" id="{A9833E7C-4FCB-418C-BC10-9DCB614A9BB0}"/>
              </a:ext>
            </a:extLst>
          </p:cNvPr>
          <p:cNvSpPr>
            <a:spLocks xmlns:a="http://schemas.openxmlformats.org/drawingml/2006/main" noGrp="1"/>
          </p:cNvSpPr>
          <p:nvPr/>
        </p:nvSpPr>
        <p:spPr>
          <a:xfrm xmlns:a="http://schemas.openxmlformats.org/drawingml/2006/main">
            <a:off x="609600" y="41529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B2E43"/>
                </a:solidFill>
                <a:latin typeface="Meiryo UI"/>
                <a:ea typeface="Meiryo UI"/>
                <a:cs typeface="Meiryo UI"/>
              </a:defRPr>
            </a:defPPr>
          </a:lstStyle>
          <a:p xmlns:a="http://schemas.openxmlformats.org/drawingml/2006/main">
            <a:pPr>
              <a:lnSpc>
                <a:spcPct val="110000"/>
              </a:lnSpc>
              <a:buNone/>
              <a:defRPr sz="2100" b="0">
                <a:solidFill>
                  <a:srgbClr val="1B2E43"/>
                </a:solidFill>
                <a:latin typeface="Meiryo UI"/>
                <a:ea typeface="Meiryo UI"/>
                <a:cs typeface="Meiryo UI"/>
              </a:defRPr>
            </a:pPr>
            <a:r>
              <a:rPr sz="2100" b="0">
                <a:solidFill>
                  <a:srgbClr val="1B2E43"/>
                </a:solidFill>
                <a:latin typeface="Meiryo UI"/>
                <a:ea typeface="Meiryo UI"/>
                <a:cs typeface="Meiryo UI"/>
              </a:rPr>
              <a:t>公式ソースの21.0.12+8を固定し、関連部分を21 GAと比較。</a:t>
            </a:r>
          </a:p>
        </p:txBody>
      </p:sp>
      <p:sp>
        <p:nvSpPr>
          <p:cNvPr id="7" name="text-7">
            <a:extLst xmlns:a="http://schemas.openxmlformats.org/drawingml/2006/main">
              <a:ext uri="{FF2B5EF4-FFF2-40B4-BE49-F238E27FC236}">
                <a16:creationId xmlns:a16="http://schemas.microsoft.com/office/drawing/2014/main" id="{BFC0EBB3-75DE-49AA-9BF6-5B29C5B836C1}"/>
              </a:ext>
            </a:extLst>
          </p:cNvPr>
          <p:cNvSpPr>
            <a:spLocks xmlns:a="http://schemas.openxmlformats.org/drawingml/2006/main" noGrp="1"/>
          </p:cNvSpPr>
          <p:nvPr/>
        </p:nvSpPr>
        <p:spPr>
          <a:xfrm xmlns:a="http://schemas.openxmlformats.org/drawingml/2006/main">
            <a:off x="609600" y="49339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06579"/>
                </a:solidFill>
                <a:latin typeface="Meiryo UI"/>
                <a:ea typeface="Meiryo UI"/>
                <a:cs typeface="Meiryo UI"/>
              </a:defRPr>
            </a:defPPr>
          </a:lstStyle>
          <a:p xmlns:a="http://schemas.openxmlformats.org/drawingml/2006/main">
            <a:pPr>
              <a:lnSpc>
                <a:spcPct val="110000"/>
              </a:lnSpc>
              <a:buNone/>
              <a:defRPr sz="2100" b="0">
                <a:solidFill>
                  <a:srgbClr val="506579"/>
                </a:solidFill>
                <a:latin typeface="Meiryo UI"/>
                <a:ea typeface="Meiryo UI"/>
                <a:cs typeface="Meiryo UI"/>
              </a:defRPr>
            </a:pPr>
            <a:r>
              <a:rPr sz="2100" b="0">
                <a:solidFill>
                  <a:srgbClr val="506579"/>
                </a:solidFill>
                <a:latin typeface="Meiryo UI"/>
                <a:ea typeface="Meiryo UI"/>
                <a:cs typeface="Meiryo UI"/>
              </a:rPr>
              <a:t>133ファイル内の明示参照484件を索引化。実行テストは未実施。</a:t>
            </a:r>
          </a:p>
        </p:txBody>
      </p:sp>
    </p:spTree>
    <p:extLst>
      <p:ext uri="{BB962C8B-B14F-4D97-AF65-F5344CB8AC3E}">
        <p14:creationId xmlns:p14="http://schemas.microsoft.com/office/powerpoint/2010/main" val="68181287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1">
            <a:extLst xmlns:a="http://schemas.openxmlformats.org/drawingml/2006/main">
              <a:ext uri="{FF2B5EF4-FFF2-40B4-BE49-F238E27FC236}">
                <a16:creationId xmlns:a16="http://schemas.microsoft.com/office/drawing/2014/main" id="{EE83451C-DBB6-4C77-9C15-A2FE848A3809}"/>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D48"/>
                </a:solidFill>
                <a:latin typeface="Meiryo UI"/>
                <a:ea typeface="Meiryo UI"/>
                <a:cs typeface="Meiryo UI"/>
              </a:defRPr>
            </a:defPPr>
          </a:lstStyle>
          <a:p xmlns:a="http://schemas.openxmlformats.org/drawingml/2006/main">
            <a:pPr>
              <a:lnSpc>
                <a:spcPct val="110000"/>
              </a:lnSpc>
              <a:buNone/>
              <a:defRPr sz="3300" b="1">
                <a:solidFill>
                  <a:srgbClr val="152D48"/>
                </a:solidFill>
                <a:latin typeface="Meiryo UI"/>
                <a:ea typeface="Meiryo UI"/>
                <a:cs typeface="Meiryo UI"/>
              </a:defRPr>
            </a:pPr>
            <a:r>
              <a:rPr sz="3300" b="1">
                <a:solidFill>
                  <a:srgbClr val="152D48"/>
                </a:solidFill>
                <a:latin typeface="Meiryo UI"/>
                <a:ea typeface="Meiryo UI"/>
                <a:cs typeface="Meiryo UI"/>
              </a:rPr>
              <a:t>RFC違反の判定基準</a:t>
            </a:r>
          </a:p>
        </p:txBody>
      </p:sp>
      <p:sp>
        <p:nvSpPr>
          <p:cNvPr id="2" name="text-2">
            <a:extLst xmlns:a="http://schemas.openxmlformats.org/drawingml/2006/main">
              <a:ext uri="{FF2B5EF4-FFF2-40B4-BE49-F238E27FC236}">
                <a16:creationId xmlns:a16="http://schemas.microsoft.com/office/drawing/2014/main" id="{3D5947E4-6485-41AC-9E00-6187F9F26356}"/>
              </a:ext>
            </a:extLst>
          </p:cNvPr>
          <p:cNvSpPr>
            <a:spLocks xmlns:a="http://schemas.openxmlformats.org/drawingml/2006/main" noGrp="1"/>
          </p:cNvSpPr>
          <p:nvPr/>
        </p:nvSpPr>
        <p:spPr>
          <a:xfrm xmlns:a="http://schemas.openxmlformats.org/drawingml/2006/main">
            <a:off x="609600" y="10668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02" b="0">
                <a:solidFill>
                  <a:srgbClr val="506579"/>
                </a:solidFill>
                <a:latin typeface="Meiryo UI"/>
                <a:ea typeface="Meiryo UI"/>
                <a:cs typeface="Meiryo UI"/>
              </a:defRPr>
            </a:defPPr>
          </a:lstStyle>
          <a:p xmlns:a="http://schemas.openxmlformats.org/drawingml/2006/main">
            <a:pPr>
              <a:lnSpc>
                <a:spcPct val="110000"/>
              </a:lnSpc>
              <a:buNone/>
              <a:defRPr sz="1702" b="0">
                <a:solidFill>
                  <a:srgbClr val="506579"/>
                </a:solidFill>
                <a:latin typeface="Meiryo UI"/>
                <a:ea typeface="Meiryo UI"/>
                <a:cs typeface="Meiryo UI"/>
              </a:defRPr>
            </a:pPr>
            <a:r>
              <a:rPr sz="1702" b="0">
                <a:solidFill>
                  <a:srgbClr val="506579"/>
                </a:solidFill>
                <a:latin typeface="Meiryo UI"/>
                <a:ea typeface="Meiryo UI"/>
                <a:cs typeface="Meiryo UI"/>
              </a:rPr>
              <a:t>MUSTの不一致、SHOULDとの差、任意送信の省略を区別</a:t>
            </a:r>
          </a:p>
        </p:txBody>
      </p:sp>
      <p:sp>
        <p:nvSpPr>
          <p:cNvPr id="3" name="text-3">
            <a:extLst xmlns:a="http://schemas.openxmlformats.org/drawingml/2006/main">
              <a:ext uri="{FF2B5EF4-FFF2-40B4-BE49-F238E27FC236}">
                <a16:creationId xmlns:a16="http://schemas.microsoft.com/office/drawing/2014/main" id="{9F20BBCC-9313-4E3C-A134-D52104265587}"/>
              </a:ext>
            </a:extLst>
          </p:cNvPr>
          <p:cNvSpPr>
            <a:spLocks xmlns:a="http://schemas.openxmlformats.org/drawingml/2006/main" noGrp="1"/>
          </p:cNvSpPr>
          <p:nvPr/>
        </p:nvSpPr>
        <p:spPr>
          <a:xfrm xmlns:a="http://schemas.openxmlformats.org/drawingml/2006/main">
            <a:off x="11049000" y="644842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06579"/>
                </a:solidFill>
                <a:latin typeface="Meiryo UI"/>
                <a:ea typeface="Meiryo UI"/>
                <a:cs typeface="Meiryo UI"/>
              </a:defRPr>
            </a:defPPr>
          </a:lstStyle>
          <a:p xmlns:a="http://schemas.openxmlformats.org/drawingml/2006/main">
            <a:pPr>
              <a:lnSpc>
                <a:spcPct val="110000"/>
              </a:lnSpc>
              <a:buNone/>
              <a:defRPr sz="1275" b="0">
                <a:solidFill>
                  <a:srgbClr val="506579"/>
                </a:solidFill>
                <a:latin typeface="Meiryo UI"/>
                <a:ea typeface="Meiryo UI"/>
                <a:cs typeface="Meiryo UI"/>
              </a:defRPr>
            </a:pPr>
            <a:r>
              <a:rPr sz="1275" b="0">
                <a:solidFill>
                  <a:srgbClr val="506579"/>
                </a:solidFill>
                <a:latin typeface="Meiryo UI"/>
                <a:ea typeface="Meiryo UI"/>
                <a:cs typeface="Meiryo UI"/>
              </a:rPr>
              <a:t>03</a:t>
            </a:r>
          </a:p>
        </p:txBody>
      </p:sp>
      <p:graphicFrame>
        <p:nvGraphicFramePr>
          <p:cNvPr id="4" name="">
            <a:extLst xmlns:a="http://schemas.openxmlformats.org/drawingml/2006/main">
              <a:ext uri="{FF2B5EF4-FFF2-40B4-BE49-F238E27FC236}">
                <a16:creationId xmlns:a16="http://schemas.microsoft.com/office/drawing/2014/main" id="{2342C50F-425C-4997-A56E-C751F9E3F488}"/>
              </a:ext>
            </a:extLst>
          </p:cNvPr>
          <p:cNvGraphicFramePr/>
          <p:nvPr/>
        </p:nvGraphicFramePr>
        <p:xfrm>
          <a:off xmlns:a="http://schemas.openxmlformats.org/drawingml/2006/main" x="609600" y="1476375"/>
          <a:ext xmlns:a="http://schemas.openxmlformats.org/drawingml/2006/main" cx="10972800" cy="4838700"/>
        </p:xfrm>
        <a:graphic xmlns:a="http://schemas.openxmlformats.org/drawingml/2006/main">
          <a:graphicData uri="http://schemas.openxmlformats.org/drawingml/2006/table">
            <a:tbl>
              <a:tblPr firstRow="0" bandRow="0"/>
              <a:tblGrid>
                <a:gridCol w="2857500"/>
                <a:gridCol w="8115300"/>
              </a:tblGrid>
              <a:tr h="457200">
                <a:tc>
                  <a:txBody>
                    <a:bodyPr wrap="square" lIns="114300" tIns="85725" rIns="114300" bIns="85725">
                      <a:noAutofit/>
                    </a:bodyPr>
                    <a:lstStyle/>
                    <a:p>
                      <a:pPr>
                        <a:lnSpc>
                          <a:spcPct val="105000"/>
                        </a:lnSpc>
                        <a:buNone/>
                      </a:pPr>
                      <a:r>
                        <a:rPr sz="1725" b="1">
                          <a:solidFill>
                            <a:srgbClr val="FFFFFF"/>
                          </a:solidFill>
                          <a:latin typeface="Meiryo UI"/>
                          <a:ea typeface="Meiryo UI"/>
                          <a:cs typeface="Meiryo UI"/>
                        </a:rPr>
                        <a:t>判定</a:t>
                      </a:r>
                    </a:p>
                  </a:txBody>
                  <a:tcPr marL="91440" marR="91440" marT="45720" marB="45720" anchor="ctr">
                    <a:lnL w="6668">
                      <a:solidFill>
                        <a:srgbClr val="D7E0E8"/>
                      </a:solidFill>
                      <a:prstDash val="solid"/>
                    </a:lnL>
                    <a:lnR w="6668">
                      <a:solidFill>
                        <a:srgbClr val="D7E0E8"/>
                      </a:solidFill>
                      <a:prstDash val="solid"/>
                    </a:lnR>
                    <a:lnT w="6668">
                      <a:solidFill>
                        <a:srgbClr val="D7E0E8"/>
                      </a:solidFill>
                      <a:prstDash val="solid"/>
                    </a:lnT>
                    <a:lnB w="6668">
                      <a:solidFill>
                        <a:srgbClr val="D7E0E8"/>
                      </a:solidFill>
                      <a:prstDash val="solid"/>
                    </a:lnB>
                    <a:solidFill>
                      <a:srgbClr val="152D48"/>
                    </a:solidFill>
                  </a:tcPr>
                </a:tc>
                <a:tc>
                  <a:txBody>
                    <a:bodyPr wrap="square" lIns="114300" tIns="85725" rIns="114300" bIns="85725">
                      <a:noAutofit/>
                    </a:bodyPr>
                    <a:lstStyle/>
                    <a:p>
                      <a:pPr>
                        <a:lnSpc>
                          <a:spcPct val="105000"/>
                        </a:lnSpc>
                        <a:buNone/>
                      </a:pPr>
                      <a:r>
                        <a:rPr sz="1725" b="1">
                          <a:solidFill>
                            <a:srgbClr val="FFFFFF"/>
                          </a:solidFill>
                          <a:latin typeface="Meiryo UI"/>
                          <a:ea typeface="Meiryo UI"/>
                          <a:cs typeface="Meiryo UI"/>
                        </a:rPr>
                        <a:t>意味と留意点</a:t>
                      </a:r>
                    </a:p>
                  </a:txBody>
                  <a:tcPr marL="91440" marR="91440" marT="45720" marB="45720" anchor="ctr">
                    <a:lnR w="6668">
                      <a:solidFill>
                        <a:srgbClr val="D7E0E8"/>
                      </a:solidFill>
                      <a:prstDash val="solid"/>
                    </a:lnR>
                    <a:lnT w="6668">
                      <a:solidFill>
                        <a:srgbClr val="D7E0E8"/>
                      </a:solidFill>
                      <a:prstDash val="solid"/>
                    </a:lnT>
                    <a:lnB w="6668">
                      <a:solidFill>
                        <a:srgbClr val="D7E0E8"/>
                      </a:solidFill>
                      <a:prstDash val="solid"/>
                    </a:lnB>
                    <a:solidFill>
                      <a:srgbClr val="152D48"/>
                    </a:solidFill>
                  </a:tcPr>
                </a:tc>
              </a:tr>
              <a:tr h="876300">
                <a:tc>
                  <a:txBody>
                    <a:bodyPr wrap="square" lIns="114300" tIns="85725" rIns="114300" bIns="85725">
                      <a:noAutofit/>
                    </a:bodyPr>
                    <a:lstStyle/>
                    <a:p>
                      <a:pPr>
                        <a:lnSpc>
                          <a:spcPct val="105000"/>
                        </a:lnSpc>
                        <a:buNone/>
                      </a:pPr>
                      <a:r>
                        <a:rPr sz="1800" b="0">
                          <a:solidFill>
                            <a:srgbClr val="1B2E43"/>
                          </a:solidFill>
                          <a:latin typeface="Meiryo UI"/>
                          <a:ea typeface="Meiryo UI"/>
                          <a:cs typeface="Meiryo UI"/>
                        </a:rPr>
                        <a:t>違反あり</a:t>
                      </a:r>
                    </a:p>
                    <a:p>
                      <a:pPr>
                        <a:lnSpc>
                          <a:spcPct val="105000"/>
                        </a:lnSpc>
                        <a:buNone/>
                      </a:pPr>
                      <a:r>
                        <a:rPr sz="1800" b="0">
                          <a:solidFill>
                            <a:srgbClr val="1B2E43"/>
                          </a:solidFill>
                          <a:latin typeface="Meiryo UI"/>
                          <a:ea typeface="Meiryo UI"/>
                          <a:cs typeface="Meiryo UI"/>
                        </a:rPr>
                        <a:t>MUST不一致</a:t>
                      </a:r>
                    </a:p>
                  </a:txBody>
                  <a:tcPr marL="91440" marR="91440" marT="45720" marB="45720" anchor="ctr">
                    <a:lnL w="6668">
                      <a:solidFill>
                        <a:srgbClr val="D7E0E8"/>
                      </a:solidFill>
                      <a:prstDash val="solid"/>
                    </a:lnL>
                    <a:lnR w="6668">
                      <a:solidFill>
                        <a:srgbClr val="D7E0E8"/>
                      </a:solidFill>
                      <a:prstDash val="solid"/>
                    </a:lnR>
                    <a:lnB w="6668">
                      <a:solidFill>
                        <a:srgbClr val="D7E0E8"/>
                      </a:solidFill>
                      <a:prstDash val="solid"/>
                    </a:lnB>
                    <a:solidFill>
                      <a:srgbClr val="FFFFFF"/>
                    </a:solidFill>
                  </a:tcPr>
                </a:tc>
                <a:tc>
                  <a:txBody>
                    <a:bodyPr wrap="square" lIns="114300" tIns="85725" rIns="114300" bIns="85725">
                      <a:noAutofit/>
                    </a:bodyPr>
                    <a:lstStyle/>
                    <a:p>
                      <a:pPr>
                        <a:lnSpc>
                          <a:spcPct val="105000"/>
                        </a:lnSpc>
                        <a:buNone/>
                      </a:pPr>
                      <a:r>
                        <a:rPr sz="1800" b="0">
                          <a:solidFill>
                            <a:srgbClr val="1B2E43"/>
                          </a:solidFill>
                          <a:latin typeface="Meiryo UI"/>
                          <a:ea typeface="Meiryo UI"/>
                          <a:cs typeface="Meiryo UI"/>
                        </a:rPr>
                        <a:t>特定条件で、実装の番号選択が明示的なMUSTと異なる。</a:t>
                      </a:r>
                    </a:p>
                    <a:p>
                      <a:pPr>
                        <a:lnSpc>
                          <a:spcPct val="105000"/>
                        </a:lnSpc>
                        <a:buNone/>
                      </a:pPr>
                      <a:r>
                        <a:rPr sz="1800" b="0">
                          <a:solidFill>
                            <a:srgbClr val="1B2E43"/>
                          </a:solidFill>
                          <a:latin typeface="Meiryo UI"/>
                          <a:ea typeface="Meiryo UI"/>
                          <a:cs typeface="Meiryo UI"/>
                        </a:rPr>
                        <a:t>アラートを送信可能な状態を前提とする静的判定。</a:t>
                      </a:r>
                    </a:p>
                  </a:txBody>
                  <a:tcPr marL="91440" marR="91440" marT="45720" marB="45720" anchor="ctr">
                    <a:lnR w="6668">
                      <a:solidFill>
                        <a:srgbClr val="D7E0E8"/>
                      </a:solidFill>
                      <a:prstDash val="solid"/>
                    </a:lnR>
                    <a:lnB w="6668">
                      <a:solidFill>
                        <a:srgbClr val="D7E0E8"/>
                      </a:solidFill>
                      <a:prstDash val="solid"/>
                    </a:lnB>
                    <a:solidFill>
                      <a:srgbClr val="FFFFFF"/>
                    </a:solidFill>
                  </a:tcPr>
                </a:tc>
              </a:tr>
              <a:tr h="876300">
                <a:tc>
                  <a:txBody>
                    <a:bodyPr wrap="square" lIns="114300" tIns="85725" rIns="114300" bIns="85725">
                      <a:noAutofit/>
                    </a:bodyPr>
                    <a:lstStyle/>
                    <a:p>
                      <a:pPr>
                        <a:lnSpc>
                          <a:spcPct val="105000"/>
                        </a:lnSpc>
                        <a:buNone/>
                      </a:pPr>
                      <a:r>
                        <a:rPr sz="1800" b="0">
                          <a:solidFill>
                            <a:srgbClr val="1B2E43"/>
                          </a:solidFill>
                          <a:latin typeface="Meiryo UI"/>
                          <a:ea typeface="Meiryo UI"/>
                          <a:cs typeface="Meiryo UI"/>
                        </a:rPr>
                        <a:t>条件付き違反</a:t>
                      </a:r>
                    </a:p>
                  </a:txBody>
                  <a:tcPr marL="91440" marR="91440" marT="45720" marB="45720" anchor="ctr">
                    <a:lnL w="6668">
                      <a:solidFill>
                        <a:srgbClr val="D7E0E8"/>
                      </a:solidFill>
                      <a:prstDash val="solid"/>
                    </a:lnL>
                    <a:lnR w="6668">
                      <a:solidFill>
                        <a:srgbClr val="D7E0E8"/>
                      </a:solidFill>
                      <a:prstDash val="solid"/>
                    </a:lnR>
                    <a:lnB w="6668">
                      <a:solidFill>
                        <a:srgbClr val="D7E0E8"/>
                      </a:solidFill>
                      <a:prstDash val="solid"/>
                    </a:lnB>
                    <a:solidFill>
                      <a:srgbClr val="F4F7FA"/>
                    </a:solidFill>
                  </a:tcPr>
                </a:tc>
                <a:tc>
                  <a:txBody>
                    <a:bodyPr wrap="square" lIns="114300" tIns="85725" rIns="114300" bIns="85725">
                      <a:noAutofit/>
                    </a:bodyPr>
                    <a:lstStyle/>
                    <a:p>
                      <a:pPr>
                        <a:lnSpc>
                          <a:spcPct val="105000"/>
                        </a:lnSpc>
                        <a:buNone/>
                      </a:pPr>
                      <a:r>
                        <a:rPr sz="1800" b="0">
                          <a:solidFill>
                            <a:srgbClr val="1B2E43"/>
                          </a:solidFill>
                          <a:latin typeface="Meiryo UI"/>
                          <a:ea typeface="Meiryo UI"/>
                          <a:cs typeface="Meiryo UI"/>
                        </a:rPr>
                        <a:t>MD5拒否やRFC 7507の適用など、記載した追加条件が成立</a:t>
                      </a:r>
                    </a:p>
                    <a:p>
                      <a:pPr>
                        <a:lnSpc>
                          <a:spcPct val="105000"/>
                        </a:lnSpc>
                        <a:buNone/>
                      </a:pPr>
                      <a:r>
                        <a:rPr sz="1800" b="0">
                          <a:solidFill>
                            <a:srgbClr val="1B2E43"/>
                          </a:solidFill>
                          <a:latin typeface="Meiryo UI"/>
                          <a:ea typeface="Meiryo UI"/>
                          <a:cs typeface="Meiryo UI"/>
                        </a:rPr>
                        <a:t>する場合のMUST不一致。追加条件の実動作は未テスト。</a:t>
                      </a:r>
                    </a:p>
                  </a:txBody>
                  <a:tcPr marL="91440" marR="91440" marT="45720" marB="45720" anchor="ctr">
                    <a:lnR w="6668">
                      <a:solidFill>
                        <a:srgbClr val="D7E0E8"/>
                      </a:solidFill>
                      <a:prstDash val="solid"/>
                    </a:lnR>
                    <a:lnB w="6668">
                      <a:solidFill>
                        <a:srgbClr val="D7E0E8"/>
                      </a:solidFill>
                      <a:prstDash val="solid"/>
                    </a:lnB>
                    <a:solidFill>
                      <a:srgbClr val="F4F7FA"/>
                    </a:solidFill>
                  </a:tcPr>
                </a:tc>
              </a:tr>
              <a:tr h="876300">
                <a:tc>
                  <a:txBody>
                    <a:bodyPr wrap="square" lIns="114300" tIns="85725" rIns="114300" bIns="85725">
                      <a:noAutofit/>
                    </a:bodyPr>
                    <a:lstStyle/>
                    <a:p>
                      <a:pPr>
                        <a:lnSpc>
                          <a:spcPct val="105000"/>
                        </a:lnSpc>
                        <a:buNone/>
                      </a:pPr>
                      <a:r>
                        <a:rPr sz="1800" b="0">
                          <a:solidFill>
                            <a:srgbClr val="1B2E43"/>
                          </a:solidFill>
                          <a:latin typeface="Meiryo UI"/>
                          <a:ea typeface="Meiryo UI"/>
                          <a:cs typeface="Meiryo UI"/>
                        </a:rPr>
                        <a:t>断定保留</a:t>
                      </a:r>
                    </a:p>
                    <a:p>
                      <a:pPr>
                        <a:lnSpc>
                          <a:spcPct val="105000"/>
                        </a:lnSpc>
                        <a:buNone/>
                      </a:pPr>
                      <a:r>
                        <a:rPr sz="1800" b="0">
                          <a:solidFill>
                            <a:srgbClr val="1B2E43"/>
                          </a:solidFill>
                          <a:latin typeface="Meiryo UI"/>
                          <a:ea typeface="Meiryo UI"/>
                          <a:cs typeface="Meiryo UI"/>
                        </a:rPr>
                        <a:t>SHOULDとの差</a:t>
                      </a:r>
                    </a:p>
                  </a:txBody>
                  <a:tcPr marL="91440" marR="91440" marT="45720" marB="45720" anchor="ctr">
                    <a:lnL w="6668">
                      <a:solidFill>
                        <a:srgbClr val="D7E0E8"/>
                      </a:solidFill>
                      <a:prstDash val="solid"/>
                    </a:lnL>
                    <a:lnR w="6668">
                      <a:solidFill>
                        <a:srgbClr val="D7E0E8"/>
                      </a:solidFill>
                      <a:prstDash val="solid"/>
                    </a:lnR>
                    <a:lnB w="6668">
                      <a:solidFill>
                        <a:srgbClr val="D7E0E8"/>
                      </a:solidFill>
                      <a:prstDash val="solid"/>
                    </a:lnB>
                    <a:solidFill>
                      <a:srgbClr val="FFFFFF"/>
                    </a:solidFill>
                  </a:tcPr>
                </a:tc>
                <a:tc>
                  <a:txBody>
                    <a:bodyPr wrap="square" lIns="114300" tIns="85725" rIns="114300" bIns="85725">
                      <a:noAutofit/>
                    </a:bodyPr>
                    <a:lstStyle/>
                    <a:p>
                      <a:pPr>
                        <a:lnSpc>
                          <a:spcPct val="105000"/>
                        </a:lnSpc>
                        <a:buNone/>
                      </a:pPr>
                      <a:r>
                        <a:rPr sz="1800" b="0">
                          <a:solidFill>
                            <a:srgbClr val="1B2E43"/>
                          </a:solidFill>
                          <a:latin typeface="Meiryo UI"/>
                          <a:ea typeface="Meiryo UI"/>
                          <a:cs typeface="Meiryo UI"/>
                        </a:rPr>
                        <a:t>推奨条件・番号・役割との差はある。</a:t>
                      </a:r>
                    </a:p>
                    <a:p>
                      <a:pPr>
                        <a:lnSpc>
                          <a:spcPct val="105000"/>
                        </a:lnSpc>
                        <a:buNone/>
                      </a:pPr>
                      <a:r>
                        <a:rPr sz="1800" b="0">
                          <a:solidFill>
                            <a:srgbClr val="1B2E43"/>
                          </a:solidFill>
                          <a:latin typeface="Meiryo UI"/>
                          <a:ea typeface="Meiryo UI"/>
                          <a:cs typeface="Meiryo UI"/>
                        </a:rPr>
                        <a:t>合理的な例外理由の有無を未評価のため、違反の断定を保留。</a:t>
                      </a:r>
                    </a:p>
                  </a:txBody>
                  <a:tcPr marL="91440" marR="91440" marT="45720" marB="45720" anchor="ctr">
                    <a:lnR w="6668">
                      <a:solidFill>
                        <a:srgbClr val="D7E0E8"/>
                      </a:solidFill>
                      <a:prstDash val="solid"/>
                    </a:lnR>
                    <a:lnB w="6668">
                      <a:solidFill>
                        <a:srgbClr val="D7E0E8"/>
                      </a:solidFill>
                      <a:prstDash val="solid"/>
                    </a:lnB>
                    <a:solidFill>
                      <a:srgbClr val="FFFFFF"/>
                    </a:solidFill>
                  </a:tcPr>
                </a:tc>
              </a:tr>
              <a:tr h="876300">
                <a:tc>
                  <a:txBody>
                    <a:bodyPr wrap="square" lIns="114300" tIns="85725" rIns="114300" bIns="85725">
                      <a:noAutofit/>
                    </a:bodyPr>
                    <a:lstStyle/>
                    <a:p>
                      <a:pPr>
                        <a:lnSpc>
                          <a:spcPct val="105000"/>
                        </a:lnSpc>
                        <a:buNone/>
                      </a:pPr>
                      <a:r>
                        <a:rPr sz="1800" b="0">
                          <a:solidFill>
                            <a:srgbClr val="1B2E43"/>
                          </a:solidFill>
                          <a:latin typeface="Meiryo UI"/>
                          <a:ea typeface="Meiryo UI"/>
                          <a:cs typeface="Meiryo UI"/>
                        </a:rPr>
                        <a:t>違反未確認</a:t>
                      </a:r>
                    </a:p>
                  </a:txBody>
                  <a:tcPr marL="91440" marR="91440" marT="45720" marB="45720" anchor="ctr">
                    <a:lnL w="6668">
                      <a:solidFill>
                        <a:srgbClr val="D7E0E8"/>
                      </a:solidFill>
                      <a:prstDash val="solid"/>
                    </a:lnL>
                    <a:lnR w="6668">
                      <a:solidFill>
                        <a:srgbClr val="D7E0E8"/>
                      </a:solidFill>
                      <a:prstDash val="solid"/>
                    </a:lnR>
                    <a:lnB w="6668">
                      <a:solidFill>
                        <a:srgbClr val="D7E0E8"/>
                      </a:solidFill>
                      <a:prstDash val="solid"/>
                    </a:lnB>
                    <a:solidFill>
                      <a:srgbClr val="F4F7FA"/>
                    </a:solidFill>
                  </a:tcPr>
                </a:tc>
                <a:tc>
                  <a:txBody>
                    <a:bodyPr wrap="square" lIns="114300" tIns="85725" rIns="114300" bIns="85725">
                      <a:noAutofit/>
                    </a:bodyPr>
                    <a:lstStyle/>
                    <a:p>
                      <a:pPr>
                        <a:lnSpc>
                          <a:spcPct val="105000"/>
                        </a:lnSpc>
                        <a:buNone/>
                      </a:pPr>
                      <a:r>
                        <a:rPr sz="1800" b="0">
                          <a:solidFill>
                            <a:srgbClr val="1B2E43"/>
                          </a:solidFill>
                          <a:latin typeface="Meiryo UI"/>
                          <a:ea typeface="Meiryo UI"/>
                          <a:cs typeface="Meiryo UI"/>
                        </a:rPr>
                        <a:t>確認した経路で違反を特定していない。</a:t>
                      </a:r>
                    </a:p>
                    <a:p>
                      <a:pPr>
                        <a:lnSpc>
                          <a:spcPct val="105000"/>
                        </a:lnSpc>
                        <a:buNone/>
                      </a:pPr>
                      <a:r>
                        <a:rPr sz="1800" b="0">
                          <a:solidFill>
                            <a:srgbClr val="1B2E43"/>
                          </a:solidFill>
                          <a:latin typeface="Meiryo UI"/>
                          <a:ea typeface="Meiryo UI"/>
                          <a:cs typeface="Meiryo UI"/>
                        </a:rPr>
                        <a:t>全条件での適合認定を意味しない。</a:t>
                      </a:r>
                    </a:p>
                  </a:txBody>
                  <a:tcPr marL="91440" marR="91440" marT="45720" marB="45720" anchor="ctr">
                    <a:lnR w="6668">
                      <a:solidFill>
                        <a:srgbClr val="D7E0E8"/>
                      </a:solidFill>
                      <a:prstDash val="solid"/>
                    </a:lnR>
                    <a:lnB w="6668">
                      <a:solidFill>
                        <a:srgbClr val="D7E0E8"/>
                      </a:solidFill>
                      <a:prstDash val="solid"/>
                    </a:lnB>
                    <a:solidFill>
                      <a:srgbClr val="F4F7FA"/>
                    </a:solidFill>
                  </a:tcPr>
                </a:tc>
              </a:tr>
              <a:tr h="876300">
                <a:tc>
                  <a:txBody>
                    <a:bodyPr wrap="square" lIns="114300" tIns="85725" rIns="114300" bIns="85725">
                      <a:noAutofit/>
                    </a:bodyPr>
                    <a:lstStyle/>
                    <a:p>
                      <a:pPr>
                        <a:lnSpc>
                          <a:spcPct val="105000"/>
                        </a:lnSpc>
                        <a:buNone/>
                      </a:pPr>
                      <a:r>
                        <a:rPr sz="1800" b="0">
                          <a:solidFill>
                            <a:srgbClr val="1B2E43"/>
                          </a:solidFill>
                          <a:latin typeface="Meiryo UI"/>
                          <a:ea typeface="Meiryo UI"/>
                          <a:cs typeface="Meiryo UI"/>
                        </a:rPr>
                        <a:t>省略・未実装のみでは</a:t>
                      </a:r>
                    </a:p>
                    <a:p>
                      <a:pPr>
                        <a:lnSpc>
                          <a:spcPct val="105000"/>
                        </a:lnSpc>
                        <a:buNone/>
                      </a:pPr>
                      <a:r>
                        <a:rPr sz="1800" b="0">
                          <a:solidFill>
                            <a:srgbClr val="1B2E43"/>
                          </a:solidFill>
                          <a:latin typeface="Meiryo UI"/>
                          <a:ea typeface="Meiryo UI"/>
                          <a:cs typeface="Meiryo UI"/>
                        </a:rPr>
                        <a:t>違反といえない</a:t>
                      </a:r>
                    </a:p>
                  </a:txBody>
                  <a:tcPr marL="91440" marR="91440" marT="45720" marB="45720" anchor="ctr">
                    <a:lnL w="6668">
                      <a:solidFill>
                        <a:srgbClr val="D7E0E8"/>
                      </a:solidFill>
                      <a:prstDash val="solid"/>
                    </a:lnL>
                    <a:lnR w="6668">
                      <a:solidFill>
                        <a:srgbClr val="D7E0E8"/>
                      </a:solidFill>
                      <a:prstDash val="solid"/>
                    </a:lnR>
                    <a:lnB w="6668">
                      <a:solidFill>
                        <a:srgbClr val="D7E0E8"/>
                      </a:solidFill>
                      <a:prstDash val="solid"/>
                    </a:lnB>
                    <a:solidFill>
                      <a:srgbClr val="FFFFFF"/>
                    </a:solidFill>
                  </a:tcPr>
                </a:tc>
                <a:tc>
                  <a:txBody>
                    <a:bodyPr wrap="square" lIns="114300" tIns="85725" rIns="114300" bIns="85725">
                      <a:noAutofit/>
                    </a:bodyPr>
                    <a:lstStyle/>
                    <a:p>
                      <a:pPr>
                        <a:lnSpc>
                          <a:spcPct val="105000"/>
                        </a:lnSpc>
                        <a:buNone/>
                      </a:pPr>
                      <a:r>
                        <a:rPr sz="1800" b="0">
                          <a:solidFill>
                            <a:srgbClr val="1B2E43"/>
                          </a:solidFill>
                          <a:latin typeface="Meiryo UI"/>
                          <a:ea typeface="Meiryo UI"/>
                          <a:cs typeface="Meiryo UI"/>
                        </a:rPr>
                        <a:t>送信がOPTIONAL、または送信機能を必ず提供する義務を</a:t>
                      </a:r>
                    </a:p>
                    <a:p>
                      <a:pPr>
                        <a:lnSpc>
                          <a:spcPct val="105000"/>
                        </a:lnSpc>
                        <a:buNone/>
                      </a:pPr>
                      <a:r>
                        <a:rPr sz="1800" b="0">
                          <a:solidFill>
                            <a:srgbClr val="1B2E43"/>
                          </a:solidFill>
                          <a:latin typeface="Meiryo UI"/>
                          <a:ea typeface="Meiryo UI"/>
                          <a:cs typeface="Meiryo UI"/>
                        </a:rPr>
                        <a:t>確認していない。機能差と規格違反を区別。</a:t>
                      </a:r>
                    </a:p>
                  </a:txBody>
                  <a:tcPr marL="91440" marR="91440" marT="45720" marB="45720" anchor="ctr">
                    <a:lnR w="6668">
                      <a:solidFill>
                        <a:srgbClr val="D7E0E8"/>
                      </a:solidFill>
                      <a:prstDash val="solid"/>
                    </a:lnR>
                    <a:lnB w="6668">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78974205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1">
            <a:extLst xmlns:a="http://schemas.openxmlformats.org/drawingml/2006/main">
              <a:ext uri="{FF2B5EF4-FFF2-40B4-BE49-F238E27FC236}">
                <a16:creationId xmlns:a16="http://schemas.microsoft.com/office/drawing/2014/main" id="{86FD6A94-9B2F-4123-A6FD-B9370C63B6CE}"/>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D48"/>
                </a:solidFill>
                <a:latin typeface="Meiryo UI"/>
                <a:ea typeface="Meiryo UI"/>
                <a:cs typeface="Meiryo UI"/>
              </a:defRPr>
            </a:defPPr>
          </a:lstStyle>
          <a:p xmlns:a="http://schemas.openxmlformats.org/drawingml/2006/main">
            <a:pPr>
              <a:lnSpc>
                <a:spcPct val="110000"/>
              </a:lnSpc>
              <a:buNone/>
              <a:defRPr sz="3300" b="1">
                <a:solidFill>
                  <a:srgbClr val="152D48"/>
                </a:solidFill>
                <a:latin typeface="Meiryo UI"/>
                <a:ea typeface="Meiryo UI"/>
                <a:cs typeface="Meiryo UI"/>
              </a:defRPr>
            </a:pPr>
            <a:r>
              <a:rPr sz="3300" b="1">
                <a:solidFill>
                  <a:srgbClr val="152D48"/>
                </a:solidFill>
                <a:latin typeface="Meiryo UI"/>
                <a:ea typeface="Meiryo UI"/>
                <a:cs typeface="Meiryo UI"/>
              </a:rPr>
              <a:t>明示的な番号指定と実装の相違</a:t>
            </a:r>
          </a:p>
        </p:txBody>
      </p:sp>
      <p:sp>
        <p:nvSpPr>
          <p:cNvPr id="2" name="text-2">
            <a:extLst xmlns:a="http://schemas.openxmlformats.org/drawingml/2006/main">
              <a:ext uri="{FF2B5EF4-FFF2-40B4-BE49-F238E27FC236}">
                <a16:creationId xmlns:a16="http://schemas.microsoft.com/office/drawing/2014/main" id="{5BBB1F6C-7696-41E6-8E26-EDFEACF9FCD7}"/>
              </a:ext>
            </a:extLst>
          </p:cNvPr>
          <p:cNvSpPr>
            <a:spLocks xmlns:a="http://schemas.openxmlformats.org/drawingml/2006/main" noGrp="1"/>
          </p:cNvSpPr>
          <p:nvPr/>
        </p:nvSpPr>
        <p:spPr>
          <a:xfrm xmlns:a="http://schemas.openxmlformats.org/drawingml/2006/main">
            <a:off x="609600" y="10668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02" b="0">
                <a:solidFill>
                  <a:srgbClr val="506579"/>
                </a:solidFill>
                <a:latin typeface="Meiryo UI"/>
                <a:ea typeface="Meiryo UI"/>
                <a:cs typeface="Meiryo UI"/>
              </a:defRPr>
            </a:defPPr>
          </a:lstStyle>
          <a:p xmlns:a="http://schemas.openxmlformats.org/drawingml/2006/main">
            <a:pPr>
              <a:lnSpc>
                <a:spcPct val="110000"/>
              </a:lnSpc>
              <a:buNone/>
              <a:defRPr sz="1702" b="0">
                <a:solidFill>
                  <a:srgbClr val="506579"/>
                </a:solidFill>
                <a:latin typeface="Meiryo UI"/>
                <a:ea typeface="Meiryo UI"/>
                <a:cs typeface="Meiryo UI"/>
              </a:defRPr>
            </a:pPr>
            <a:r>
              <a:rPr sz="1702" b="0">
                <a:solidFill>
                  <a:srgbClr val="506579"/>
                </a:solidFill>
                <a:latin typeface="Meiryo UI"/>
                <a:ea typeface="Meiryo UI"/>
                <a:cs typeface="Meiryo UI"/>
              </a:rPr>
              <a:t>アラートを送信する場合の番号選択に関する例</a:t>
            </a:r>
          </a:p>
        </p:txBody>
      </p:sp>
      <p:sp>
        <p:nvSpPr>
          <p:cNvPr id="3" name="text-3">
            <a:extLst xmlns:a="http://schemas.openxmlformats.org/drawingml/2006/main">
              <a:ext uri="{FF2B5EF4-FFF2-40B4-BE49-F238E27FC236}">
                <a16:creationId xmlns:a16="http://schemas.microsoft.com/office/drawing/2014/main" id="{C276BC2D-1678-4567-B18F-6B67B76B61F3}"/>
              </a:ext>
            </a:extLst>
          </p:cNvPr>
          <p:cNvSpPr>
            <a:spLocks xmlns:a="http://schemas.openxmlformats.org/drawingml/2006/main" noGrp="1"/>
          </p:cNvSpPr>
          <p:nvPr/>
        </p:nvSpPr>
        <p:spPr>
          <a:xfrm xmlns:a="http://schemas.openxmlformats.org/drawingml/2006/main">
            <a:off x="11049000" y="644842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06579"/>
                </a:solidFill>
                <a:latin typeface="Meiryo UI"/>
                <a:ea typeface="Meiryo UI"/>
                <a:cs typeface="Meiryo UI"/>
              </a:defRPr>
            </a:defPPr>
          </a:lstStyle>
          <a:p xmlns:a="http://schemas.openxmlformats.org/drawingml/2006/main">
            <a:pPr>
              <a:lnSpc>
                <a:spcPct val="110000"/>
              </a:lnSpc>
              <a:buNone/>
              <a:defRPr sz="1275" b="0">
                <a:solidFill>
                  <a:srgbClr val="506579"/>
                </a:solidFill>
                <a:latin typeface="Meiryo UI"/>
                <a:ea typeface="Meiryo UI"/>
                <a:cs typeface="Meiryo UI"/>
              </a:defRPr>
            </a:pPr>
            <a:r>
              <a:rPr sz="1275" b="0">
                <a:solidFill>
                  <a:srgbClr val="506579"/>
                </a:solidFill>
                <a:latin typeface="Meiryo UI"/>
                <a:ea typeface="Meiryo UI"/>
                <a:cs typeface="Meiryo UI"/>
              </a:rPr>
              <a:t>04</a:t>
            </a:r>
          </a:p>
        </p:txBody>
      </p:sp>
      <p:graphicFrame>
        <p:nvGraphicFramePr>
          <p:cNvPr id="4" name="">
            <a:extLst xmlns:a="http://schemas.openxmlformats.org/drawingml/2006/main">
              <a:ext uri="{FF2B5EF4-FFF2-40B4-BE49-F238E27FC236}">
                <a16:creationId xmlns:a16="http://schemas.microsoft.com/office/drawing/2014/main" id="{6C94617B-D389-48E4-A9A3-2A97C1C5D949}"/>
              </a:ext>
            </a:extLst>
          </p:cNvPr>
          <p:cNvGraphicFramePr/>
          <p:nvPr/>
        </p:nvGraphicFramePr>
        <p:xfrm>
          <a:off xmlns:a="http://schemas.openxmlformats.org/drawingml/2006/main" x="609600" y="1504950"/>
          <a:ext xmlns:a="http://schemas.openxmlformats.org/drawingml/2006/main" cx="10972800" cy="4419600"/>
        </p:xfrm>
        <a:graphic xmlns:a="http://schemas.openxmlformats.org/drawingml/2006/main">
          <a:graphicData uri="http://schemas.openxmlformats.org/drawingml/2006/table">
            <a:tbl>
              <a:tblPr firstRow="0" bandRow="0"/>
              <a:tblGrid>
                <a:gridCol w="4762500"/>
                <a:gridCol w="1352550"/>
                <a:gridCol w="1352550"/>
                <a:gridCol w="3505200"/>
              </a:tblGrid>
              <a:tr h="457200">
                <a:tc>
                  <a:txBody>
                    <a:bodyPr wrap="square" lIns="114300" tIns="85725" rIns="114300" bIns="85725">
                      <a:noAutofit/>
                    </a:bodyPr>
                    <a:lstStyle/>
                    <a:p>
                      <a:pPr>
                        <a:lnSpc>
                          <a:spcPct val="105000"/>
                        </a:lnSpc>
                        <a:buNone/>
                      </a:pPr>
                      <a:r>
                        <a:rPr sz="1725" b="1">
                          <a:solidFill>
                            <a:srgbClr val="FFFFFF"/>
                          </a:solidFill>
                          <a:latin typeface="Meiryo UI"/>
                          <a:ea typeface="Meiryo UI"/>
                          <a:cs typeface="Meiryo UI"/>
                        </a:rPr>
                        <a:t>発生条件</a:t>
                      </a:r>
                    </a:p>
                  </a:txBody>
                  <a:tcPr marL="91440" marR="91440" marT="45720" marB="45720" anchor="ctr">
                    <a:lnL w="6668">
                      <a:solidFill>
                        <a:srgbClr val="D7E0E8"/>
                      </a:solidFill>
                      <a:prstDash val="solid"/>
                    </a:lnL>
                    <a:lnR w="6668">
                      <a:solidFill>
                        <a:srgbClr val="D7E0E8"/>
                      </a:solidFill>
                      <a:prstDash val="solid"/>
                    </a:lnR>
                    <a:lnT w="6668">
                      <a:solidFill>
                        <a:srgbClr val="D7E0E8"/>
                      </a:solidFill>
                      <a:prstDash val="solid"/>
                    </a:lnT>
                    <a:lnB w="6668">
                      <a:solidFill>
                        <a:srgbClr val="D7E0E8"/>
                      </a:solidFill>
                      <a:prstDash val="solid"/>
                    </a:lnB>
                    <a:solidFill>
                      <a:srgbClr val="152D48"/>
                    </a:solidFill>
                  </a:tcPr>
                </a:tc>
                <a:tc>
                  <a:txBody>
                    <a:bodyPr wrap="square" lIns="114300" tIns="85725" rIns="114300" bIns="85725">
                      <a:noAutofit/>
                    </a:bodyPr>
                    <a:lstStyle/>
                    <a:p>
                      <a:pPr>
                        <a:lnSpc>
                          <a:spcPct val="105000"/>
                        </a:lnSpc>
                        <a:buNone/>
                      </a:pPr>
                      <a:r>
                        <a:rPr sz="1725" b="1">
                          <a:solidFill>
                            <a:srgbClr val="FFFFFF"/>
                          </a:solidFill>
                          <a:latin typeface="Meiryo UI"/>
                          <a:ea typeface="Meiryo UI"/>
                          <a:cs typeface="Meiryo UI"/>
                        </a:rPr>
                        <a:t>RFC指定</a:t>
                      </a:r>
                    </a:p>
                  </a:txBody>
                  <a:tcPr marL="91440" marR="91440" marT="45720" marB="45720" anchor="ctr">
                    <a:lnR w="6668">
                      <a:solidFill>
                        <a:srgbClr val="D7E0E8"/>
                      </a:solidFill>
                      <a:prstDash val="solid"/>
                    </a:lnR>
                    <a:lnT w="6668">
                      <a:solidFill>
                        <a:srgbClr val="D7E0E8"/>
                      </a:solidFill>
                      <a:prstDash val="solid"/>
                    </a:lnT>
                    <a:lnB w="6668">
                      <a:solidFill>
                        <a:srgbClr val="D7E0E8"/>
                      </a:solidFill>
                      <a:prstDash val="solid"/>
                    </a:lnB>
                    <a:solidFill>
                      <a:srgbClr val="152D48"/>
                    </a:solidFill>
                  </a:tcPr>
                </a:tc>
                <a:tc>
                  <a:txBody>
                    <a:bodyPr wrap="square" lIns="114300" tIns="85725" rIns="114300" bIns="85725">
                      <a:noAutofit/>
                    </a:bodyPr>
                    <a:lstStyle/>
                    <a:p>
                      <a:pPr>
                        <a:lnSpc>
                          <a:spcPct val="105000"/>
                        </a:lnSpc>
                        <a:buNone/>
                      </a:pPr>
                      <a:r>
                        <a:rPr sz="1725" b="1">
                          <a:solidFill>
                            <a:srgbClr val="FFFFFF"/>
                          </a:solidFill>
                          <a:latin typeface="Meiryo UI"/>
                          <a:ea typeface="Meiryo UI"/>
                          <a:cs typeface="Meiryo UI"/>
                        </a:rPr>
                        <a:t>実装番号</a:t>
                      </a:r>
                    </a:p>
                  </a:txBody>
                  <a:tcPr marL="91440" marR="91440" marT="45720" marB="45720" anchor="ctr">
                    <a:lnR w="6668">
                      <a:solidFill>
                        <a:srgbClr val="D7E0E8"/>
                      </a:solidFill>
                      <a:prstDash val="solid"/>
                    </a:lnR>
                    <a:lnT w="6668">
                      <a:solidFill>
                        <a:srgbClr val="D7E0E8"/>
                      </a:solidFill>
                      <a:prstDash val="solid"/>
                    </a:lnT>
                    <a:lnB w="6668">
                      <a:solidFill>
                        <a:srgbClr val="D7E0E8"/>
                      </a:solidFill>
                      <a:prstDash val="solid"/>
                    </a:lnB>
                    <a:solidFill>
                      <a:srgbClr val="152D48"/>
                    </a:solidFill>
                  </a:tcPr>
                </a:tc>
                <a:tc>
                  <a:txBody>
                    <a:bodyPr wrap="square" lIns="114300" tIns="85725" rIns="114300" bIns="85725">
                      <a:noAutofit/>
                    </a:bodyPr>
                    <a:lstStyle/>
                    <a:p>
                      <a:pPr>
                        <a:lnSpc>
                          <a:spcPct val="105000"/>
                        </a:lnSpc>
                        <a:buNone/>
                      </a:pPr>
                      <a:r>
                        <a:rPr sz="1725" b="1">
                          <a:solidFill>
                            <a:srgbClr val="FFFFFF"/>
                          </a:solidFill>
                          <a:latin typeface="Meiryo UI"/>
                          <a:ea typeface="Meiryo UI"/>
                          <a:cs typeface="Meiryo UI"/>
                        </a:rPr>
                        <a:t>主な根拠</a:t>
                      </a:r>
                    </a:p>
                  </a:txBody>
                  <a:tcPr marL="91440" marR="91440" marT="45720" marB="45720" anchor="ctr">
                    <a:lnR w="6668">
                      <a:solidFill>
                        <a:srgbClr val="D7E0E8"/>
                      </a:solidFill>
                      <a:prstDash val="solid"/>
                    </a:lnR>
                    <a:lnT w="6668">
                      <a:solidFill>
                        <a:srgbClr val="D7E0E8"/>
                      </a:solidFill>
                      <a:prstDash val="solid"/>
                    </a:lnT>
                    <a:lnB w="6668">
                      <a:solidFill>
                        <a:srgbClr val="D7E0E8"/>
                      </a:solidFill>
                      <a:prstDash val="solid"/>
                    </a:lnB>
                    <a:solidFill>
                      <a:srgbClr val="152D48"/>
                    </a:solidFill>
                  </a:tcPr>
                </a:tc>
              </a:tr>
              <a:tr h="990600">
                <a:tc>
                  <a:txBody>
                    <a:bodyPr wrap="square" lIns="114300" tIns="85725" rIns="114300" bIns="85725">
                      <a:noAutofit/>
                    </a:bodyPr>
                    <a:lstStyle/>
                    <a:p>
                      <a:pPr>
                        <a:lnSpc>
                          <a:spcPct val="105000"/>
                        </a:lnSpc>
                        <a:buNone/>
                      </a:pPr>
                      <a:r>
                        <a:rPr sz="1875" b="0">
                          <a:solidFill>
                            <a:srgbClr val="1B2E43"/>
                          </a:solidFill>
                          <a:latin typeface="Meiryo UI"/>
                          <a:ea typeface="Meiryo UI"/>
                          <a:cs typeface="Meiryo UI"/>
                        </a:rPr>
                        <a:t>CertificateVerifyの署名検証失敗</a:t>
                      </a:r>
                    </a:p>
                  </a:txBody>
                  <a:tcPr marL="91440" marR="91440" marT="45720" marB="45720" anchor="ctr">
                    <a:lnL w="6668">
                      <a:solidFill>
                        <a:srgbClr val="D7E0E8"/>
                      </a:solidFill>
                      <a:prstDash val="solid"/>
                    </a:lnL>
                    <a:lnR w="6668">
                      <a:solidFill>
                        <a:srgbClr val="D7E0E8"/>
                      </a:solidFill>
                      <a:prstDash val="solid"/>
                    </a:lnR>
                    <a:lnB w="6668">
                      <a:solidFill>
                        <a:srgbClr val="D7E0E8"/>
                      </a:solidFill>
                      <a:prstDash val="solid"/>
                    </a:lnB>
                    <a:solidFill>
                      <a:srgbClr val="FFFFFF"/>
                    </a:solidFill>
                  </a:tcPr>
                </a:tc>
                <a:tc>
                  <a:txBody>
                    <a:bodyPr wrap="square" lIns="114300" tIns="85725" rIns="114300" bIns="85725">
                      <a:noAutofit/>
                    </a:bodyPr>
                    <a:lstStyle/>
                    <a:p>
                      <a:pPr algn="ctr">
                        <a:lnSpc>
                          <a:spcPct val="105000"/>
                        </a:lnSpc>
                        <a:buNone/>
                      </a:pPr>
                      <a:r>
                        <a:rPr sz="2700" b="1">
                          <a:solidFill>
                            <a:srgbClr val="152D48"/>
                          </a:solidFill>
                          <a:latin typeface="Meiryo UI"/>
                          <a:ea typeface="Meiryo UI"/>
                          <a:cs typeface="Meiryo UI"/>
                        </a:rPr>
                        <a:t>51</a:t>
                      </a:r>
                    </a:p>
                  </a:txBody>
                  <a:tcPr marL="91440" marR="91440" marT="45720" marB="45720" anchor="ctr">
                    <a:lnR w="6668">
                      <a:solidFill>
                        <a:srgbClr val="D7E0E8"/>
                      </a:solidFill>
                      <a:prstDash val="solid"/>
                    </a:lnR>
                    <a:lnB w="6668">
                      <a:solidFill>
                        <a:srgbClr val="D7E0E8"/>
                      </a:solidFill>
                      <a:prstDash val="solid"/>
                    </a:lnB>
                    <a:solidFill>
                      <a:srgbClr val="FFFFFF"/>
                    </a:solidFill>
                  </a:tcPr>
                </a:tc>
                <a:tc>
                  <a:txBody>
                    <a:bodyPr wrap="square" lIns="114300" tIns="85725" rIns="114300" bIns="85725">
                      <a:noAutofit/>
                    </a:bodyPr>
                    <a:lstStyle/>
                    <a:p>
                      <a:pPr algn="ctr">
                        <a:lnSpc>
                          <a:spcPct val="105000"/>
                        </a:lnSpc>
                        <a:buNone/>
                      </a:pPr>
                      <a:r>
                        <a:rPr sz="2700" b="1">
                          <a:solidFill>
                            <a:srgbClr val="A72C35"/>
                          </a:solidFill>
                          <a:latin typeface="Meiryo UI"/>
                          <a:ea typeface="Meiryo UI"/>
                          <a:cs typeface="Meiryo UI"/>
                        </a:rPr>
                        <a:t>40</a:t>
                      </a:r>
                    </a:p>
                  </a:txBody>
                  <a:tcPr marL="91440" marR="91440" marT="45720" marB="45720" anchor="ctr">
                    <a:lnR w="6668">
                      <a:solidFill>
                        <a:srgbClr val="D7E0E8"/>
                      </a:solidFill>
                      <a:prstDash val="solid"/>
                    </a:lnR>
                    <a:lnB w="6668">
                      <a:solidFill>
                        <a:srgbClr val="D7E0E8"/>
                      </a:solidFill>
                      <a:prstDash val="solid"/>
                    </a:lnB>
                    <a:solidFill>
                      <a:srgbClr val="FFFFFF"/>
                    </a:solidFill>
                  </a:tcPr>
                </a:tc>
                <a:tc>
                  <a:txBody>
                    <a:bodyPr wrap="square" lIns="114300" tIns="85725" rIns="114300" bIns="85725">
                      <a:noAutofit/>
                    </a:bodyPr>
                    <a:lstStyle/>
                    <a:p>
                      <a:r>
                        <a:rPr sz="1875" b="0" u="sng">
                          <a:solidFill>
                            <a:srgbClr val="176DA5"/>
                          </a:solidFill>
                          <a:latin typeface="Meiryo UI"/>
                          <a:ea typeface="Meiryo UI"/>
                          <a:cs typeface="Meiryo UI"/>
                          <a:hlinkClick xmlns:r="http://schemas.openxmlformats.org/officeDocument/2006/relationships" r:id="Re794c275c646408c"/>
                        </a:rPr>
                        <a:t>RFC §4.5.2</a:t>
                      </a:r>
                    </a:p>
                    <a:p>
                      <a:r>
                        <a:rPr sz="1875" b="0" u="sng">
                          <a:solidFill>
                            <a:srgbClr val="176DA5"/>
                          </a:solidFill>
                          <a:latin typeface="Meiryo UI"/>
                          <a:ea typeface="Meiryo UI"/>
                          <a:cs typeface="Meiryo UI"/>
                          <a:hlinkClick xmlns:r="http://schemas.openxmlformats.org/officeDocument/2006/relationships" r:id="Rb65dceb1df5f463c"/>
                        </a:rPr>
                        <a:t>公式ソース</a:t>
                      </a:r>
                    </a:p>
                  </a:txBody>
                  <a:tcPr marL="91440" marR="91440" marT="45720" marB="45720" anchor="ctr">
                    <a:lnR w="6668">
                      <a:solidFill>
                        <a:srgbClr val="D7E0E8"/>
                      </a:solidFill>
                      <a:prstDash val="solid"/>
                    </a:lnR>
                    <a:lnB w="6668">
                      <a:solidFill>
                        <a:srgbClr val="D7E0E8"/>
                      </a:solidFill>
                      <a:prstDash val="solid"/>
                    </a:lnB>
                    <a:solidFill>
                      <a:srgbClr val="FFFFFF"/>
                    </a:solidFill>
                  </a:tcPr>
                </a:tc>
              </a:tr>
              <a:tr h="990600">
                <a:tc>
                  <a:txBody>
                    <a:bodyPr wrap="square" lIns="114300" tIns="85725" rIns="114300" bIns="85725">
                      <a:noAutofit/>
                    </a:bodyPr>
                    <a:lstStyle/>
                    <a:p>
                      <a:pPr>
                        <a:lnSpc>
                          <a:spcPct val="105000"/>
                        </a:lnSpc>
                        <a:buNone/>
                      </a:pPr>
                      <a:r>
                        <a:rPr sz="1875" b="0">
                          <a:solidFill>
                            <a:srgbClr val="1B2E43"/>
                          </a:solidFill>
                          <a:latin typeface="Meiryo UI"/>
                          <a:ea typeface="Meiryo UI"/>
                          <a:cs typeface="Meiryo UI"/>
                        </a:rPr>
                        <a:t>KeyUpdateの長さ不正</a:t>
                      </a:r>
                    </a:p>
                  </a:txBody>
                  <a:tcPr marL="91440" marR="91440" marT="45720" marB="45720" anchor="ctr">
                    <a:lnL w="6668">
                      <a:solidFill>
                        <a:srgbClr val="D7E0E8"/>
                      </a:solidFill>
                      <a:prstDash val="solid"/>
                    </a:lnL>
                    <a:lnR w="6668">
                      <a:solidFill>
                        <a:srgbClr val="D7E0E8"/>
                      </a:solidFill>
                      <a:prstDash val="solid"/>
                    </a:lnR>
                    <a:lnB w="6668">
                      <a:solidFill>
                        <a:srgbClr val="D7E0E8"/>
                      </a:solidFill>
                      <a:prstDash val="solid"/>
                    </a:lnB>
                    <a:solidFill>
                      <a:srgbClr val="F4F7FA"/>
                    </a:solidFill>
                  </a:tcPr>
                </a:tc>
                <a:tc>
                  <a:txBody>
                    <a:bodyPr wrap="square" lIns="114300" tIns="85725" rIns="114300" bIns="85725">
                      <a:noAutofit/>
                    </a:bodyPr>
                    <a:lstStyle/>
                    <a:p>
                      <a:pPr algn="ctr">
                        <a:lnSpc>
                          <a:spcPct val="105000"/>
                        </a:lnSpc>
                        <a:buNone/>
                      </a:pPr>
                      <a:r>
                        <a:rPr sz="2700" b="1">
                          <a:solidFill>
                            <a:srgbClr val="152D48"/>
                          </a:solidFill>
                          <a:latin typeface="Meiryo UI"/>
                          <a:ea typeface="Meiryo UI"/>
                          <a:cs typeface="Meiryo UI"/>
                        </a:rPr>
                        <a:t>50</a:t>
                      </a:r>
                    </a:p>
                  </a:txBody>
                  <a:tcPr marL="91440" marR="91440" marT="45720" marB="45720" anchor="ctr">
                    <a:lnR w="6668">
                      <a:solidFill>
                        <a:srgbClr val="D7E0E8"/>
                      </a:solidFill>
                      <a:prstDash val="solid"/>
                    </a:lnR>
                    <a:lnB w="6668">
                      <a:solidFill>
                        <a:srgbClr val="D7E0E8"/>
                      </a:solidFill>
                      <a:prstDash val="solid"/>
                    </a:lnB>
                    <a:solidFill>
                      <a:srgbClr val="F4F7FA"/>
                    </a:solidFill>
                  </a:tcPr>
                </a:tc>
                <a:tc>
                  <a:txBody>
                    <a:bodyPr wrap="square" lIns="114300" tIns="85725" rIns="114300" bIns="85725">
                      <a:noAutofit/>
                    </a:bodyPr>
                    <a:lstStyle/>
                    <a:p>
                      <a:pPr algn="ctr">
                        <a:lnSpc>
                          <a:spcPct val="105000"/>
                        </a:lnSpc>
                        <a:buNone/>
                      </a:pPr>
                      <a:r>
                        <a:rPr sz="2700" b="1">
                          <a:solidFill>
                            <a:srgbClr val="A72C35"/>
                          </a:solidFill>
                          <a:latin typeface="Meiryo UI"/>
                          <a:ea typeface="Meiryo UI"/>
                          <a:cs typeface="Meiryo UI"/>
                        </a:rPr>
                        <a:t>47</a:t>
                      </a:r>
                    </a:p>
                  </a:txBody>
                  <a:tcPr marL="91440" marR="91440" marT="45720" marB="45720" anchor="ctr">
                    <a:lnR w="6668">
                      <a:solidFill>
                        <a:srgbClr val="D7E0E8"/>
                      </a:solidFill>
                      <a:prstDash val="solid"/>
                    </a:lnR>
                    <a:lnB w="6668">
                      <a:solidFill>
                        <a:srgbClr val="D7E0E8"/>
                      </a:solidFill>
                      <a:prstDash val="solid"/>
                    </a:lnB>
                    <a:solidFill>
                      <a:srgbClr val="F4F7FA"/>
                    </a:solidFill>
                  </a:tcPr>
                </a:tc>
                <a:tc>
                  <a:txBody>
                    <a:bodyPr wrap="square" lIns="114300" tIns="85725" rIns="114300" bIns="85725">
                      <a:noAutofit/>
                    </a:bodyPr>
                    <a:lstStyle/>
                    <a:p>
                      <a:r>
                        <a:rPr sz="1875" b="0" u="sng">
                          <a:solidFill>
                            <a:srgbClr val="176DA5"/>
                          </a:solidFill>
                          <a:latin typeface="Meiryo UI"/>
                          <a:ea typeface="Meiryo UI"/>
                          <a:cs typeface="Meiryo UI"/>
                          <a:hlinkClick xmlns:r="http://schemas.openxmlformats.org/officeDocument/2006/relationships" r:id="Rd6ddb7eb668a4472"/>
                        </a:rPr>
                        <a:t>RFC §6</a:t>
                      </a:r>
                    </a:p>
                    <a:p>
                      <a:r>
                        <a:rPr sz="1875" b="0" u="sng">
                          <a:solidFill>
                            <a:srgbClr val="176DA5"/>
                          </a:solidFill>
                          <a:latin typeface="Meiryo UI"/>
                          <a:ea typeface="Meiryo UI"/>
                          <a:cs typeface="Meiryo UI"/>
                          <a:hlinkClick xmlns:r="http://schemas.openxmlformats.org/officeDocument/2006/relationships" r:id="R6ca8cefd6aad4a10"/>
                        </a:rPr>
                        <a:t>公式ソース</a:t>
                      </a:r>
                    </a:p>
                  </a:txBody>
                  <a:tcPr marL="91440" marR="91440" marT="45720" marB="45720" anchor="ctr">
                    <a:lnR w="6668">
                      <a:solidFill>
                        <a:srgbClr val="D7E0E8"/>
                      </a:solidFill>
                      <a:prstDash val="solid"/>
                    </a:lnR>
                    <a:lnB w="6668">
                      <a:solidFill>
                        <a:srgbClr val="D7E0E8"/>
                      </a:solidFill>
                      <a:prstDash val="solid"/>
                    </a:lnB>
                    <a:solidFill>
                      <a:srgbClr val="F4F7FA"/>
                    </a:solidFill>
                  </a:tcPr>
                </a:tc>
              </a:tr>
              <a:tr h="990600">
                <a:tc>
                  <a:txBody>
                    <a:bodyPr wrap="square" lIns="114300" tIns="85725" rIns="114300" bIns="85725">
                      <a:noAutofit/>
                    </a:bodyPr>
                    <a:lstStyle/>
                    <a:p>
                      <a:pPr>
                        <a:lnSpc>
                          <a:spcPct val="105000"/>
                        </a:lnSpc>
                        <a:buNone/>
                      </a:pPr>
                      <a:r>
                        <a:rPr sz="1875" b="0">
                          <a:solidFill>
                            <a:srgbClr val="1B2E43"/>
                          </a:solidFill>
                          <a:latin typeface="Meiryo UI"/>
                          <a:ea typeface="Meiryo UI"/>
                          <a:cs typeface="Meiryo UI"/>
                        </a:rPr>
                        <a:t>レコード長が受信上限を超過</a:t>
                      </a:r>
                    </a:p>
                  </a:txBody>
                  <a:tcPr marL="91440" marR="91440" marT="45720" marB="45720" anchor="ctr">
                    <a:lnL w="6668">
                      <a:solidFill>
                        <a:srgbClr val="D7E0E8"/>
                      </a:solidFill>
                      <a:prstDash val="solid"/>
                    </a:lnL>
                    <a:lnR w="6668">
                      <a:solidFill>
                        <a:srgbClr val="D7E0E8"/>
                      </a:solidFill>
                      <a:prstDash val="solid"/>
                    </a:lnR>
                    <a:lnB w="6668">
                      <a:solidFill>
                        <a:srgbClr val="D7E0E8"/>
                      </a:solidFill>
                      <a:prstDash val="solid"/>
                    </a:lnB>
                    <a:solidFill>
                      <a:srgbClr val="FFFFFF"/>
                    </a:solidFill>
                  </a:tcPr>
                </a:tc>
                <a:tc>
                  <a:txBody>
                    <a:bodyPr wrap="square" lIns="114300" tIns="85725" rIns="114300" bIns="85725">
                      <a:noAutofit/>
                    </a:bodyPr>
                    <a:lstStyle/>
                    <a:p>
                      <a:pPr algn="ctr">
                        <a:lnSpc>
                          <a:spcPct val="105000"/>
                        </a:lnSpc>
                        <a:buNone/>
                      </a:pPr>
                      <a:r>
                        <a:rPr sz="2700" b="1">
                          <a:solidFill>
                            <a:srgbClr val="152D48"/>
                          </a:solidFill>
                          <a:latin typeface="Meiryo UI"/>
                          <a:ea typeface="Meiryo UI"/>
                          <a:cs typeface="Meiryo UI"/>
                        </a:rPr>
                        <a:t>22</a:t>
                      </a:r>
                    </a:p>
                  </a:txBody>
                  <a:tcPr marL="91440" marR="91440" marT="45720" marB="45720" anchor="ctr">
                    <a:lnR w="6668">
                      <a:solidFill>
                        <a:srgbClr val="D7E0E8"/>
                      </a:solidFill>
                      <a:prstDash val="solid"/>
                    </a:lnR>
                    <a:lnB w="6668">
                      <a:solidFill>
                        <a:srgbClr val="D7E0E8"/>
                      </a:solidFill>
                      <a:prstDash val="solid"/>
                    </a:lnB>
                    <a:solidFill>
                      <a:srgbClr val="FFFFFF"/>
                    </a:solidFill>
                  </a:tcPr>
                </a:tc>
                <a:tc>
                  <a:txBody>
                    <a:bodyPr wrap="square" lIns="114300" tIns="85725" rIns="114300" bIns="85725">
                      <a:noAutofit/>
                    </a:bodyPr>
                    <a:lstStyle/>
                    <a:p>
                      <a:pPr algn="ctr">
                        <a:lnSpc>
                          <a:spcPct val="105000"/>
                        </a:lnSpc>
                        <a:buNone/>
                      </a:pPr>
                      <a:r>
                        <a:rPr sz="2700" b="1">
                          <a:solidFill>
                            <a:srgbClr val="A72C35"/>
                          </a:solidFill>
                          <a:latin typeface="Meiryo UI"/>
                          <a:ea typeface="Meiryo UI"/>
                          <a:cs typeface="Meiryo UI"/>
                        </a:rPr>
                        <a:t>10</a:t>
                      </a:r>
                    </a:p>
                  </a:txBody>
                  <a:tcPr marL="91440" marR="91440" marT="45720" marB="45720" anchor="ctr">
                    <a:lnR w="6668">
                      <a:solidFill>
                        <a:srgbClr val="D7E0E8"/>
                      </a:solidFill>
                      <a:prstDash val="solid"/>
                    </a:lnR>
                    <a:lnB w="6668">
                      <a:solidFill>
                        <a:srgbClr val="D7E0E8"/>
                      </a:solidFill>
                      <a:prstDash val="solid"/>
                    </a:lnB>
                    <a:solidFill>
                      <a:srgbClr val="FFFFFF"/>
                    </a:solidFill>
                  </a:tcPr>
                </a:tc>
                <a:tc>
                  <a:txBody>
                    <a:bodyPr wrap="square" lIns="114300" tIns="85725" rIns="114300" bIns="85725">
                      <a:noAutofit/>
                    </a:bodyPr>
                    <a:lstStyle/>
                    <a:p>
                      <a:r>
                        <a:rPr sz="1875" b="0" u="sng">
                          <a:solidFill>
                            <a:srgbClr val="176DA5"/>
                          </a:solidFill>
                          <a:latin typeface="Meiryo UI"/>
                          <a:ea typeface="Meiryo UI"/>
                          <a:cs typeface="Meiryo UI"/>
                          <a:hlinkClick xmlns:r="http://schemas.openxmlformats.org/officeDocument/2006/relationships" r:id="Rf8c646c083dd4830"/>
                        </a:rPr>
                        <a:t>RFC §5.2</a:t>
                      </a:r>
                    </a:p>
                    <a:p>
                      <a:r>
                        <a:rPr sz="1875" b="0" u="sng">
                          <a:solidFill>
                            <a:srgbClr val="176DA5"/>
                          </a:solidFill>
                          <a:latin typeface="Meiryo UI"/>
                          <a:ea typeface="Meiryo UI"/>
                          <a:cs typeface="Meiryo UI"/>
                          <a:hlinkClick xmlns:r="http://schemas.openxmlformats.org/officeDocument/2006/relationships" r:id="R78f03393664c480d"/>
                        </a:rPr>
                        <a:t>公式ソース</a:t>
                      </a:r>
                    </a:p>
                  </a:txBody>
                  <a:tcPr marL="91440" marR="91440" marT="45720" marB="45720" anchor="ctr">
                    <a:lnR w="6668">
                      <a:solidFill>
                        <a:srgbClr val="D7E0E8"/>
                      </a:solidFill>
                      <a:prstDash val="solid"/>
                    </a:lnR>
                    <a:lnB w="6668">
                      <a:solidFill>
                        <a:srgbClr val="D7E0E8"/>
                      </a:solidFill>
                      <a:prstDash val="solid"/>
                    </a:lnB>
                    <a:solidFill>
                      <a:srgbClr val="FFFFFF"/>
                    </a:solidFill>
                  </a:tcPr>
                </a:tc>
              </a:tr>
              <a:tr h="990600">
                <a:tc>
                  <a:txBody>
                    <a:bodyPr wrap="square" lIns="114300" tIns="85725" rIns="114300" bIns="85725">
                      <a:noAutofit/>
                    </a:bodyPr>
                    <a:lstStyle/>
                    <a:p>
                      <a:pPr>
                        <a:lnSpc>
                          <a:spcPct val="105000"/>
                        </a:lnSpc>
                        <a:buNone/>
                      </a:pPr>
                      <a:r>
                        <a:rPr sz="1875" b="0">
                          <a:solidFill>
                            <a:srgbClr val="1B2E43"/>
                          </a:solidFill>
                          <a:latin typeface="Meiryo UI"/>
                          <a:ea typeface="Meiryo UI"/>
                          <a:cs typeface="Meiryo UI"/>
                        </a:rPr>
                        <a:t>未要求のALPN応答を受信</a:t>
                      </a:r>
                    </a:p>
                  </a:txBody>
                  <a:tcPr marL="91440" marR="91440" marT="45720" marB="45720" anchor="ctr">
                    <a:lnL w="6668">
                      <a:solidFill>
                        <a:srgbClr val="D7E0E8"/>
                      </a:solidFill>
                      <a:prstDash val="solid"/>
                    </a:lnL>
                    <a:lnR w="6668">
                      <a:solidFill>
                        <a:srgbClr val="D7E0E8"/>
                      </a:solidFill>
                      <a:prstDash val="solid"/>
                    </a:lnR>
                    <a:lnB w="6668">
                      <a:solidFill>
                        <a:srgbClr val="D7E0E8"/>
                      </a:solidFill>
                      <a:prstDash val="solid"/>
                    </a:lnB>
                    <a:solidFill>
                      <a:srgbClr val="F4F7FA"/>
                    </a:solidFill>
                  </a:tcPr>
                </a:tc>
                <a:tc>
                  <a:txBody>
                    <a:bodyPr wrap="square" lIns="114300" tIns="85725" rIns="114300" bIns="85725">
                      <a:noAutofit/>
                    </a:bodyPr>
                    <a:lstStyle/>
                    <a:p>
                      <a:pPr algn="ctr">
                        <a:lnSpc>
                          <a:spcPct val="105000"/>
                        </a:lnSpc>
                        <a:buNone/>
                      </a:pPr>
                      <a:r>
                        <a:rPr sz="2700" b="1">
                          <a:solidFill>
                            <a:srgbClr val="152D48"/>
                          </a:solidFill>
                          <a:latin typeface="Meiryo UI"/>
                          <a:ea typeface="Meiryo UI"/>
                          <a:cs typeface="Meiryo UI"/>
                        </a:rPr>
                        <a:t>110</a:t>
                      </a:r>
                    </a:p>
                  </a:txBody>
                  <a:tcPr marL="91440" marR="91440" marT="45720" marB="45720" anchor="ctr">
                    <a:lnR w="6668">
                      <a:solidFill>
                        <a:srgbClr val="D7E0E8"/>
                      </a:solidFill>
                      <a:prstDash val="solid"/>
                    </a:lnR>
                    <a:lnB w="6668">
                      <a:solidFill>
                        <a:srgbClr val="D7E0E8"/>
                      </a:solidFill>
                      <a:prstDash val="solid"/>
                    </a:lnB>
                    <a:solidFill>
                      <a:srgbClr val="F4F7FA"/>
                    </a:solidFill>
                  </a:tcPr>
                </a:tc>
                <a:tc>
                  <a:txBody>
                    <a:bodyPr wrap="square" lIns="114300" tIns="85725" rIns="114300" bIns="85725">
                      <a:noAutofit/>
                    </a:bodyPr>
                    <a:lstStyle/>
                    <a:p>
                      <a:pPr algn="ctr">
                        <a:lnSpc>
                          <a:spcPct val="105000"/>
                        </a:lnSpc>
                        <a:buNone/>
                      </a:pPr>
                      <a:r>
                        <a:rPr sz="2700" b="1">
                          <a:solidFill>
                            <a:srgbClr val="A72C35"/>
                          </a:solidFill>
                          <a:latin typeface="Meiryo UI"/>
                          <a:ea typeface="Meiryo UI"/>
                          <a:cs typeface="Meiryo UI"/>
                        </a:rPr>
                        <a:t>10</a:t>
                      </a:r>
                    </a:p>
                  </a:txBody>
                  <a:tcPr marL="91440" marR="91440" marT="45720" marB="45720" anchor="ctr">
                    <a:lnR w="6668">
                      <a:solidFill>
                        <a:srgbClr val="D7E0E8"/>
                      </a:solidFill>
                      <a:prstDash val="solid"/>
                    </a:lnR>
                    <a:lnB w="6668">
                      <a:solidFill>
                        <a:srgbClr val="D7E0E8"/>
                      </a:solidFill>
                      <a:prstDash val="solid"/>
                    </a:lnB>
                    <a:solidFill>
                      <a:srgbClr val="F4F7FA"/>
                    </a:solidFill>
                  </a:tcPr>
                </a:tc>
                <a:tc>
                  <a:txBody>
                    <a:bodyPr wrap="square" lIns="114300" tIns="85725" rIns="114300" bIns="85725">
                      <a:noAutofit/>
                    </a:bodyPr>
                    <a:lstStyle/>
                    <a:p>
                      <a:r>
                        <a:rPr sz="1875" b="0" u="sng">
                          <a:solidFill>
                            <a:srgbClr val="176DA5"/>
                          </a:solidFill>
                          <a:latin typeface="Meiryo UI"/>
                          <a:ea typeface="Meiryo UI"/>
                          <a:cs typeface="Meiryo UI"/>
                          <a:hlinkClick xmlns:r="http://schemas.openxmlformats.org/officeDocument/2006/relationships" r:id="R5f39f5fb4f464316"/>
                        </a:rPr>
                        <a:t>RFC §4.3</a:t>
                      </a:r>
                    </a:p>
                    <a:p>
                      <a:r>
                        <a:rPr sz="1875" b="0" u="sng">
                          <a:solidFill>
                            <a:srgbClr val="176DA5"/>
                          </a:solidFill>
                          <a:latin typeface="Meiryo UI"/>
                          <a:ea typeface="Meiryo UI"/>
                          <a:cs typeface="Meiryo UI"/>
                          <a:hlinkClick xmlns:r="http://schemas.openxmlformats.org/officeDocument/2006/relationships" r:id="R8608649032e6425b"/>
                        </a:rPr>
                        <a:t>公式ソース</a:t>
                      </a:r>
                    </a:p>
                  </a:txBody>
                  <a:tcPr marL="91440" marR="91440" marT="45720" marB="45720" anchor="ctr">
                    <a:lnR w="6668">
                      <a:solidFill>
                        <a:srgbClr val="D7E0E8"/>
                      </a:solidFill>
                      <a:prstDash val="solid"/>
                    </a:lnR>
                    <a:lnB w="6668">
                      <a:solidFill>
                        <a:srgbClr val="D7E0E8"/>
                      </a:solidFill>
                      <a:prstDash val="solid"/>
                    </a:lnB>
                    <a:solidFill>
                      <a:srgbClr val="F4F7FA"/>
                    </a:solidFill>
                  </a:tcPr>
                </a:tc>
              </a:tr>
            </a:tbl>
          </a:graphicData>
        </a:graphic>
      </p:graphicFrame>
      <p:sp>
        <p:nvSpPr>
          <p:cNvPr id="5" name="text-4">
            <a:extLst xmlns:a="http://schemas.openxmlformats.org/drawingml/2006/main">
              <a:ext uri="{FF2B5EF4-FFF2-40B4-BE49-F238E27FC236}">
                <a16:creationId xmlns:a16="http://schemas.microsoft.com/office/drawing/2014/main" id="{EE273D1C-3A27-4C99-9409-8BA04E3758E6}"/>
              </a:ext>
            </a:extLst>
          </p:cNvPr>
          <p:cNvSpPr>
            <a:spLocks xmlns:a="http://schemas.openxmlformats.org/drawingml/2006/main" noGrp="1"/>
          </p:cNvSpPr>
          <p:nvPr/>
        </p:nvSpPr>
        <p:spPr>
          <a:xfrm xmlns:a="http://schemas.openxmlformats.org/drawingml/2006/main">
            <a:off x="609600" y="60960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06579"/>
                </a:solidFill>
                <a:latin typeface="Meiryo UI"/>
                <a:ea typeface="Meiryo UI"/>
                <a:cs typeface="Meiryo UI"/>
              </a:defRPr>
            </a:defPPr>
          </a:lstStyle>
          <a:p xmlns:a="http://schemas.openxmlformats.org/drawingml/2006/main">
            <a:pPr>
              <a:lnSpc>
                <a:spcPct val="110000"/>
              </a:lnSpc>
              <a:buNone/>
              <a:defRPr sz="1650" b="0">
                <a:solidFill>
                  <a:srgbClr val="506579"/>
                </a:solidFill>
                <a:latin typeface="Meiryo UI"/>
                <a:ea typeface="Meiryo UI"/>
                <a:cs typeface="Meiryo UI"/>
              </a:defRPr>
            </a:pPr>
            <a:r>
              <a:rPr sz="1650" b="0">
                <a:solidFill>
                  <a:srgbClr val="506579"/>
                </a:solidFill>
                <a:latin typeface="Meiryo UI"/>
                <a:ea typeface="Meiryo UI"/>
                <a:cs typeface="Meiryo UI"/>
              </a:rPr>
              <a:t>各例は静的調査による。通信上の送信・到達は未確認。</a:t>
            </a:r>
          </a:p>
        </p:txBody>
      </p:sp>
    </p:spTree>
    <p:extLst>
      <p:ext uri="{BB962C8B-B14F-4D97-AF65-F5344CB8AC3E}">
        <p14:creationId xmlns:p14="http://schemas.microsoft.com/office/powerpoint/2010/main" val="130938433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1">
            <a:extLst xmlns:a="http://schemas.openxmlformats.org/drawingml/2006/main">
              <a:ext uri="{FF2B5EF4-FFF2-40B4-BE49-F238E27FC236}">
                <a16:creationId xmlns:a16="http://schemas.microsoft.com/office/drawing/2014/main" id="{BE6E9487-C4A6-4A00-8AC3-C06ED35019C1}"/>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D48"/>
                </a:solidFill>
                <a:latin typeface="Meiryo UI"/>
                <a:ea typeface="Meiryo UI"/>
                <a:cs typeface="Meiryo UI"/>
              </a:defRPr>
            </a:defPPr>
          </a:lstStyle>
          <a:p xmlns:a="http://schemas.openxmlformats.org/drawingml/2006/main">
            <a:pPr>
              <a:lnSpc>
                <a:spcPct val="110000"/>
              </a:lnSpc>
              <a:buNone/>
              <a:defRPr sz="3300" b="1">
                <a:solidFill>
                  <a:srgbClr val="152D48"/>
                </a:solidFill>
                <a:latin typeface="Meiryo UI"/>
                <a:ea typeface="Meiryo UI"/>
                <a:cs typeface="Meiryo UI"/>
              </a:defRPr>
            </a:pPr>
            <a:r>
              <a:rPr sz="3300" b="1">
                <a:solidFill>
                  <a:srgbClr val="152D48"/>
                </a:solidFill>
                <a:latin typeface="Meiryo UI"/>
                <a:ea typeface="Meiryo UI"/>
                <a:cs typeface="Meiryo UI"/>
              </a:rPr>
              <a:t>26種類の判定一覧 1/7</a:t>
            </a:r>
          </a:p>
        </p:txBody>
      </p:sp>
      <p:sp>
        <p:nvSpPr>
          <p:cNvPr id="2" name="text-2">
            <a:extLst xmlns:a="http://schemas.openxmlformats.org/drawingml/2006/main">
              <a:ext uri="{FF2B5EF4-FFF2-40B4-BE49-F238E27FC236}">
                <a16:creationId xmlns:a16="http://schemas.microsoft.com/office/drawing/2014/main" id="{9B8BA7D9-5D00-47FE-9EB6-63B3DF51F663}"/>
              </a:ext>
            </a:extLst>
          </p:cNvPr>
          <p:cNvSpPr>
            <a:spLocks xmlns:a="http://schemas.openxmlformats.org/drawingml/2006/main" noGrp="1"/>
          </p:cNvSpPr>
          <p:nvPr/>
        </p:nvSpPr>
        <p:spPr>
          <a:xfrm xmlns:a="http://schemas.openxmlformats.org/drawingml/2006/main">
            <a:off x="609600" y="10668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02" b="0">
                <a:solidFill>
                  <a:srgbClr val="506579"/>
                </a:solidFill>
                <a:latin typeface="Meiryo UI"/>
                <a:ea typeface="Meiryo UI"/>
                <a:cs typeface="Meiryo UI"/>
              </a:defRPr>
            </a:defPPr>
          </a:lstStyle>
          <a:p xmlns:a="http://schemas.openxmlformats.org/drawingml/2006/main">
            <a:pPr>
              <a:lnSpc>
                <a:spcPct val="110000"/>
              </a:lnSpc>
              <a:buNone/>
              <a:defRPr sz="1702" b="0">
                <a:solidFill>
                  <a:srgbClr val="506579"/>
                </a:solidFill>
                <a:latin typeface="Meiryo UI"/>
                <a:ea typeface="Meiryo UI"/>
                <a:cs typeface="Meiryo UI"/>
              </a:defRPr>
            </a:pPr>
            <a:r>
              <a:rPr sz="1702" b="0">
                <a:solidFill>
                  <a:srgbClr val="506579"/>
                </a:solidFill>
                <a:latin typeface="Meiryo UI"/>
                <a:ea typeface="Meiryo UI"/>
                <a:cs typeface="Meiryo UI"/>
              </a:rPr>
              <a:t>Alert番号 10–40　根拠欄の文字はリンク</a:t>
            </a:r>
          </a:p>
        </p:txBody>
      </p:sp>
      <p:sp>
        <p:nvSpPr>
          <p:cNvPr id="3" name="text-3">
            <a:extLst xmlns:a="http://schemas.openxmlformats.org/drawingml/2006/main">
              <a:ext uri="{FF2B5EF4-FFF2-40B4-BE49-F238E27FC236}">
                <a16:creationId xmlns:a16="http://schemas.microsoft.com/office/drawing/2014/main" id="{0CC85519-7654-4C2A-BEEE-03DE093BE05C}"/>
              </a:ext>
            </a:extLst>
          </p:cNvPr>
          <p:cNvSpPr>
            <a:spLocks xmlns:a="http://schemas.openxmlformats.org/drawingml/2006/main" noGrp="1"/>
          </p:cNvSpPr>
          <p:nvPr/>
        </p:nvSpPr>
        <p:spPr>
          <a:xfrm xmlns:a="http://schemas.openxmlformats.org/drawingml/2006/main">
            <a:off x="11049000" y="644842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06579"/>
                </a:solidFill>
                <a:latin typeface="Meiryo UI"/>
                <a:ea typeface="Meiryo UI"/>
                <a:cs typeface="Meiryo UI"/>
              </a:defRPr>
            </a:defPPr>
          </a:lstStyle>
          <a:p xmlns:a="http://schemas.openxmlformats.org/drawingml/2006/main">
            <a:pPr>
              <a:lnSpc>
                <a:spcPct val="110000"/>
              </a:lnSpc>
              <a:buNone/>
              <a:defRPr sz="1275" b="0">
                <a:solidFill>
                  <a:srgbClr val="506579"/>
                </a:solidFill>
                <a:latin typeface="Meiryo UI"/>
                <a:ea typeface="Meiryo UI"/>
                <a:cs typeface="Meiryo UI"/>
              </a:defRPr>
            </a:pPr>
            <a:r>
              <a:rPr sz="1275" b="0">
                <a:solidFill>
                  <a:srgbClr val="506579"/>
                </a:solidFill>
                <a:latin typeface="Meiryo UI"/>
                <a:ea typeface="Meiryo UI"/>
                <a:cs typeface="Meiryo UI"/>
              </a:rPr>
              <a:t>05</a:t>
            </a:r>
          </a:p>
        </p:txBody>
      </p:sp>
      <p:graphicFrame>
        <p:nvGraphicFramePr>
          <p:cNvPr id="4" name="">
            <a:extLst xmlns:a="http://schemas.openxmlformats.org/drawingml/2006/main">
              <a:ext uri="{FF2B5EF4-FFF2-40B4-BE49-F238E27FC236}">
                <a16:creationId xmlns:a16="http://schemas.microsoft.com/office/drawing/2014/main" id="{25D41689-56E4-4B42-B764-CB95DBC24E9E}"/>
              </a:ext>
            </a:extLst>
          </p:cNvPr>
          <p:cNvGraphicFramePr/>
          <p:nvPr/>
        </p:nvGraphicFramePr>
        <p:xfrm>
          <a:off xmlns:a="http://schemas.openxmlformats.org/drawingml/2006/main" x="609600" y="1504950"/>
          <a:ext xmlns:a="http://schemas.openxmlformats.org/drawingml/2006/main" cx="10972800" cy="4724400"/>
        </p:xfrm>
        <a:graphic xmlns:a="http://schemas.openxmlformats.org/drawingml/2006/main">
          <a:graphicData uri="http://schemas.openxmlformats.org/drawingml/2006/table">
            <a:tbl>
              <a:tblPr firstRow="0" bandRow="0"/>
              <a:tblGrid>
                <a:gridCol w="2724150"/>
                <a:gridCol w="2324100"/>
                <a:gridCol w="4667250"/>
                <a:gridCol w="1257300"/>
              </a:tblGrid>
              <a:tr h="457200">
                <a:tc>
                  <a:txBody>
                    <a:bodyPr wrap="square" lIns="114300" tIns="85725" rIns="114300" bIns="85725">
                      <a:noAutofit/>
                    </a:bodyPr>
                    <a:lstStyle/>
                    <a:p>
                      <a:pPr>
                        <a:lnSpc>
                          <a:spcPct val="105000"/>
                        </a:lnSpc>
                        <a:buNone/>
                      </a:pPr>
                      <a:r>
                        <a:rPr sz="1725" b="1">
                          <a:solidFill>
                            <a:srgbClr val="FFFFFF"/>
                          </a:solidFill>
                          <a:latin typeface="Meiryo UI"/>
                          <a:ea typeface="Meiryo UI"/>
                          <a:cs typeface="Meiryo UI"/>
                        </a:rPr>
                        <a:t>番号・Alert</a:t>
                      </a:r>
                    </a:p>
                  </a:txBody>
                  <a:tcPr marL="91440" marR="91440" marT="45720" marB="45720" anchor="ctr">
                    <a:lnL w="6668">
                      <a:solidFill>
                        <a:srgbClr val="D7E0E8"/>
                      </a:solidFill>
                      <a:prstDash val="solid"/>
                    </a:lnL>
                    <a:lnR w="6668">
                      <a:solidFill>
                        <a:srgbClr val="D7E0E8"/>
                      </a:solidFill>
                      <a:prstDash val="solid"/>
                    </a:lnR>
                    <a:lnT w="6668">
                      <a:solidFill>
                        <a:srgbClr val="D7E0E8"/>
                      </a:solidFill>
                      <a:prstDash val="solid"/>
                    </a:lnT>
                    <a:lnB w="6668">
                      <a:solidFill>
                        <a:srgbClr val="D7E0E8"/>
                      </a:solidFill>
                      <a:prstDash val="solid"/>
                    </a:lnB>
                    <a:solidFill>
                      <a:srgbClr val="152D48"/>
                    </a:solidFill>
                  </a:tcPr>
                </a:tc>
                <a:tc>
                  <a:txBody>
                    <a:bodyPr wrap="square" lIns="114300" tIns="85725" rIns="114300" bIns="85725">
                      <a:noAutofit/>
                    </a:bodyPr>
                    <a:lstStyle/>
                    <a:p>
                      <a:pPr>
                        <a:lnSpc>
                          <a:spcPct val="105000"/>
                        </a:lnSpc>
                        <a:buNone/>
                      </a:pPr>
                      <a:r>
                        <a:rPr sz="1725" b="1">
                          <a:solidFill>
                            <a:srgbClr val="FFFFFF"/>
                          </a:solidFill>
                          <a:latin typeface="Meiryo UI"/>
                          <a:ea typeface="Meiryo UI"/>
                          <a:cs typeface="Meiryo UI"/>
                        </a:rPr>
                        <a:t>RFC違反の判定</a:t>
                      </a:r>
                    </a:p>
                  </a:txBody>
                  <a:tcPr marL="91440" marR="91440" marT="45720" marB="45720" anchor="ctr">
                    <a:lnR w="6668">
                      <a:solidFill>
                        <a:srgbClr val="D7E0E8"/>
                      </a:solidFill>
                      <a:prstDash val="solid"/>
                    </a:lnR>
                    <a:lnT w="6668">
                      <a:solidFill>
                        <a:srgbClr val="D7E0E8"/>
                      </a:solidFill>
                      <a:prstDash val="solid"/>
                    </a:lnT>
                    <a:lnB w="6668">
                      <a:solidFill>
                        <a:srgbClr val="D7E0E8"/>
                      </a:solidFill>
                      <a:prstDash val="solid"/>
                    </a:lnB>
                    <a:solidFill>
                      <a:srgbClr val="152D48"/>
                    </a:solidFill>
                  </a:tcPr>
                </a:tc>
                <a:tc>
                  <a:txBody>
                    <a:bodyPr wrap="square" lIns="114300" tIns="85725" rIns="114300" bIns="85725">
                      <a:noAutofit/>
                    </a:bodyPr>
                    <a:lstStyle/>
                    <a:p>
                      <a:pPr>
                        <a:lnSpc>
                          <a:spcPct val="105000"/>
                        </a:lnSpc>
                        <a:buNone/>
                      </a:pPr>
                      <a:r>
                        <a:rPr sz="1725" b="1">
                          <a:solidFill>
                            <a:srgbClr val="FFFFFF"/>
                          </a:solidFill>
                          <a:latin typeface="Meiryo UI"/>
                          <a:ea typeface="Meiryo UI"/>
                          <a:cs typeface="Meiryo UI"/>
                        </a:rPr>
                        <a:t>確認した条件と判定理由</a:t>
                      </a:r>
                    </a:p>
                  </a:txBody>
                  <a:tcPr marL="91440" marR="91440" marT="45720" marB="45720" anchor="ctr">
                    <a:lnR w="6668">
                      <a:solidFill>
                        <a:srgbClr val="D7E0E8"/>
                      </a:solidFill>
                      <a:prstDash val="solid"/>
                    </a:lnR>
                    <a:lnT w="6668">
                      <a:solidFill>
                        <a:srgbClr val="D7E0E8"/>
                      </a:solidFill>
                      <a:prstDash val="solid"/>
                    </a:lnT>
                    <a:lnB w="6668">
                      <a:solidFill>
                        <a:srgbClr val="D7E0E8"/>
                      </a:solidFill>
                      <a:prstDash val="solid"/>
                    </a:lnB>
                    <a:solidFill>
                      <a:srgbClr val="152D48"/>
                    </a:solidFill>
                  </a:tcPr>
                </a:tc>
                <a:tc>
                  <a:txBody>
                    <a:bodyPr wrap="square" lIns="114300" tIns="85725" rIns="114300" bIns="85725">
                      <a:noAutofit/>
                    </a:bodyPr>
                    <a:lstStyle/>
                    <a:p>
                      <a:pPr>
                        <a:lnSpc>
                          <a:spcPct val="105000"/>
                        </a:lnSpc>
                        <a:buNone/>
                      </a:pPr>
                      <a:r>
                        <a:rPr sz="1725" b="1">
                          <a:solidFill>
                            <a:srgbClr val="FFFFFF"/>
                          </a:solidFill>
                          <a:latin typeface="Meiryo UI"/>
                          <a:ea typeface="Meiryo UI"/>
                          <a:cs typeface="Meiryo UI"/>
                        </a:rPr>
                        <a:t>根拠</a:t>
                      </a:r>
                    </a:p>
                  </a:txBody>
                  <a:tcPr marL="91440" marR="91440" marT="45720" marB="45720" anchor="ctr">
                    <a:lnR w="6668">
                      <a:solidFill>
                        <a:srgbClr val="D7E0E8"/>
                      </a:solidFill>
                      <a:prstDash val="solid"/>
                    </a:lnR>
                    <a:lnT w="6668">
                      <a:solidFill>
                        <a:srgbClr val="D7E0E8"/>
                      </a:solidFill>
                      <a:prstDash val="solid"/>
                    </a:lnT>
                    <a:lnB w="6668">
                      <a:solidFill>
                        <a:srgbClr val="D7E0E8"/>
                      </a:solidFill>
                      <a:prstDash val="solid"/>
                    </a:lnB>
                    <a:solidFill>
                      <a:srgbClr val="152D48"/>
                    </a:solidFill>
                  </a:tcPr>
                </a:tc>
              </a:tr>
              <a:tr h="1066800">
                <a:tc>
                  <a:txBody>
                    <a:bodyPr wrap="square" lIns="114300" tIns="95250" rIns="114300" bIns="95250">
                      <a:noAutofit/>
                    </a:bodyPr>
                    <a:lstStyle/>
                    <a:p>
                      <a:pPr>
                        <a:lnSpc>
                          <a:spcPct val="100000"/>
                        </a:lnSpc>
                        <a:buNone/>
                      </a:pPr>
                      <a:r>
                        <a:rPr sz="1725" b="1">
                          <a:solidFill>
                            <a:srgbClr val="152D48"/>
                          </a:solidFill>
                          <a:latin typeface="Meiryo UI"/>
                          <a:ea typeface="Meiryo UI"/>
                          <a:cs typeface="Meiryo UI"/>
                        </a:rPr>
                        <a:t>10</a:t>
                      </a:r>
                    </a:p>
                    <a:p>
                      <a:pPr>
                        <a:lnSpc>
                          <a:spcPct val="100000"/>
                        </a:lnSpc>
                        <a:buNone/>
                      </a:pPr>
                      <a:r>
                        <a:rPr sz="1725" b="1">
                          <a:solidFill>
                            <a:srgbClr val="152D48"/>
                          </a:solidFill>
                          <a:latin typeface="Meiryo UI"/>
                          <a:ea typeface="Meiryo UI"/>
                          <a:cs typeface="Meiryo UI"/>
                        </a:rPr>
                        <a:t>unexpected_message</a:t>
                      </a:r>
                    </a:p>
                  </a:txBody>
                  <a:tcPr marL="91440" marR="91440" marT="45720" marB="45720" anchor="ctr">
                    <a:lnL w="6668">
                      <a:solidFill>
                        <a:srgbClr val="D7E0E8"/>
                      </a:solidFill>
                      <a:prstDash val="solid"/>
                    </a:lnL>
                    <a:lnR w="6668">
                      <a:solidFill>
                        <a:srgbClr val="D7E0E8"/>
                      </a:solidFill>
                      <a:prstDash val="solid"/>
                    </a:lnR>
                    <a:lnB w="6668">
                      <a:solidFill>
                        <a:srgbClr val="D7E0E8"/>
                      </a:solidFill>
                      <a:prstDash val="solid"/>
                    </a:lnB>
                    <a:solidFill>
                      <a:srgbClr val="FFFFFF"/>
                    </a:solidFill>
                  </a:tcPr>
                </a:tc>
                <a:tc>
                  <a:txBody>
                    <a:bodyPr wrap="square" lIns="114300" tIns="95250" rIns="114300" bIns="95250">
                      <a:noAutofit/>
                    </a:bodyPr>
                    <a:lstStyle/>
                    <a:p>
                      <a:pPr>
                        <a:lnSpc>
                          <a:spcPct val="108000"/>
                        </a:lnSpc>
                        <a:buNone/>
                      </a:pPr>
                      <a:r>
                        <a:rPr sz="1725" b="1">
                          <a:solidFill>
                            <a:srgbClr val="A72C35"/>
                          </a:solidFill>
                          <a:latin typeface="Meiryo UI"/>
                          <a:ea typeface="Meiryo UI"/>
                          <a:cs typeface="Meiryo UI"/>
                        </a:rPr>
                        <a:t>違反あり</a:t>
                      </a:r>
                    </a:p>
                    <a:p>
                      <a:pPr>
                        <a:lnSpc>
                          <a:spcPct val="108000"/>
                        </a:lnSpc>
                        <a:buNone/>
                      </a:pPr>
                      <a:r>
                        <a:rPr sz="1725" b="1">
                          <a:solidFill>
                            <a:srgbClr val="A72C35"/>
                          </a:solidFill>
                          <a:latin typeface="Meiryo UI"/>
                          <a:ea typeface="Meiryo UI"/>
                          <a:cs typeface="Meiryo UI"/>
                        </a:rPr>
                        <a:t>MUST不一致</a:t>
                      </a:r>
                    </a:p>
                  </a:txBody>
                  <a:tcPr marL="91440" marR="91440" marT="45720" marB="45720" anchor="ctr">
                    <a:lnR w="6668">
                      <a:solidFill>
                        <a:srgbClr val="D7E0E8"/>
                      </a:solidFill>
                      <a:prstDash val="solid"/>
                    </a:lnR>
                    <a:lnB w="6668">
                      <a:solidFill>
                        <a:srgbClr val="D7E0E8"/>
                      </a:solidFill>
                      <a:prstDash val="solid"/>
                    </a:lnB>
                    <a:solidFill>
                      <a:srgbClr val="FFFFFF"/>
                    </a:solidFill>
                  </a:tcPr>
                </a:tc>
                <a:tc>
                  <a:txBody>
                    <a:bodyPr wrap="square" lIns="114300" tIns="85725" rIns="114300" bIns="85725">
                      <a:noAutofit/>
                    </a:bodyPr>
                    <a:lstStyle/>
                    <a:p>
                      <a:pPr>
                        <a:lnSpc>
                          <a:spcPct val="105000"/>
                        </a:lnSpc>
                        <a:buNone/>
                      </a:pPr>
                      <a:r>
                        <a:rPr sz="1725" b="0">
                          <a:solidFill>
                            <a:srgbClr val="1B2E43"/>
                          </a:solidFill>
                          <a:latin typeface="Meiryo UI"/>
                          <a:ea typeface="Meiryo UI"/>
                          <a:cs typeface="Meiryo UI"/>
                        </a:rPr>
                        <a:t>復号後にcontent typeがない場合、</a:t>
                      </a:r>
                    </a:p>
                    <a:p>
                      <a:pPr>
                        <a:lnSpc>
                          <a:spcPct val="105000"/>
                        </a:lnSpc>
                        <a:buNone/>
                      </a:pPr>
                      <a:r>
                        <a:rPr sz="1725" b="0">
                          <a:solidFill>
                            <a:srgbClr val="1B2E43"/>
                          </a:solidFill>
                          <a:latin typeface="Meiryo UI"/>
                          <a:ea typeface="Meiryo UI"/>
                          <a:cs typeface="Meiryo UI"/>
                        </a:rPr>
                        <a:t>指定の10に対し40／20を選ぶ。</a:t>
                      </a:r>
                    </a:p>
                  </a:txBody>
                  <a:tcPr marL="91440" marR="91440" marT="45720" marB="45720" anchor="ctr">
                    <a:lnR w="6668">
                      <a:solidFill>
                        <a:srgbClr val="D7E0E8"/>
                      </a:solidFill>
                      <a:prstDash val="solid"/>
                    </a:lnR>
                    <a:lnB w="6668">
                      <a:solidFill>
                        <a:srgbClr val="D7E0E8"/>
                      </a:solidFill>
                      <a:prstDash val="solid"/>
                    </a:lnB>
                    <a:solidFill>
                      <a:srgbClr val="FFFFFF"/>
                    </a:solidFill>
                  </a:tcPr>
                </a:tc>
                <a:tc>
                  <a:txBody>
                    <a:bodyPr wrap="square" lIns="95250" tIns="76200" rIns="95250" bIns="76200">
                      <a:noAutofit/>
                    </a:bodyPr>
                    <a:lstStyle/>
                    <a:p>
                      <a:r>
                        <a:rPr sz="1725" b="0" u="sng">
                          <a:solidFill>
                            <a:srgbClr val="176DA5"/>
                          </a:solidFill>
                          <a:latin typeface="Meiryo UI"/>
                          <a:ea typeface="Meiryo UI"/>
                          <a:cs typeface="Meiryo UI"/>
                          <a:hlinkClick xmlns:r="http://schemas.openxmlformats.org/officeDocument/2006/relationships" r:id="R655cbbb912634063"/>
                        </a:rPr>
                        <a:t>§5.4</a:t>
                      </a:r>
                    </a:p>
                    <a:p>
                      <a:r>
                        <a:rPr sz="1725" b="0" u="sng">
                          <a:solidFill>
                            <a:srgbClr val="176DA5"/>
                          </a:solidFill>
                          <a:latin typeface="Meiryo UI"/>
                          <a:ea typeface="Meiryo UI"/>
                          <a:cs typeface="Meiryo UI"/>
                          <a:hlinkClick xmlns:r="http://schemas.openxmlformats.org/officeDocument/2006/relationships" r:id="R09546a19ce234a72"/>
                        </a:rPr>
                        <a:t>ソース</a:t>
                      </a:r>
                    </a:p>
                    <a:p>
                      <a:r>
                        <a:rPr sz="1725" b="0" u="sng">
                          <a:solidFill>
                            <a:srgbClr val="176DA5"/>
                          </a:solidFill>
                          <a:latin typeface="Meiryo UI"/>
                          <a:ea typeface="Meiryo UI"/>
                          <a:cs typeface="Meiryo UI"/>
                          <a:hlinkClick xmlns:r="http://schemas.openxmlformats.org/officeDocument/2006/relationships" r:id="R03aa4deddcb74793"/>
                        </a:rPr>
                        <a:t>定義</a:t>
                      </a:r>
                    </a:p>
                  </a:txBody>
                  <a:tcPr marL="91440" marR="91440" marT="45720" marB="45720" anchor="ctr">
                    <a:lnR w="6668">
                      <a:solidFill>
                        <a:srgbClr val="D7E0E8"/>
                      </a:solidFill>
                      <a:prstDash val="solid"/>
                    </a:lnR>
                    <a:lnB w="6668">
                      <a:solidFill>
                        <a:srgbClr val="D7E0E8"/>
                      </a:solidFill>
                      <a:prstDash val="solid"/>
                    </a:lnB>
                    <a:solidFill>
                      <a:srgbClr val="FFFFFF"/>
                    </a:solidFill>
                  </a:tcPr>
                </a:tc>
              </a:tr>
              <a:tr h="1066800">
                <a:tc>
                  <a:txBody>
                    <a:bodyPr wrap="square" lIns="114300" tIns="95250" rIns="114300" bIns="95250">
                      <a:noAutofit/>
                    </a:bodyPr>
                    <a:lstStyle/>
                    <a:p>
                      <a:pPr>
                        <a:lnSpc>
                          <a:spcPct val="100000"/>
                        </a:lnSpc>
                        <a:buNone/>
                      </a:pPr>
                      <a:r>
                        <a:rPr sz="1725" b="1">
                          <a:solidFill>
                            <a:srgbClr val="152D48"/>
                          </a:solidFill>
                          <a:latin typeface="Meiryo UI"/>
                          <a:ea typeface="Meiryo UI"/>
                          <a:cs typeface="Meiryo UI"/>
                        </a:rPr>
                        <a:t>20</a:t>
                      </a:r>
                    </a:p>
                    <a:p>
                      <a:pPr>
                        <a:lnSpc>
                          <a:spcPct val="100000"/>
                        </a:lnSpc>
                        <a:buNone/>
                      </a:pPr>
                      <a:r>
                        <a:rPr sz="1725" b="1">
                          <a:solidFill>
                            <a:srgbClr val="152D48"/>
                          </a:solidFill>
                          <a:latin typeface="Meiryo UI"/>
                          <a:ea typeface="Meiryo UI"/>
                          <a:cs typeface="Meiryo UI"/>
                        </a:rPr>
                        <a:t>bad_record_mac</a:t>
                      </a:r>
                    </a:p>
                  </a:txBody>
                  <a:tcPr marL="91440" marR="91440" marT="45720" marB="45720" anchor="ctr">
                    <a:lnL w="6668">
                      <a:solidFill>
                        <a:srgbClr val="D7E0E8"/>
                      </a:solidFill>
                      <a:prstDash val="solid"/>
                    </a:lnL>
                    <a:lnR w="6668">
                      <a:solidFill>
                        <a:srgbClr val="D7E0E8"/>
                      </a:solidFill>
                      <a:prstDash val="solid"/>
                    </a:lnR>
                    <a:lnB w="6668">
                      <a:solidFill>
                        <a:srgbClr val="D7E0E8"/>
                      </a:solidFill>
                      <a:prstDash val="solid"/>
                    </a:lnB>
                    <a:solidFill>
                      <a:srgbClr val="F4F7FA"/>
                    </a:solidFill>
                  </a:tcPr>
                </a:tc>
                <a:tc>
                  <a:txBody>
                    <a:bodyPr wrap="square" lIns="114300" tIns="95250" rIns="114300" bIns="95250">
                      <a:noAutofit/>
                    </a:bodyPr>
                    <a:lstStyle/>
                    <a:p>
                      <a:pPr>
                        <a:lnSpc>
                          <a:spcPct val="108000"/>
                        </a:lnSpc>
                        <a:buNone/>
                      </a:pPr>
                      <a:r>
                        <a:rPr sz="1725" b="1">
                          <a:solidFill>
                            <a:srgbClr val="A72C35"/>
                          </a:solidFill>
                          <a:latin typeface="Meiryo UI"/>
                          <a:ea typeface="Meiryo UI"/>
                          <a:cs typeface="Meiryo UI"/>
                        </a:rPr>
                        <a:t>違反あり</a:t>
                      </a:r>
                    </a:p>
                    <a:p>
                      <a:pPr>
                        <a:lnSpc>
                          <a:spcPct val="108000"/>
                        </a:lnSpc>
                        <a:buNone/>
                      </a:pPr>
                      <a:r>
                        <a:rPr sz="1725" b="1">
                          <a:solidFill>
                            <a:srgbClr val="A72C35"/>
                          </a:solidFill>
                          <a:latin typeface="Meiryo UI"/>
                          <a:ea typeface="Meiryo UI"/>
                          <a:cs typeface="Meiryo UI"/>
                        </a:rPr>
                        <a:t>MUST不一致</a:t>
                      </a:r>
                    </a:p>
                  </a:txBody>
                  <a:tcPr marL="91440" marR="91440" marT="45720" marB="45720" anchor="ctr">
                    <a:lnR w="6668">
                      <a:solidFill>
                        <a:srgbClr val="D7E0E8"/>
                      </a:solidFill>
                      <a:prstDash val="solid"/>
                    </a:lnR>
                    <a:lnB w="6668">
                      <a:solidFill>
                        <a:srgbClr val="D7E0E8"/>
                      </a:solidFill>
                      <a:prstDash val="solid"/>
                    </a:lnB>
                    <a:solidFill>
                      <a:srgbClr val="F4F7FA"/>
                    </a:solidFill>
                  </a:tcPr>
                </a:tc>
                <a:tc>
                  <a:txBody>
                    <a:bodyPr wrap="square" lIns="114300" tIns="85725" rIns="114300" bIns="85725">
                      <a:noAutofit/>
                    </a:bodyPr>
                    <a:lstStyle/>
                    <a:p>
                      <a:pPr>
                        <a:lnSpc>
                          <a:spcPct val="105000"/>
                        </a:lnSpc>
                        <a:buNone/>
                      </a:pPr>
                      <a:r>
                        <a:rPr sz="1725" b="0">
                          <a:solidFill>
                            <a:srgbClr val="1B2E43"/>
                          </a:solidFill>
                          <a:latin typeface="Meiryo UI"/>
                          <a:ea typeface="Meiryo UI"/>
                          <a:cs typeface="Meiryo UI"/>
                        </a:rPr>
                        <a:t>短過ぎるAEAD暗号文の保護解除失敗で、</a:t>
                      </a:r>
                    </a:p>
                    <a:p>
                      <a:pPr>
                        <a:lnSpc>
                          <a:spcPct val="105000"/>
                        </a:lnSpc>
                        <a:buNone/>
                      </a:pPr>
                      <a:r>
                        <a:rPr sz="1725" b="0">
                          <a:solidFill>
                            <a:srgbClr val="1B2E43"/>
                          </a:solidFill>
                          <a:latin typeface="Meiryo UI"/>
                          <a:ea typeface="Meiryo UI"/>
                          <a:cs typeface="Meiryo UI"/>
                        </a:rPr>
                        <a:t>指定の20に対し40を選ぶ分岐がある。</a:t>
                      </a:r>
                    </a:p>
                  </a:txBody>
                  <a:tcPr marL="91440" marR="91440" marT="45720" marB="45720" anchor="ctr">
                    <a:lnR w="6668">
                      <a:solidFill>
                        <a:srgbClr val="D7E0E8"/>
                      </a:solidFill>
                      <a:prstDash val="solid"/>
                    </a:lnR>
                    <a:lnB w="6668">
                      <a:solidFill>
                        <a:srgbClr val="D7E0E8"/>
                      </a:solidFill>
                      <a:prstDash val="solid"/>
                    </a:lnB>
                    <a:solidFill>
                      <a:srgbClr val="F4F7FA"/>
                    </a:solidFill>
                  </a:tcPr>
                </a:tc>
                <a:tc>
                  <a:txBody>
                    <a:bodyPr wrap="square" lIns="95250" tIns="76200" rIns="95250" bIns="76200">
                      <a:noAutofit/>
                    </a:bodyPr>
                    <a:lstStyle/>
                    <a:p>
                      <a:r>
                        <a:rPr sz="1725" b="0" u="sng">
                          <a:solidFill>
                            <a:srgbClr val="176DA5"/>
                          </a:solidFill>
                          <a:latin typeface="Meiryo UI"/>
                          <a:ea typeface="Meiryo UI"/>
                          <a:cs typeface="Meiryo UI"/>
                          <a:hlinkClick xmlns:r="http://schemas.openxmlformats.org/officeDocument/2006/relationships" r:id="R4e14cac0b1ef4ebb"/>
                        </a:rPr>
                        <a:t>§5.2</a:t>
                      </a:r>
                    </a:p>
                    <a:p>
                      <a:r>
                        <a:rPr sz="1725" b="0" u="sng">
                          <a:solidFill>
                            <a:srgbClr val="176DA5"/>
                          </a:solidFill>
                          <a:latin typeface="Meiryo UI"/>
                          <a:ea typeface="Meiryo UI"/>
                          <a:cs typeface="Meiryo UI"/>
                          <a:hlinkClick xmlns:r="http://schemas.openxmlformats.org/officeDocument/2006/relationships" r:id="R55f45215cbca4310"/>
                        </a:rPr>
                        <a:t>ソース</a:t>
                      </a:r>
                    </a:p>
                    <a:p>
                      <a:r>
                        <a:rPr sz="1725" b="0" u="sng">
                          <a:solidFill>
                            <a:srgbClr val="176DA5"/>
                          </a:solidFill>
                          <a:latin typeface="Meiryo UI"/>
                          <a:ea typeface="Meiryo UI"/>
                          <a:cs typeface="Meiryo UI"/>
                          <a:hlinkClick xmlns:r="http://schemas.openxmlformats.org/officeDocument/2006/relationships" r:id="Re1cf457aacea45ae"/>
                        </a:rPr>
                        <a:t>定義</a:t>
                      </a:r>
                    </a:p>
                  </a:txBody>
                  <a:tcPr marL="91440" marR="91440" marT="45720" marB="45720" anchor="ctr">
                    <a:lnR w="6668">
                      <a:solidFill>
                        <a:srgbClr val="D7E0E8"/>
                      </a:solidFill>
                      <a:prstDash val="solid"/>
                    </a:lnR>
                    <a:lnB w="6668">
                      <a:solidFill>
                        <a:srgbClr val="D7E0E8"/>
                      </a:solidFill>
                      <a:prstDash val="solid"/>
                    </a:lnB>
                    <a:solidFill>
                      <a:srgbClr val="F4F7FA"/>
                    </a:solidFill>
                  </a:tcPr>
                </a:tc>
              </a:tr>
              <a:tr h="1066800">
                <a:tc>
                  <a:txBody>
                    <a:bodyPr wrap="square" lIns="114300" tIns="95250" rIns="114300" bIns="95250">
                      <a:noAutofit/>
                    </a:bodyPr>
                    <a:lstStyle/>
                    <a:p>
                      <a:pPr>
                        <a:lnSpc>
                          <a:spcPct val="100000"/>
                        </a:lnSpc>
                        <a:buNone/>
                      </a:pPr>
                      <a:r>
                        <a:rPr sz="1725" b="1">
                          <a:solidFill>
                            <a:srgbClr val="152D48"/>
                          </a:solidFill>
                          <a:latin typeface="Meiryo UI"/>
                          <a:ea typeface="Meiryo UI"/>
                          <a:cs typeface="Meiryo UI"/>
                        </a:rPr>
                        <a:t>22</a:t>
                      </a:r>
                    </a:p>
                    <a:p>
                      <a:pPr>
                        <a:lnSpc>
                          <a:spcPct val="100000"/>
                        </a:lnSpc>
                        <a:buNone/>
                      </a:pPr>
                      <a:r>
                        <a:rPr sz="1725" b="1">
                          <a:solidFill>
                            <a:srgbClr val="152D48"/>
                          </a:solidFill>
                          <a:latin typeface="Meiryo UI"/>
                          <a:ea typeface="Meiryo UI"/>
                          <a:cs typeface="Meiryo UI"/>
                        </a:rPr>
                        <a:t>record_overflow</a:t>
                      </a:r>
                    </a:p>
                  </a:txBody>
                  <a:tcPr marL="91440" marR="91440" marT="45720" marB="45720" anchor="ctr">
                    <a:lnL w="6668">
                      <a:solidFill>
                        <a:srgbClr val="D7E0E8"/>
                      </a:solidFill>
                      <a:prstDash val="solid"/>
                    </a:lnL>
                    <a:lnR w="6668">
                      <a:solidFill>
                        <a:srgbClr val="D7E0E8"/>
                      </a:solidFill>
                      <a:prstDash val="solid"/>
                    </a:lnR>
                    <a:lnB w="6668">
                      <a:solidFill>
                        <a:srgbClr val="D7E0E8"/>
                      </a:solidFill>
                      <a:prstDash val="solid"/>
                    </a:lnB>
                    <a:solidFill>
                      <a:srgbClr val="FFFFFF"/>
                    </a:solidFill>
                  </a:tcPr>
                </a:tc>
                <a:tc>
                  <a:txBody>
                    <a:bodyPr wrap="square" lIns="114300" tIns="95250" rIns="114300" bIns="95250">
                      <a:noAutofit/>
                    </a:bodyPr>
                    <a:lstStyle/>
                    <a:p>
                      <a:pPr>
                        <a:lnSpc>
                          <a:spcPct val="108000"/>
                        </a:lnSpc>
                        <a:buNone/>
                      </a:pPr>
                      <a:r>
                        <a:rPr sz="1725" b="1">
                          <a:solidFill>
                            <a:srgbClr val="A72C35"/>
                          </a:solidFill>
                          <a:latin typeface="Meiryo UI"/>
                          <a:ea typeface="Meiryo UI"/>
                          <a:cs typeface="Meiryo UI"/>
                        </a:rPr>
                        <a:t>違反あり</a:t>
                      </a:r>
                    </a:p>
                    <a:p>
                      <a:pPr>
                        <a:lnSpc>
                          <a:spcPct val="108000"/>
                        </a:lnSpc>
                        <a:buNone/>
                      </a:pPr>
                      <a:r>
                        <a:rPr sz="1725" b="1">
                          <a:solidFill>
                            <a:srgbClr val="A72C35"/>
                          </a:solidFill>
                          <a:latin typeface="Meiryo UI"/>
                          <a:ea typeface="Meiryo UI"/>
                          <a:cs typeface="Meiryo UI"/>
                        </a:rPr>
                        <a:t>MUST不一致</a:t>
                      </a:r>
                    </a:p>
                  </a:txBody>
                  <a:tcPr marL="91440" marR="91440" marT="45720" marB="45720" anchor="ctr">
                    <a:lnR w="6668">
                      <a:solidFill>
                        <a:srgbClr val="D7E0E8"/>
                      </a:solidFill>
                      <a:prstDash val="solid"/>
                    </a:lnR>
                    <a:lnB w="6668">
                      <a:solidFill>
                        <a:srgbClr val="D7E0E8"/>
                      </a:solidFill>
                      <a:prstDash val="solid"/>
                    </a:lnB>
                    <a:solidFill>
                      <a:srgbClr val="FFFFFF"/>
                    </a:solidFill>
                  </a:tcPr>
                </a:tc>
                <a:tc>
                  <a:txBody>
                    <a:bodyPr wrap="square" lIns="114300" tIns="85725" rIns="114300" bIns="85725">
                      <a:noAutofit/>
                    </a:bodyPr>
                    <a:lstStyle/>
                    <a:p>
                      <a:pPr>
                        <a:lnSpc>
                          <a:spcPct val="105000"/>
                        </a:lnSpc>
                        <a:buNone/>
                      </a:pPr>
                      <a:r>
                        <a:rPr sz="1725" b="0">
                          <a:solidFill>
                            <a:srgbClr val="1B2E43"/>
                          </a:solidFill>
                          <a:latin typeface="Meiryo UI"/>
                          <a:ea typeface="Meiryo UI"/>
                          <a:cs typeface="Meiryo UI"/>
                        </a:rPr>
                        <a:t>長さ超過時の22を選ぶ経路がない。</a:t>
                      </a:r>
                    </a:p>
                    <a:p>
                      <a:pPr>
                        <a:lnSpc>
                          <a:spcPct val="105000"/>
                        </a:lnSpc>
                        <a:buNone/>
                      </a:pPr>
                      <a:r>
                        <a:rPr sz="1725" b="0">
                          <a:solidFill>
                            <a:srgbClr val="1B2E43"/>
                          </a:solidFill>
                          <a:latin typeface="Meiryo UI"/>
                          <a:ea typeface="Meiryo UI"/>
                          <a:cs typeface="Meiryo UI"/>
                        </a:rPr>
                        <a:t>大きい互換上限の超過時も10へ進む。</a:t>
                      </a:r>
                    </a:p>
                  </a:txBody>
                  <a:tcPr marL="91440" marR="91440" marT="45720" marB="45720" anchor="ctr">
                    <a:lnR w="6668">
                      <a:solidFill>
                        <a:srgbClr val="D7E0E8"/>
                      </a:solidFill>
                      <a:prstDash val="solid"/>
                    </a:lnR>
                    <a:lnB w="6668">
                      <a:solidFill>
                        <a:srgbClr val="D7E0E8"/>
                      </a:solidFill>
                      <a:prstDash val="solid"/>
                    </a:lnB>
                    <a:solidFill>
                      <a:srgbClr val="FFFFFF"/>
                    </a:solidFill>
                  </a:tcPr>
                </a:tc>
                <a:tc>
                  <a:txBody>
                    <a:bodyPr wrap="square" lIns="95250" tIns="76200" rIns="95250" bIns="76200">
                      <a:noAutofit/>
                    </a:bodyPr>
                    <a:lstStyle/>
                    <a:p>
                      <a:r>
                        <a:rPr sz="1725" b="0" u="sng">
                          <a:solidFill>
                            <a:srgbClr val="176DA5"/>
                          </a:solidFill>
                          <a:latin typeface="Meiryo UI"/>
                          <a:ea typeface="Meiryo UI"/>
                          <a:cs typeface="Meiryo UI"/>
                          <a:hlinkClick xmlns:r="http://schemas.openxmlformats.org/officeDocument/2006/relationships" r:id="R3e04996d36684a14"/>
                        </a:rPr>
                        <a:t>§5.1</a:t>
                      </a:r>
                    </a:p>
                    <a:p>
                      <a:r>
                        <a:rPr sz="1725" b="0" u="sng">
                          <a:solidFill>
                            <a:srgbClr val="176DA5"/>
                          </a:solidFill>
                          <a:latin typeface="Meiryo UI"/>
                          <a:ea typeface="Meiryo UI"/>
                          <a:cs typeface="Meiryo UI"/>
                          <a:hlinkClick xmlns:r="http://schemas.openxmlformats.org/officeDocument/2006/relationships" r:id="Rb0ae59c668744d77"/>
                        </a:rPr>
                        <a:t>ソース</a:t>
                      </a:r>
                    </a:p>
                    <a:p>
                      <a:r>
                        <a:rPr sz="1725" b="0" u="sng">
                          <a:solidFill>
                            <a:srgbClr val="176DA5"/>
                          </a:solidFill>
                          <a:latin typeface="Meiryo UI"/>
                          <a:ea typeface="Meiryo UI"/>
                          <a:cs typeface="Meiryo UI"/>
                          <a:hlinkClick xmlns:r="http://schemas.openxmlformats.org/officeDocument/2006/relationships" r:id="R81700a5e3f7d447f"/>
                        </a:rPr>
                        <a:t>定義</a:t>
                      </a:r>
                    </a:p>
                  </a:txBody>
                  <a:tcPr marL="91440" marR="91440" marT="45720" marB="45720" anchor="ctr">
                    <a:lnR w="6668">
                      <a:solidFill>
                        <a:srgbClr val="D7E0E8"/>
                      </a:solidFill>
                      <a:prstDash val="solid"/>
                    </a:lnR>
                    <a:lnB w="6668">
                      <a:solidFill>
                        <a:srgbClr val="D7E0E8"/>
                      </a:solidFill>
                      <a:prstDash val="solid"/>
                    </a:lnB>
                    <a:solidFill>
                      <a:srgbClr val="FFFFFF"/>
                    </a:solidFill>
                  </a:tcPr>
                </a:tc>
              </a:tr>
              <a:tr h="1066800">
                <a:tc>
                  <a:txBody>
                    <a:bodyPr wrap="square" lIns="114300" tIns="95250" rIns="114300" bIns="95250">
                      <a:noAutofit/>
                    </a:bodyPr>
                    <a:lstStyle/>
                    <a:p>
                      <a:pPr>
                        <a:lnSpc>
                          <a:spcPct val="100000"/>
                        </a:lnSpc>
                        <a:buNone/>
                      </a:pPr>
                      <a:r>
                        <a:rPr sz="1725" b="1">
                          <a:solidFill>
                            <a:srgbClr val="152D48"/>
                          </a:solidFill>
                          <a:latin typeface="Meiryo UI"/>
                          <a:ea typeface="Meiryo UI"/>
                          <a:cs typeface="Meiryo UI"/>
                        </a:rPr>
                        <a:t>40</a:t>
                      </a:r>
                    </a:p>
                    <a:p>
                      <a:pPr>
                        <a:lnSpc>
                          <a:spcPct val="100000"/>
                        </a:lnSpc>
                        <a:buNone/>
                      </a:pPr>
                      <a:r>
                        <a:rPr sz="1725" b="1">
                          <a:solidFill>
                            <a:srgbClr val="152D48"/>
                          </a:solidFill>
                          <a:latin typeface="Meiryo UI"/>
                          <a:ea typeface="Meiryo UI"/>
                          <a:cs typeface="Meiryo UI"/>
                        </a:rPr>
                        <a:t>handshake_failure</a:t>
                      </a:r>
                    </a:p>
                  </a:txBody>
                  <a:tcPr marL="91440" marR="91440" marT="45720" marB="45720" anchor="ctr">
                    <a:lnL w="6668">
                      <a:solidFill>
                        <a:srgbClr val="D7E0E8"/>
                      </a:solidFill>
                      <a:prstDash val="solid"/>
                    </a:lnL>
                    <a:lnR w="6668">
                      <a:solidFill>
                        <a:srgbClr val="D7E0E8"/>
                      </a:solidFill>
                      <a:prstDash val="solid"/>
                    </a:lnR>
                    <a:lnB w="6668">
                      <a:solidFill>
                        <a:srgbClr val="D7E0E8"/>
                      </a:solidFill>
                      <a:prstDash val="solid"/>
                    </a:lnB>
                    <a:solidFill>
                      <a:srgbClr val="F4F7FA"/>
                    </a:solidFill>
                  </a:tcPr>
                </a:tc>
                <a:tc>
                  <a:txBody>
                    <a:bodyPr wrap="square" lIns="114300" tIns="95250" rIns="114300" bIns="95250">
                      <a:noAutofit/>
                    </a:bodyPr>
                    <a:lstStyle/>
                    <a:p>
                      <a:pPr>
                        <a:lnSpc>
                          <a:spcPct val="108000"/>
                        </a:lnSpc>
                        <a:buNone/>
                      </a:pPr>
                      <a:r>
                        <a:rPr sz="1725" b="1">
                          <a:solidFill>
                            <a:srgbClr val="A72C35"/>
                          </a:solidFill>
                          <a:latin typeface="Meiryo UI"/>
                          <a:ea typeface="Meiryo UI"/>
                          <a:cs typeface="Meiryo UI"/>
                        </a:rPr>
                        <a:t>違反あり</a:t>
                      </a:r>
                    </a:p>
                    <a:p>
                      <a:pPr>
                        <a:lnSpc>
                          <a:spcPct val="108000"/>
                        </a:lnSpc>
                        <a:buNone/>
                      </a:pPr>
                      <a:r>
                        <a:rPr sz="1725" b="1">
                          <a:solidFill>
                            <a:srgbClr val="A72C35"/>
                          </a:solidFill>
                          <a:latin typeface="Meiryo UI"/>
                          <a:ea typeface="Meiryo UI"/>
                          <a:cs typeface="Meiryo UI"/>
                        </a:rPr>
                        <a:t>MUST不一致</a:t>
                      </a:r>
                    </a:p>
                  </a:txBody>
                  <a:tcPr marL="91440" marR="91440" marT="45720" marB="45720" anchor="ctr">
                    <a:lnR w="6668">
                      <a:solidFill>
                        <a:srgbClr val="D7E0E8"/>
                      </a:solidFill>
                      <a:prstDash val="solid"/>
                    </a:lnR>
                    <a:lnB w="6668">
                      <a:solidFill>
                        <a:srgbClr val="D7E0E8"/>
                      </a:solidFill>
                      <a:prstDash val="solid"/>
                    </a:lnB>
                    <a:solidFill>
                      <a:srgbClr val="F4F7FA"/>
                    </a:solidFill>
                  </a:tcPr>
                </a:tc>
                <a:tc>
                  <a:txBody>
                    <a:bodyPr wrap="square" lIns="114300" tIns="85725" rIns="114300" bIns="85725">
                      <a:noAutofit/>
                    </a:bodyPr>
                    <a:lstStyle/>
                    <a:p>
                      <a:pPr>
                        <a:lnSpc>
                          <a:spcPct val="105000"/>
                        </a:lnSpc>
                        <a:buNone/>
                      </a:pPr>
                      <a:r>
                        <a:rPr sz="1725" b="0">
                          <a:solidFill>
                            <a:srgbClr val="1B2E43"/>
                          </a:solidFill>
                          <a:latin typeface="Meiryo UI"/>
                          <a:ea typeface="Meiryo UI"/>
                          <a:cs typeface="Meiryo UI"/>
                        </a:rPr>
                        <a:t>CertificateVerifyの署名不一致に40。</a:t>
                      </a:r>
                    </a:p>
                    <a:p>
                      <a:pPr>
                        <a:lnSpc>
                          <a:spcPct val="105000"/>
                        </a:lnSpc>
                        <a:buNone/>
                      </a:pPr>
                      <a:r>
                        <a:rPr sz="1725" b="0">
                          <a:solidFill>
                            <a:srgbClr val="1B2E43"/>
                          </a:solidFill>
                          <a:latin typeface="Meiryo UI"/>
                          <a:ea typeface="Meiryo UI"/>
                          <a:cs typeface="Meiryo UI"/>
                        </a:rPr>
                        <a:t>RFC §4.5.2が指定する番号は51。</a:t>
                      </a:r>
                    </a:p>
                  </a:txBody>
                  <a:tcPr marL="91440" marR="91440" marT="45720" marB="45720" anchor="ctr">
                    <a:lnR w="6668">
                      <a:solidFill>
                        <a:srgbClr val="D7E0E8"/>
                      </a:solidFill>
                      <a:prstDash val="solid"/>
                    </a:lnR>
                    <a:lnB w="6668">
                      <a:solidFill>
                        <a:srgbClr val="D7E0E8"/>
                      </a:solidFill>
                      <a:prstDash val="solid"/>
                    </a:lnB>
                    <a:solidFill>
                      <a:srgbClr val="F4F7FA"/>
                    </a:solidFill>
                  </a:tcPr>
                </a:tc>
                <a:tc>
                  <a:txBody>
                    <a:bodyPr wrap="square" lIns="95250" tIns="76200" rIns="95250" bIns="76200">
                      <a:noAutofit/>
                    </a:bodyPr>
                    <a:lstStyle/>
                    <a:p>
                      <a:r>
                        <a:rPr sz="1725" b="0" u="sng">
                          <a:solidFill>
                            <a:srgbClr val="176DA5"/>
                          </a:solidFill>
                          <a:latin typeface="Meiryo UI"/>
                          <a:ea typeface="Meiryo UI"/>
                          <a:cs typeface="Meiryo UI"/>
                          <a:hlinkClick xmlns:r="http://schemas.openxmlformats.org/officeDocument/2006/relationships" r:id="R8ef82edeee704c65"/>
                        </a:rPr>
                        <a:t>§4.5.2</a:t>
                      </a:r>
                    </a:p>
                    <a:p>
                      <a:r>
                        <a:rPr sz="1725" b="0" u="sng">
                          <a:solidFill>
                            <a:srgbClr val="176DA5"/>
                          </a:solidFill>
                          <a:latin typeface="Meiryo UI"/>
                          <a:ea typeface="Meiryo UI"/>
                          <a:cs typeface="Meiryo UI"/>
                          <a:hlinkClick xmlns:r="http://schemas.openxmlformats.org/officeDocument/2006/relationships" r:id="Rddcd2cdf224b40df"/>
                        </a:rPr>
                        <a:t>ソース</a:t>
                      </a:r>
                    </a:p>
                    <a:p>
                      <a:r>
                        <a:rPr sz="1725" b="0" u="sng">
                          <a:solidFill>
                            <a:srgbClr val="176DA5"/>
                          </a:solidFill>
                          <a:latin typeface="Meiryo UI"/>
                          <a:ea typeface="Meiryo UI"/>
                          <a:cs typeface="Meiryo UI"/>
                          <a:hlinkClick xmlns:r="http://schemas.openxmlformats.org/officeDocument/2006/relationships" r:id="R3ac0fa7c53734694"/>
                        </a:rPr>
                        <a:t>定義</a:t>
                      </a:r>
                    </a:p>
                  </a:txBody>
                  <a:tcPr marL="91440" marR="91440" marT="45720" marB="45720" anchor="ctr">
                    <a:lnR w="6668">
                      <a:solidFill>
                        <a:srgbClr val="D7E0E8"/>
                      </a:solidFill>
                      <a:prstDash val="solid"/>
                    </a:lnR>
                    <a:lnB w="6668">
                      <a:solidFill>
                        <a:srgbClr val="D7E0E8"/>
                      </a:solidFill>
                      <a:prstDash val="solid"/>
                    </a:lnB>
                    <a:solidFill>
                      <a:srgbClr val="F4F7FA"/>
                    </a:solidFill>
                  </a:tcPr>
                </a:tc>
              </a:tr>
            </a:tbl>
          </a:graphicData>
        </a:graphic>
      </p:graphicFrame>
      <p:sp>
        <p:nvSpPr>
          <p:cNvPr id="5" name="text-4">
            <a:extLst xmlns:a="http://schemas.openxmlformats.org/drawingml/2006/main">
              <a:ext uri="{FF2B5EF4-FFF2-40B4-BE49-F238E27FC236}">
                <a16:creationId xmlns:a16="http://schemas.microsoft.com/office/drawing/2014/main" id="{ECE9CAE7-6FDF-4B14-8CDD-C728A9FBCEAD}"/>
              </a:ext>
            </a:extLst>
          </p:cNvPr>
          <p:cNvSpPr>
            <a:spLocks xmlns:a="http://schemas.openxmlformats.org/drawingml/2006/main" noGrp="1"/>
          </p:cNvSpPr>
          <p:nvPr/>
        </p:nvSpPr>
        <p:spPr>
          <a:xfrm xmlns:a="http://schemas.openxmlformats.org/drawingml/2006/main">
            <a:off x="609600" y="63722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06579"/>
                </a:solidFill>
                <a:latin typeface="Meiryo UI"/>
                <a:ea typeface="Meiryo UI"/>
                <a:cs typeface="Meiryo UI"/>
              </a:defRPr>
            </a:defPPr>
          </a:lstStyle>
          <a:p xmlns:a="http://schemas.openxmlformats.org/drawingml/2006/main">
            <a:pPr>
              <a:lnSpc>
                <a:spcPct val="110000"/>
              </a:lnSpc>
              <a:buNone/>
              <a:defRPr sz="1425" b="0">
                <a:solidFill>
                  <a:srgbClr val="506579"/>
                </a:solidFill>
                <a:latin typeface="Meiryo UI"/>
                <a:ea typeface="Meiryo UI"/>
                <a:cs typeface="Meiryo UI"/>
              </a:defRPr>
            </a:pPr>
            <a:r>
              <a:rPr sz="1425" b="0">
                <a:solidFill>
                  <a:srgbClr val="506579"/>
                </a:solidFill>
                <a:latin typeface="Meiryo UI"/>
                <a:ea typeface="Meiryo UI"/>
                <a:cs typeface="Meiryo UI"/>
              </a:rPr>
              <a:t>静的調査。違反未確認は、全条件での適合認定を意味しない。</a:t>
            </a:r>
          </a:p>
        </p:txBody>
      </p:sp>
    </p:spTree>
    <p:extLst>
      <p:ext uri="{BB962C8B-B14F-4D97-AF65-F5344CB8AC3E}">
        <p14:creationId xmlns:p14="http://schemas.microsoft.com/office/powerpoint/2010/main" val="21325604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1">
            <a:extLst xmlns:a="http://schemas.openxmlformats.org/drawingml/2006/main">
              <a:ext uri="{FF2B5EF4-FFF2-40B4-BE49-F238E27FC236}">
                <a16:creationId xmlns:a16="http://schemas.microsoft.com/office/drawing/2014/main" id="{633C0BA9-C06C-4DEC-923B-7997E79E0D21}"/>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D48"/>
                </a:solidFill>
                <a:latin typeface="Meiryo UI"/>
                <a:ea typeface="Meiryo UI"/>
                <a:cs typeface="Meiryo UI"/>
              </a:defRPr>
            </a:defPPr>
          </a:lstStyle>
          <a:p xmlns:a="http://schemas.openxmlformats.org/drawingml/2006/main">
            <a:pPr>
              <a:lnSpc>
                <a:spcPct val="110000"/>
              </a:lnSpc>
              <a:buNone/>
              <a:defRPr sz="3300" b="1">
                <a:solidFill>
                  <a:srgbClr val="152D48"/>
                </a:solidFill>
                <a:latin typeface="Meiryo UI"/>
                <a:ea typeface="Meiryo UI"/>
                <a:cs typeface="Meiryo UI"/>
              </a:defRPr>
            </a:pPr>
            <a:r>
              <a:rPr sz="3300" b="1">
                <a:solidFill>
                  <a:srgbClr val="152D48"/>
                </a:solidFill>
                <a:latin typeface="Meiryo UI"/>
                <a:ea typeface="Meiryo UI"/>
                <a:cs typeface="Meiryo UI"/>
              </a:rPr>
              <a:t>26種類の判定一覧 2/7</a:t>
            </a:r>
          </a:p>
        </p:txBody>
      </p:sp>
      <p:sp>
        <p:nvSpPr>
          <p:cNvPr id="2" name="text-2">
            <a:extLst xmlns:a="http://schemas.openxmlformats.org/drawingml/2006/main">
              <a:ext uri="{FF2B5EF4-FFF2-40B4-BE49-F238E27FC236}">
                <a16:creationId xmlns:a16="http://schemas.microsoft.com/office/drawing/2014/main" id="{8E6795B5-F6F5-4C0A-B6AC-76CC095581A4}"/>
              </a:ext>
            </a:extLst>
          </p:cNvPr>
          <p:cNvSpPr>
            <a:spLocks xmlns:a="http://schemas.openxmlformats.org/drawingml/2006/main" noGrp="1"/>
          </p:cNvSpPr>
          <p:nvPr/>
        </p:nvSpPr>
        <p:spPr>
          <a:xfrm xmlns:a="http://schemas.openxmlformats.org/drawingml/2006/main">
            <a:off x="609600" y="10668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02" b="0">
                <a:solidFill>
                  <a:srgbClr val="506579"/>
                </a:solidFill>
                <a:latin typeface="Meiryo UI"/>
                <a:ea typeface="Meiryo UI"/>
                <a:cs typeface="Meiryo UI"/>
              </a:defRPr>
            </a:defPPr>
          </a:lstStyle>
          <a:p xmlns:a="http://schemas.openxmlformats.org/drawingml/2006/main">
            <a:pPr>
              <a:lnSpc>
                <a:spcPct val="110000"/>
              </a:lnSpc>
              <a:buNone/>
              <a:defRPr sz="1702" b="0">
                <a:solidFill>
                  <a:srgbClr val="506579"/>
                </a:solidFill>
                <a:latin typeface="Meiryo UI"/>
                <a:ea typeface="Meiryo UI"/>
                <a:cs typeface="Meiryo UI"/>
              </a:defRPr>
            </a:pPr>
            <a:r>
              <a:rPr sz="1702" b="0">
                <a:solidFill>
                  <a:srgbClr val="506579"/>
                </a:solidFill>
                <a:latin typeface="Meiryo UI"/>
                <a:ea typeface="Meiryo UI"/>
                <a:cs typeface="Meiryo UI"/>
              </a:rPr>
              <a:t>Alert番号 42–45　根拠欄の文字はリンク</a:t>
            </a:r>
          </a:p>
        </p:txBody>
      </p:sp>
      <p:sp>
        <p:nvSpPr>
          <p:cNvPr id="3" name="text-3">
            <a:extLst xmlns:a="http://schemas.openxmlformats.org/drawingml/2006/main">
              <a:ext uri="{FF2B5EF4-FFF2-40B4-BE49-F238E27FC236}">
                <a16:creationId xmlns:a16="http://schemas.microsoft.com/office/drawing/2014/main" id="{DA6BB5D1-5092-4F48-95BF-691346C1F6E5}"/>
              </a:ext>
            </a:extLst>
          </p:cNvPr>
          <p:cNvSpPr>
            <a:spLocks xmlns:a="http://schemas.openxmlformats.org/drawingml/2006/main" noGrp="1"/>
          </p:cNvSpPr>
          <p:nvPr/>
        </p:nvSpPr>
        <p:spPr>
          <a:xfrm xmlns:a="http://schemas.openxmlformats.org/drawingml/2006/main">
            <a:off x="11049000" y="644842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06579"/>
                </a:solidFill>
                <a:latin typeface="Meiryo UI"/>
                <a:ea typeface="Meiryo UI"/>
                <a:cs typeface="Meiryo UI"/>
              </a:defRPr>
            </a:defPPr>
          </a:lstStyle>
          <a:p xmlns:a="http://schemas.openxmlformats.org/drawingml/2006/main">
            <a:pPr>
              <a:lnSpc>
                <a:spcPct val="110000"/>
              </a:lnSpc>
              <a:buNone/>
              <a:defRPr sz="1275" b="0">
                <a:solidFill>
                  <a:srgbClr val="506579"/>
                </a:solidFill>
                <a:latin typeface="Meiryo UI"/>
                <a:ea typeface="Meiryo UI"/>
                <a:cs typeface="Meiryo UI"/>
              </a:defRPr>
            </a:pPr>
            <a:r>
              <a:rPr sz="1275" b="0">
                <a:solidFill>
                  <a:srgbClr val="506579"/>
                </a:solidFill>
                <a:latin typeface="Meiryo UI"/>
                <a:ea typeface="Meiryo UI"/>
                <a:cs typeface="Meiryo UI"/>
              </a:rPr>
              <a:t>06</a:t>
            </a:r>
          </a:p>
        </p:txBody>
      </p:sp>
      <p:graphicFrame>
        <p:nvGraphicFramePr>
          <p:cNvPr id="4" name="">
            <a:extLst xmlns:a="http://schemas.openxmlformats.org/drawingml/2006/main">
              <a:ext uri="{FF2B5EF4-FFF2-40B4-BE49-F238E27FC236}">
                <a16:creationId xmlns:a16="http://schemas.microsoft.com/office/drawing/2014/main" id="{72C6ADA4-708B-46EC-A98A-4A9903CA8173}"/>
              </a:ext>
            </a:extLst>
          </p:cNvPr>
          <p:cNvGraphicFramePr/>
          <p:nvPr/>
        </p:nvGraphicFramePr>
        <p:xfrm>
          <a:off xmlns:a="http://schemas.openxmlformats.org/drawingml/2006/main" x="609600" y="1504950"/>
          <a:ext xmlns:a="http://schemas.openxmlformats.org/drawingml/2006/main" cx="10972800" cy="4724400"/>
        </p:xfrm>
        <a:graphic xmlns:a="http://schemas.openxmlformats.org/drawingml/2006/main">
          <a:graphicData uri="http://schemas.openxmlformats.org/drawingml/2006/table">
            <a:tbl>
              <a:tblPr firstRow="0" bandRow="0"/>
              <a:tblGrid>
                <a:gridCol w="2724150"/>
                <a:gridCol w="2324100"/>
                <a:gridCol w="4667250"/>
                <a:gridCol w="1257300"/>
              </a:tblGrid>
              <a:tr h="457200">
                <a:tc>
                  <a:txBody>
                    <a:bodyPr wrap="square" lIns="114300" tIns="85725" rIns="114300" bIns="85725">
                      <a:noAutofit/>
                    </a:bodyPr>
                    <a:lstStyle/>
                    <a:p>
                      <a:pPr>
                        <a:lnSpc>
                          <a:spcPct val="105000"/>
                        </a:lnSpc>
                        <a:buNone/>
                      </a:pPr>
                      <a:r>
                        <a:rPr sz="1725" b="1">
                          <a:solidFill>
                            <a:srgbClr val="FFFFFF"/>
                          </a:solidFill>
                          <a:latin typeface="Meiryo UI"/>
                          <a:ea typeface="Meiryo UI"/>
                          <a:cs typeface="Meiryo UI"/>
                        </a:rPr>
                        <a:t>番号・Alert</a:t>
                      </a:r>
                    </a:p>
                  </a:txBody>
                  <a:tcPr marL="91440" marR="91440" marT="45720" marB="45720" anchor="ctr">
                    <a:lnL w="6668">
                      <a:solidFill>
                        <a:srgbClr val="D7E0E8"/>
                      </a:solidFill>
                      <a:prstDash val="solid"/>
                    </a:lnL>
                    <a:lnR w="6668">
                      <a:solidFill>
                        <a:srgbClr val="D7E0E8"/>
                      </a:solidFill>
                      <a:prstDash val="solid"/>
                    </a:lnR>
                    <a:lnT w="6668">
                      <a:solidFill>
                        <a:srgbClr val="D7E0E8"/>
                      </a:solidFill>
                      <a:prstDash val="solid"/>
                    </a:lnT>
                    <a:lnB w="6668">
                      <a:solidFill>
                        <a:srgbClr val="D7E0E8"/>
                      </a:solidFill>
                      <a:prstDash val="solid"/>
                    </a:lnB>
                    <a:solidFill>
                      <a:srgbClr val="152D48"/>
                    </a:solidFill>
                  </a:tcPr>
                </a:tc>
                <a:tc>
                  <a:txBody>
                    <a:bodyPr wrap="square" lIns="114300" tIns="85725" rIns="114300" bIns="85725">
                      <a:noAutofit/>
                    </a:bodyPr>
                    <a:lstStyle/>
                    <a:p>
                      <a:pPr>
                        <a:lnSpc>
                          <a:spcPct val="105000"/>
                        </a:lnSpc>
                        <a:buNone/>
                      </a:pPr>
                      <a:r>
                        <a:rPr sz="1725" b="1">
                          <a:solidFill>
                            <a:srgbClr val="FFFFFF"/>
                          </a:solidFill>
                          <a:latin typeface="Meiryo UI"/>
                          <a:ea typeface="Meiryo UI"/>
                          <a:cs typeface="Meiryo UI"/>
                        </a:rPr>
                        <a:t>RFC違反の判定</a:t>
                      </a:r>
                    </a:p>
                  </a:txBody>
                  <a:tcPr marL="91440" marR="91440" marT="45720" marB="45720" anchor="ctr">
                    <a:lnR w="6668">
                      <a:solidFill>
                        <a:srgbClr val="D7E0E8"/>
                      </a:solidFill>
                      <a:prstDash val="solid"/>
                    </a:lnR>
                    <a:lnT w="6668">
                      <a:solidFill>
                        <a:srgbClr val="D7E0E8"/>
                      </a:solidFill>
                      <a:prstDash val="solid"/>
                    </a:lnT>
                    <a:lnB w="6668">
                      <a:solidFill>
                        <a:srgbClr val="D7E0E8"/>
                      </a:solidFill>
                      <a:prstDash val="solid"/>
                    </a:lnB>
                    <a:solidFill>
                      <a:srgbClr val="152D48"/>
                    </a:solidFill>
                  </a:tcPr>
                </a:tc>
                <a:tc>
                  <a:txBody>
                    <a:bodyPr wrap="square" lIns="114300" tIns="85725" rIns="114300" bIns="85725">
                      <a:noAutofit/>
                    </a:bodyPr>
                    <a:lstStyle/>
                    <a:p>
                      <a:pPr>
                        <a:lnSpc>
                          <a:spcPct val="105000"/>
                        </a:lnSpc>
                        <a:buNone/>
                      </a:pPr>
                      <a:r>
                        <a:rPr sz="1725" b="1">
                          <a:solidFill>
                            <a:srgbClr val="FFFFFF"/>
                          </a:solidFill>
                          <a:latin typeface="Meiryo UI"/>
                          <a:ea typeface="Meiryo UI"/>
                          <a:cs typeface="Meiryo UI"/>
                        </a:rPr>
                        <a:t>確認した条件と判定理由</a:t>
                      </a:r>
                    </a:p>
                  </a:txBody>
                  <a:tcPr marL="91440" marR="91440" marT="45720" marB="45720" anchor="ctr">
                    <a:lnR w="6668">
                      <a:solidFill>
                        <a:srgbClr val="D7E0E8"/>
                      </a:solidFill>
                      <a:prstDash val="solid"/>
                    </a:lnR>
                    <a:lnT w="6668">
                      <a:solidFill>
                        <a:srgbClr val="D7E0E8"/>
                      </a:solidFill>
                      <a:prstDash val="solid"/>
                    </a:lnT>
                    <a:lnB w="6668">
                      <a:solidFill>
                        <a:srgbClr val="D7E0E8"/>
                      </a:solidFill>
                      <a:prstDash val="solid"/>
                    </a:lnB>
                    <a:solidFill>
                      <a:srgbClr val="152D48"/>
                    </a:solidFill>
                  </a:tcPr>
                </a:tc>
                <a:tc>
                  <a:txBody>
                    <a:bodyPr wrap="square" lIns="114300" tIns="85725" rIns="114300" bIns="85725">
                      <a:noAutofit/>
                    </a:bodyPr>
                    <a:lstStyle/>
                    <a:p>
                      <a:pPr>
                        <a:lnSpc>
                          <a:spcPct val="105000"/>
                        </a:lnSpc>
                        <a:buNone/>
                      </a:pPr>
                      <a:r>
                        <a:rPr sz="1725" b="1">
                          <a:solidFill>
                            <a:srgbClr val="FFFFFF"/>
                          </a:solidFill>
                          <a:latin typeface="Meiryo UI"/>
                          <a:ea typeface="Meiryo UI"/>
                          <a:cs typeface="Meiryo UI"/>
                        </a:rPr>
                        <a:t>根拠</a:t>
                      </a:r>
                    </a:p>
                  </a:txBody>
                  <a:tcPr marL="91440" marR="91440" marT="45720" marB="45720" anchor="ctr">
                    <a:lnR w="6668">
                      <a:solidFill>
                        <a:srgbClr val="D7E0E8"/>
                      </a:solidFill>
                      <a:prstDash val="solid"/>
                    </a:lnR>
                    <a:lnT w="6668">
                      <a:solidFill>
                        <a:srgbClr val="D7E0E8"/>
                      </a:solidFill>
                      <a:prstDash val="solid"/>
                    </a:lnT>
                    <a:lnB w="6668">
                      <a:solidFill>
                        <a:srgbClr val="D7E0E8"/>
                      </a:solidFill>
                      <a:prstDash val="solid"/>
                    </a:lnB>
                    <a:solidFill>
                      <a:srgbClr val="152D48"/>
                    </a:solidFill>
                  </a:tcPr>
                </a:tc>
              </a:tr>
              <a:tr h="1066800">
                <a:tc>
                  <a:txBody>
                    <a:bodyPr wrap="square" lIns="114300" tIns="95250" rIns="114300" bIns="95250">
                      <a:noAutofit/>
                    </a:bodyPr>
                    <a:lstStyle/>
                    <a:p>
                      <a:pPr>
                        <a:lnSpc>
                          <a:spcPct val="100000"/>
                        </a:lnSpc>
                        <a:buNone/>
                      </a:pPr>
                      <a:r>
                        <a:rPr sz="1725" b="1">
                          <a:solidFill>
                            <a:srgbClr val="152D48"/>
                          </a:solidFill>
                          <a:latin typeface="Meiryo UI"/>
                          <a:ea typeface="Meiryo UI"/>
                          <a:cs typeface="Meiryo UI"/>
                        </a:rPr>
                        <a:t>42</a:t>
                      </a:r>
                    </a:p>
                    <a:p>
                      <a:pPr>
                        <a:lnSpc>
                          <a:spcPct val="100000"/>
                        </a:lnSpc>
                        <a:buNone/>
                      </a:pPr>
                      <a:r>
                        <a:rPr sz="1725" b="1">
                          <a:solidFill>
                            <a:srgbClr val="152D48"/>
                          </a:solidFill>
                          <a:latin typeface="Meiryo UI"/>
                          <a:ea typeface="Meiryo UI"/>
                          <a:cs typeface="Meiryo UI"/>
                        </a:rPr>
                        <a:t>bad_certificate</a:t>
                      </a:r>
                    </a:p>
                  </a:txBody>
                  <a:tcPr marL="91440" marR="91440" marT="45720" marB="45720" anchor="ctr">
                    <a:lnL w="6668">
                      <a:solidFill>
                        <a:srgbClr val="D7E0E8"/>
                      </a:solidFill>
                      <a:prstDash val="solid"/>
                    </a:lnL>
                    <a:lnR w="6668">
                      <a:solidFill>
                        <a:srgbClr val="D7E0E8"/>
                      </a:solidFill>
                      <a:prstDash val="solid"/>
                    </a:lnR>
                    <a:lnB w="6668">
                      <a:solidFill>
                        <a:srgbClr val="D7E0E8"/>
                      </a:solidFill>
                      <a:prstDash val="solid"/>
                    </a:lnB>
                    <a:solidFill>
                      <a:srgbClr val="FFFFFF"/>
                    </a:solidFill>
                  </a:tcPr>
                </a:tc>
                <a:tc>
                  <a:txBody>
                    <a:bodyPr wrap="square" lIns="114300" tIns="95250" rIns="114300" bIns="95250">
                      <a:noAutofit/>
                    </a:bodyPr>
                    <a:lstStyle/>
                    <a:p>
                      <a:pPr>
                        <a:lnSpc>
                          <a:spcPct val="108000"/>
                        </a:lnSpc>
                        <a:buNone/>
                      </a:pPr>
                      <a:r>
                        <a:rPr sz="1725" b="1">
                          <a:solidFill>
                            <a:srgbClr val="A72C35"/>
                          </a:solidFill>
                          <a:latin typeface="Meiryo UI"/>
                          <a:ea typeface="Meiryo UI"/>
                          <a:cs typeface="Meiryo UI"/>
                        </a:rPr>
                        <a:t>条件付き違反</a:t>
                      </a:r>
                    </a:p>
                    <a:p>
                      <a:pPr>
                        <a:lnSpc>
                          <a:spcPct val="108000"/>
                        </a:lnSpc>
                        <a:buNone/>
                      </a:pPr>
                      <a:r>
                        <a:rPr sz="1725" b="1">
                          <a:solidFill>
                            <a:srgbClr val="A72C35"/>
                          </a:solidFill>
                          <a:latin typeface="Meiryo UI"/>
                          <a:ea typeface="Meiryo UI"/>
                          <a:cs typeface="Meiryo UI"/>
                        </a:rPr>
                        <a:t>MD5拒否時</a:t>
                      </a:r>
                    </a:p>
                  </a:txBody>
                  <a:tcPr marL="91440" marR="91440" marT="45720" marB="45720" anchor="ctr">
                    <a:lnR w="6668">
                      <a:solidFill>
                        <a:srgbClr val="D7E0E8"/>
                      </a:solidFill>
                      <a:prstDash val="solid"/>
                    </a:lnR>
                    <a:lnB w="6668">
                      <a:solidFill>
                        <a:srgbClr val="D7E0E8"/>
                      </a:solidFill>
                      <a:prstDash val="solid"/>
                    </a:lnB>
                    <a:solidFill>
                      <a:srgbClr val="FFFFFF"/>
                    </a:solidFill>
                  </a:tcPr>
                </a:tc>
                <a:tc>
                  <a:txBody>
                    <a:bodyPr wrap="square" lIns="114300" tIns="85725" rIns="114300" bIns="85725">
                      <a:noAutofit/>
                    </a:bodyPr>
                    <a:lstStyle/>
                    <a:p>
                      <a:pPr>
                        <a:lnSpc>
                          <a:spcPct val="105000"/>
                        </a:lnSpc>
                        <a:buNone/>
                      </a:pPr>
                      <a:r>
                        <a:rPr sz="1725" b="0">
                          <a:solidFill>
                            <a:srgbClr val="1B2E43"/>
                          </a:solidFill>
                          <a:latin typeface="Meiryo UI"/>
                          <a:ea typeface="Meiryo UI"/>
                          <a:cs typeface="Meiryo UI"/>
                        </a:rPr>
                        <a:t>MD5を理由にクライアント証明書を拒否</a:t>
                      </a:r>
                    </a:p>
                    <a:p>
                      <a:pPr>
                        <a:lnSpc>
                          <a:spcPct val="105000"/>
                        </a:lnSpc>
                        <a:buNone/>
                      </a:pPr>
                      <a:r>
                        <a:rPr sz="1725" b="0">
                          <a:solidFill>
                            <a:srgbClr val="1B2E43"/>
                          </a:solidFill>
                          <a:latin typeface="Meiryo UI"/>
                          <a:ea typeface="Meiryo UI"/>
                          <a:cs typeface="Meiryo UI"/>
                        </a:rPr>
                        <a:t>する場合、指定の42に対し46へ集約。</a:t>
                      </a:r>
                    </a:p>
                    <a:p>
                      <a:pPr>
                        <a:lnSpc>
                          <a:spcPct val="105000"/>
                        </a:lnSpc>
                        <a:buNone/>
                      </a:pPr>
                      <a:r>
                        <a:rPr sz="1725" b="0">
                          <a:solidFill>
                            <a:srgbClr val="1B2E43"/>
                          </a:solidFill>
                          <a:latin typeface="Meiryo UI"/>
                          <a:ea typeface="Meiryo UI"/>
                          <a:cs typeface="Meiryo UI"/>
                        </a:rPr>
                        <a:t>自己署名・信頼アンカー等の除外に注意。</a:t>
                      </a:r>
                    </a:p>
                  </a:txBody>
                  <a:tcPr marL="91440" marR="91440" marT="45720" marB="45720" anchor="ctr">
                    <a:lnR w="6668">
                      <a:solidFill>
                        <a:srgbClr val="D7E0E8"/>
                      </a:solidFill>
                      <a:prstDash val="solid"/>
                    </a:lnR>
                    <a:lnB w="6668">
                      <a:solidFill>
                        <a:srgbClr val="D7E0E8"/>
                      </a:solidFill>
                      <a:prstDash val="solid"/>
                    </a:lnB>
                    <a:solidFill>
                      <a:srgbClr val="FFFFFF"/>
                    </a:solidFill>
                  </a:tcPr>
                </a:tc>
                <a:tc>
                  <a:txBody>
                    <a:bodyPr wrap="square" lIns="95250" tIns="76200" rIns="95250" bIns="76200">
                      <a:noAutofit/>
                    </a:bodyPr>
                    <a:lstStyle/>
                    <a:p>
                      <a:r>
                        <a:rPr sz="1725" b="0" u="sng">
                          <a:solidFill>
                            <a:srgbClr val="176DA5"/>
                          </a:solidFill>
                          <a:latin typeface="Meiryo UI"/>
                          <a:ea typeface="Meiryo UI"/>
                          <a:cs typeface="Meiryo UI"/>
                          <a:hlinkClick xmlns:r="http://schemas.openxmlformats.org/officeDocument/2006/relationships" r:id="Rfc11b712d14b46c6"/>
                        </a:rPr>
                        <a:t>§4.5.1.3</a:t>
                      </a:r>
                    </a:p>
                    <a:p>
                      <a:r>
                        <a:rPr sz="1725" b="0" u="sng">
                          <a:solidFill>
                            <a:srgbClr val="176DA5"/>
                          </a:solidFill>
                          <a:latin typeface="Meiryo UI"/>
                          <a:ea typeface="Meiryo UI"/>
                          <a:cs typeface="Meiryo UI"/>
                          <a:hlinkClick xmlns:r="http://schemas.openxmlformats.org/officeDocument/2006/relationships" r:id="R786f86e9fec34e56"/>
                        </a:rPr>
                        <a:t>ソース</a:t>
                      </a:r>
                    </a:p>
                    <a:p>
                      <a:r>
                        <a:rPr sz="1725" b="0" u="sng">
                          <a:solidFill>
                            <a:srgbClr val="176DA5"/>
                          </a:solidFill>
                          <a:latin typeface="Meiryo UI"/>
                          <a:ea typeface="Meiryo UI"/>
                          <a:cs typeface="Meiryo UI"/>
                          <a:hlinkClick xmlns:r="http://schemas.openxmlformats.org/officeDocument/2006/relationships" r:id="R029c92fa4352410a"/>
                        </a:rPr>
                        <a:t>定義</a:t>
                      </a:r>
                    </a:p>
                  </a:txBody>
                  <a:tcPr marL="91440" marR="91440" marT="45720" marB="45720" anchor="ctr">
                    <a:lnR w="6668">
                      <a:solidFill>
                        <a:srgbClr val="D7E0E8"/>
                      </a:solidFill>
                      <a:prstDash val="solid"/>
                    </a:lnR>
                    <a:lnB w="6668">
                      <a:solidFill>
                        <a:srgbClr val="D7E0E8"/>
                      </a:solidFill>
                      <a:prstDash val="solid"/>
                    </a:lnB>
                    <a:solidFill>
                      <a:srgbClr val="FFFFFF"/>
                    </a:solidFill>
                  </a:tcPr>
                </a:tc>
              </a:tr>
              <a:tr h="1066800">
                <a:tc>
                  <a:txBody>
                    <a:bodyPr wrap="square" lIns="114300" tIns="95250" rIns="114300" bIns="95250">
                      <a:noAutofit/>
                    </a:bodyPr>
                    <a:lstStyle/>
                    <a:p>
                      <a:pPr>
                        <a:lnSpc>
                          <a:spcPct val="100000"/>
                        </a:lnSpc>
                        <a:buNone/>
                      </a:pPr>
                      <a:r>
                        <a:rPr sz="1725" b="1">
                          <a:solidFill>
                            <a:srgbClr val="152D48"/>
                          </a:solidFill>
                          <a:latin typeface="Meiryo UI"/>
                          <a:ea typeface="Meiryo UI"/>
                          <a:cs typeface="Meiryo UI"/>
                        </a:rPr>
                        <a:t>43</a:t>
                      </a:r>
                    </a:p>
                    <a:p>
                      <a:pPr>
                        <a:lnSpc>
                          <a:spcPct val="100000"/>
                        </a:lnSpc>
                        <a:buNone/>
                      </a:pPr>
                      <a:r>
                        <a:rPr sz="1725" b="1">
                          <a:solidFill>
                            <a:srgbClr val="152D48"/>
                          </a:solidFill>
                          <a:latin typeface="Meiryo UI"/>
                          <a:ea typeface="Meiryo UI"/>
                          <a:cs typeface="Meiryo UI"/>
                        </a:rPr>
                        <a:t>unsupported_</a:t>
                      </a:r>
                    </a:p>
                    <a:p>
                      <a:pPr>
                        <a:lnSpc>
                          <a:spcPct val="100000"/>
                        </a:lnSpc>
                        <a:buNone/>
                      </a:pPr>
                      <a:r>
                        <a:rPr sz="1725" b="1">
                          <a:solidFill>
                            <a:srgbClr val="152D48"/>
                          </a:solidFill>
                          <a:latin typeface="Meiryo UI"/>
                          <a:ea typeface="Meiryo UI"/>
                          <a:cs typeface="Meiryo UI"/>
                        </a:rPr>
                        <a:t>certificate</a:t>
                      </a:r>
                    </a:p>
                  </a:txBody>
                  <a:tcPr marL="91440" marR="91440" marT="45720" marB="45720" anchor="ctr">
                    <a:lnL w="6668">
                      <a:solidFill>
                        <a:srgbClr val="D7E0E8"/>
                      </a:solidFill>
                      <a:prstDash val="solid"/>
                    </a:lnL>
                    <a:lnR w="6668">
                      <a:solidFill>
                        <a:srgbClr val="D7E0E8"/>
                      </a:solidFill>
                      <a:prstDash val="solid"/>
                    </a:lnR>
                    <a:lnB w="6668">
                      <a:solidFill>
                        <a:srgbClr val="D7E0E8"/>
                      </a:solidFill>
                      <a:prstDash val="solid"/>
                    </a:lnB>
                    <a:solidFill>
                      <a:srgbClr val="F4F7FA"/>
                    </a:solidFill>
                  </a:tcPr>
                </a:tc>
                <a:tc>
                  <a:txBody>
                    <a:bodyPr wrap="square" lIns="114300" tIns="95250" rIns="114300" bIns="95250">
                      <a:noAutofit/>
                    </a:bodyPr>
                    <a:lstStyle/>
                    <a:p>
                      <a:pPr>
                        <a:lnSpc>
                          <a:spcPct val="108000"/>
                        </a:lnSpc>
                        <a:buNone/>
                      </a:pPr>
                      <a:r>
                        <a:rPr sz="1725" b="1">
                          <a:solidFill>
                            <a:srgbClr val="506579"/>
                          </a:solidFill>
                          <a:latin typeface="Meiryo UI"/>
                          <a:ea typeface="Meiryo UI"/>
                          <a:cs typeface="Meiryo UI"/>
                        </a:rPr>
                        <a:t>違反未確認</a:t>
                      </a:r>
                    </a:p>
                    <a:p>
                      <a:pPr>
                        <a:lnSpc>
                          <a:spcPct val="108000"/>
                        </a:lnSpc>
                        <a:buNone/>
                      </a:pPr>
                      <a:r>
                        <a:rPr sz="1725" b="1">
                          <a:solidFill>
                            <a:srgbClr val="506579"/>
                          </a:solidFill>
                          <a:latin typeface="Meiryo UI"/>
                          <a:ea typeface="Meiryo UI"/>
                          <a:cs typeface="Meiryo UI"/>
                        </a:rPr>
                        <a:t>確認した経路の範囲</a:t>
                      </a:r>
                    </a:p>
                  </a:txBody>
                  <a:tcPr marL="91440" marR="91440" marT="45720" marB="45720" anchor="ctr">
                    <a:lnR w="6668">
                      <a:solidFill>
                        <a:srgbClr val="D7E0E8"/>
                      </a:solidFill>
                      <a:prstDash val="solid"/>
                    </a:lnR>
                    <a:lnB w="6668">
                      <a:solidFill>
                        <a:srgbClr val="D7E0E8"/>
                      </a:solidFill>
                      <a:prstDash val="solid"/>
                    </a:lnB>
                    <a:solidFill>
                      <a:srgbClr val="F4F7FA"/>
                    </a:solidFill>
                  </a:tcPr>
                </a:tc>
                <a:tc>
                  <a:txBody>
                    <a:bodyPr wrap="square" lIns="114300" tIns="85725" rIns="114300" bIns="85725">
                      <a:noAutofit/>
                    </a:bodyPr>
                    <a:lstStyle/>
                    <a:p>
                      <a:pPr>
                        <a:lnSpc>
                          <a:spcPct val="105000"/>
                        </a:lnSpc>
                        <a:buNone/>
                      </a:pPr>
                      <a:r>
                        <a:rPr sz="1725" b="0">
                          <a:solidFill>
                            <a:srgbClr val="1B2E43"/>
                          </a:solidFill>
                          <a:latin typeface="Meiryo UI"/>
                          <a:ea typeface="Meiryo UI"/>
                          <a:cs typeface="Meiryo UI"/>
                        </a:rPr>
                        <a:t>確認した43の使用と、任意の証明書</a:t>
                      </a:r>
                    </a:p>
                    <a:p>
                      <a:pPr>
                        <a:lnSpc>
                          <a:spcPct val="105000"/>
                        </a:lnSpc>
                        <a:buNone/>
                      </a:pPr>
                      <a:r>
                        <a:rPr sz="1725" b="0">
                          <a:solidFill>
                            <a:srgbClr val="1B2E43"/>
                          </a:solidFill>
                          <a:latin typeface="Meiryo UI"/>
                          <a:ea typeface="Meiryo UI"/>
                          <a:cs typeface="Meiryo UI"/>
                        </a:rPr>
                        <a:t>形式を提供しない事実だけでは、</a:t>
                      </a:r>
                    </a:p>
                    <a:p>
                      <a:pPr>
                        <a:lnSpc>
                          <a:spcPct val="105000"/>
                        </a:lnSpc>
                        <a:buNone/>
                      </a:pPr>
                      <a:r>
                        <a:rPr sz="1725" b="0">
                          <a:solidFill>
                            <a:srgbClr val="1B2E43"/>
                          </a:solidFill>
                          <a:latin typeface="Meiryo UI"/>
                          <a:ea typeface="Meiryo UI"/>
                          <a:cs typeface="Meiryo UI"/>
                        </a:rPr>
                        <a:t>違反と判定できない。</a:t>
                      </a:r>
                    </a:p>
                  </a:txBody>
                  <a:tcPr marL="91440" marR="91440" marT="45720" marB="45720" anchor="ctr">
                    <a:lnR w="6668">
                      <a:solidFill>
                        <a:srgbClr val="D7E0E8"/>
                      </a:solidFill>
                      <a:prstDash val="solid"/>
                    </a:lnR>
                    <a:lnB w="6668">
                      <a:solidFill>
                        <a:srgbClr val="D7E0E8"/>
                      </a:solidFill>
                      <a:prstDash val="solid"/>
                    </a:lnB>
                    <a:solidFill>
                      <a:srgbClr val="F4F7FA"/>
                    </a:solidFill>
                  </a:tcPr>
                </a:tc>
                <a:tc>
                  <a:txBody>
                    <a:bodyPr wrap="square" lIns="95250" tIns="76200" rIns="95250" bIns="76200">
                      <a:noAutofit/>
                    </a:bodyPr>
                    <a:lstStyle/>
                    <a:p>
                      <a:r>
                        <a:rPr sz="1725" b="0" u="sng">
                          <a:solidFill>
                            <a:srgbClr val="176DA5"/>
                          </a:solidFill>
                          <a:latin typeface="Meiryo UI"/>
                          <a:ea typeface="Meiryo UI"/>
                          <a:cs typeface="Meiryo UI"/>
                          <a:hlinkClick xmlns:r="http://schemas.openxmlformats.org/officeDocument/2006/relationships" r:id="R05a019158b884aa9"/>
                        </a:rPr>
                        <a:t>§4.5.1.2</a:t>
                      </a:r>
                    </a:p>
                    <a:p>
                      <a:r>
                        <a:rPr sz="1725" b="0" u="sng">
                          <a:solidFill>
                            <a:srgbClr val="176DA5"/>
                          </a:solidFill>
                          <a:latin typeface="Meiryo UI"/>
                          <a:ea typeface="Meiryo UI"/>
                          <a:cs typeface="Meiryo UI"/>
                          <a:hlinkClick xmlns:r="http://schemas.openxmlformats.org/officeDocument/2006/relationships" r:id="R9aafd779ef1441ba"/>
                        </a:rPr>
                        <a:t>ソース</a:t>
                      </a:r>
                    </a:p>
                    <a:p>
                      <a:r>
                        <a:rPr sz="1725" b="0" u="sng">
                          <a:solidFill>
                            <a:srgbClr val="176DA5"/>
                          </a:solidFill>
                          <a:latin typeface="Meiryo UI"/>
                          <a:ea typeface="Meiryo UI"/>
                          <a:cs typeface="Meiryo UI"/>
                          <a:hlinkClick xmlns:r="http://schemas.openxmlformats.org/officeDocument/2006/relationships" r:id="Rde12f93924fe4742"/>
                        </a:rPr>
                        <a:t>定義</a:t>
                      </a:r>
                    </a:p>
                  </a:txBody>
                  <a:tcPr marL="91440" marR="91440" marT="45720" marB="45720" anchor="ctr">
                    <a:lnR w="6668">
                      <a:solidFill>
                        <a:srgbClr val="D7E0E8"/>
                      </a:solidFill>
                      <a:prstDash val="solid"/>
                    </a:lnR>
                    <a:lnB w="6668">
                      <a:solidFill>
                        <a:srgbClr val="D7E0E8"/>
                      </a:solidFill>
                      <a:prstDash val="solid"/>
                    </a:lnB>
                    <a:solidFill>
                      <a:srgbClr val="F4F7FA"/>
                    </a:solidFill>
                  </a:tcPr>
                </a:tc>
              </a:tr>
              <a:tr h="1066800">
                <a:tc>
                  <a:txBody>
                    <a:bodyPr wrap="square" lIns="114300" tIns="95250" rIns="114300" bIns="95250">
                      <a:noAutofit/>
                    </a:bodyPr>
                    <a:lstStyle/>
                    <a:p>
                      <a:pPr>
                        <a:lnSpc>
                          <a:spcPct val="100000"/>
                        </a:lnSpc>
                        <a:buNone/>
                      </a:pPr>
                      <a:r>
                        <a:rPr sz="1725" b="1">
                          <a:solidFill>
                            <a:srgbClr val="152D48"/>
                          </a:solidFill>
                          <a:latin typeface="Meiryo UI"/>
                          <a:ea typeface="Meiryo UI"/>
                          <a:cs typeface="Meiryo UI"/>
                        </a:rPr>
                        <a:t>44</a:t>
                      </a:r>
                    </a:p>
                    <a:p>
                      <a:pPr>
                        <a:lnSpc>
                          <a:spcPct val="100000"/>
                        </a:lnSpc>
                        <a:buNone/>
                      </a:pPr>
                      <a:r>
                        <a:rPr sz="1725" b="1">
                          <a:solidFill>
                            <a:srgbClr val="152D48"/>
                          </a:solidFill>
                          <a:latin typeface="Meiryo UI"/>
                          <a:ea typeface="Meiryo UI"/>
                          <a:cs typeface="Meiryo UI"/>
                        </a:rPr>
                        <a:t>certificate_</a:t>
                      </a:r>
                    </a:p>
                    <a:p>
                      <a:pPr>
                        <a:lnSpc>
                          <a:spcPct val="100000"/>
                        </a:lnSpc>
                        <a:buNone/>
                      </a:pPr>
                      <a:r>
                        <a:rPr sz="1725" b="1">
                          <a:solidFill>
                            <a:srgbClr val="152D48"/>
                          </a:solidFill>
                          <a:latin typeface="Meiryo UI"/>
                          <a:ea typeface="Meiryo UI"/>
                          <a:cs typeface="Meiryo UI"/>
                        </a:rPr>
                        <a:t>revoked</a:t>
                      </a:r>
                    </a:p>
                  </a:txBody>
                  <a:tcPr marL="91440" marR="91440" marT="45720" marB="45720" anchor="ctr">
                    <a:lnL w="6668">
                      <a:solidFill>
                        <a:srgbClr val="D7E0E8"/>
                      </a:solidFill>
                      <a:prstDash val="solid"/>
                    </a:lnL>
                    <a:lnR w="6668">
                      <a:solidFill>
                        <a:srgbClr val="D7E0E8"/>
                      </a:solidFill>
                      <a:prstDash val="solid"/>
                    </a:lnR>
                    <a:lnB w="6668">
                      <a:solidFill>
                        <a:srgbClr val="D7E0E8"/>
                      </a:solidFill>
                      <a:prstDash val="solid"/>
                    </a:lnB>
                    <a:solidFill>
                      <a:srgbClr val="FFFFFF"/>
                    </a:solidFill>
                  </a:tcPr>
                </a:tc>
                <a:tc>
                  <a:txBody>
                    <a:bodyPr wrap="square" lIns="114300" tIns="95250" rIns="114300" bIns="95250">
                      <a:noAutofit/>
                    </a:bodyPr>
                    <a:lstStyle/>
                    <a:p>
                      <a:pPr>
                        <a:lnSpc>
                          <a:spcPct val="108000"/>
                        </a:lnSpc>
                        <a:buNone/>
                      </a:pPr>
                      <a:r>
                        <a:rPr sz="1725" b="1">
                          <a:solidFill>
                            <a:srgbClr val="93641B"/>
                          </a:solidFill>
                          <a:latin typeface="Meiryo UI"/>
                          <a:ea typeface="Meiryo UI"/>
                          <a:cs typeface="Meiryo UI"/>
                        </a:rPr>
                        <a:t>断定保留</a:t>
                      </a:r>
                    </a:p>
                    <a:p>
                      <a:pPr>
                        <a:lnSpc>
                          <a:spcPct val="108000"/>
                        </a:lnSpc>
                        <a:buNone/>
                      </a:pPr>
                      <a:r>
                        <a:rPr sz="1725" b="1">
                          <a:solidFill>
                            <a:srgbClr val="93641B"/>
                          </a:solidFill>
                          <a:latin typeface="Meiryo UI"/>
                          <a:ea typeface="Meiryo UI"/>
                          <a:cs typeface="Meiryo UI"/>
                        </a:rPr>
                        <a:t>SHOULDとの差</a:t>
                      </a:r>
                    </a:p>
                  </a:txBody>
                  <a:tcPr marL="91440" marR="91440" marT="45720" marB="45720" anchor="ctr">
                    <a:lnR w="6668">
                      <a:solidFill>
                        <a:srgbClr val="D7E0E8"/>
                      </a:solidFill>
                      <a:prstDash val="solid"/>
                    </a:lnR>
                    <a:lnB w="6668">
                      <a:solidFill>
                        <a:srgbClr val="D7E0E8"/>
                      </a:solidFill>
                      <a:prstDash val="solid"/>
                    </a:lnB>
                    <a:solidFill>
                      <a:srgbClr val="FFFFFF"/>
                    </a:solidFill>
                  </a:tcPr>
                </a:tc>
                <a:tc>
                  <a:txBody>
                    <a:bodyPr wrap="square" lIns="114300" tIns="85725" rIns="114300" bIns="85725">
                      <a:noAutofit/>
                    </a:bodyPr>
                    <a:lstStyle/>
                    <a:p>
                      <a:pPr>
                        <a:lnSpc>
                          <a:spcPct val="105000"/>
                        </a:lnSpc>
                        <a:buNone/>
                      </a:pPr>
                      <a:r>
                        <a:rPr sz="1725" b="0">
                          <a:solidFill>
                            <a:srgbClr val="1B2E43"/>
                          </a:solidFill>
                          <a:latin typeface="Meiryo UI"/>
                          <a:ea typeface="Meiryo UI"/>
                          <a:cs typeface="Meiryo UI"/>
                        </a:rPr>
                        <a:t>失効したクライアント証明書の拒否を</a:t>
                      </a:r>
                    </a:p>
                    <a:p>
                      <a:pPr>
                        <a:lnSpc>
                          <a:spcPct val="105000"/>
                        </a:lnSpc>
                        <a:buNone/>
                      </a:pPr>
                      <a:r>
                        <a:rPr sz="1725" b="0">
                          <a:solidFill>
                            <a:srgbClr val="1B2E43"/>
                          </a:solidFill>
                          <a:latin typeface="Meiryo UI"/>
                          <a:ea typeface="Meiryo UI"/>
                          <a:cs typeface="Meiryo UI"/>
                        </a:rPr>
                        <a:t>44ではなく46へ集約。</a:t>
                      </a:r>
                    </a:p>
                    <a:p>
                      <a:pPr>
                        <a:lnSpc>
                          <a:spcPct val="105000"/>
                        </a:lnSpc>
                        <a:buNone/>
                      </a:pPr>
                      <a:r>
                        <a:rPr sz="1725" b="0">
                          <a:solidFill>
                            <a:srgbClr val="1B2E43"/>
                          </a:solidFill>
                          <a:latin typeface="Meiryo UI"/>
                          <a:ea typeface="Meiryo UI"/>
                          <a:cs typeface="Meiryo UI"/>
                        </a:rPr>
                        <a:t>個別の44指定MUSTとは区別する。</a:t>
                      </a:r>
                    </a:p>
                  </a:txBody>
                  <a:tcPr marL="91440" marR="91440" marT="45720" marB="45720" anchor="ctr">
                    <a:lnR w="6668">
                      <a:solidFill>
                        <a:srgbClr val="D7E0E8"/>
                      </a:solidFill>
                      <a:prstDash val="solid"/>
                    </a:lnR>
                    <a:lnB w="6668">
                      <a:solidFill>
                        <a:srgbClr val="D7E0E8"/>
                      </a:solidFill>
                      <a:prstDash val="solid"/>
                    </a:lnB>
                    <a:solidFill>
                      <a:srgbClr val="FFFFFF"/>
                    </a:solidFill>
                  </a:tcPr>
                </a:tc>
                <a:tc>
                  <a:txBody>
                    <a:bodyPr wrap="square" lIns="95250" tIns="76200" rIns="95250" bIns="76200">
                      <a:noAutofit/>
                    </a:bodyPr>
                    <a:lstStyle/>
                    <a:p>
                      <a:r>
                        <a:rPr sz="1725" b="0" u="sng">
                          <a:solidFill>
                            <a:srgbClr val="176DA5"/>
                          </a:solidFill>
                          <a:latin typeface="Meiryo UI"/>
                          <a:ea typeface="Meiryo UI"/>
                          <a:cs typeface="Meiryo UI"/>
                          <a:hlinkClick xmlns:r="http://schemas.openxmlformats.org/officeDocument/2006/relationships" r:id="R4fb2011eba384094"/>
                        </a:rPr>
                        <a:t>§6.2</a:t>
                      </a:r>
                    </a:p>
                    <a:p>
                      <a:r>
                        <a:rPr sz="1725" b="0" u="sng">
                          <a:solidFill>
                            <a:srgbClr val="176DA5"/>
                          </a:solidFill>
                          <a:latin typeface="Meiryo UI"/>
                          <a:ea typeface="Meiryo UI"/>
                          <a:cs typeface="Meiryo UI"/>
                          <a:hlinkClick xmlns:r="http://schemas.openxmlformats.org/officeDocument/2006/relationships" r:id="R5760ad8fdc004dc2"/>
                        </a:rPr>
                        <a:t>ソース</a:t>
                      </a:r>
                    </a:p>
                    <a:p>
                      <a:r>
                        <a:rPr sz="1725" b="0" u="sng">
                          <a:solidFill>
                            <a:srgbClr val="176DA5"/>
                          </a:solidFill>
                          <a:latin typeface="Meiryo UI"/>
                          <a:ea typeface="Meiryo UI"/>
                          <a:cs typeface="Meiryo UI"/>
                          <a:hlinkClick xmlns:r="http://schemas.openxmlformats.org/officeDocument/2006/relationships" r:id="R6037517717aa47c9"/>
                        </a:rPr>
                        <a:t>定義</a:t>
                      </a:r>
                    </a:p>
                  </a:txBody>
                  <a:tcPr marL="91440" marR="91440" marT="45720" marB="45720" anchor="ctr">
                    <a:lnR w="6668">
                      <a:solidFill>
                        <a:srgbClr val="D7E0E8"/>
                      </a:solidFill>
                      <a:prstDash val="solid"/>
                    </a:lnR>
                    <a:lnB w="6668">
                      <a:solidFill>
                        <a:srgbClr val="D7E0E8"/>
                      </a:solidFill>
                      <a:prstDash val="solid"/>
                    </a:lnB>
                    <a:solidFill>
                      <a:srgbClr val="FFFFFF"/>
                    </a:solidFill>
                  </a:tcPr>
                </a:tc>
              </a:tr>
              <a:tr h="1066800">
                <a:tc>
                  <a:txBody>
                    <a:bodyPr wrap="square" lIns="114300" tIns="95250" rIns="114300" bIns="95250">
                      <a:noAutofit/>
                    </a:bodyPr>
                    <a:lstStyle/>
                    <a:p>
                      <a:pPr>
                        <a:lnSpc>
                          <a:spcPct val="100000"/>
                        </a:lnSpc>
                        <a:buNone/>
                      </a:pPr>
                      <a:r>
                        <a:rPr sz="1725" b="1">
                          <a:solidFill>
                            <a:srgbClr val="152D48"/>
                          </a:solidFill>
                          <a:latin typeface="Meiryo UI"/>
                          <a:ea typeface="Meiryo UI"/>
                          <a:cs typeface="Meiryo UI"/>
                        </a:rPr>
                        <a:t>45</a:t>
                      </a:r>
                    </a:p>
                    <a:p>
                      <a:pPr>
                        <a:lnSpc>
                          <a:spcPct val="100000"/>
                        </a:lnSpc>
                        <a:buNone/>
                      </a:pPr>
                      <a:r>
                        <a:rPr sz="1725" b="1">
                          <a:solidFill>
                            <a:srgbClr val="152D48"/>
                          </a:solidFill>
                          <a:latin typeface="Meiryo UI"/>
                          <a:ea typeface="Meiryo UI"/>
                          <a:cs typeface="Meiryo UI"/>
                        </a:rPr>
                        <a:t>certificate_</a:t>
                      </a:r>
                    </a:p>
                    <a:p>
                      <a:pPr>
                        <a:lnSpc>
                          <a:spcPct val="100000"/>
                        </a:lnSpc>
                        <a:buNone/>
                      </a:pPr>
                      <a:r>
                        <a:rPr sz="1725" b="1">
                          <a:solidFill>
                            <a:srgbClr val="152D48"/>
                          </a:solidFill>
                          <a:latin typeface="Meiryo UI"/>
                          <a:ea typeface="Meiryo UI"/>
                          <a:cs typeface="Meiryo UI"/>
                        </a:rPr>
                        <a:t>expired</a:t>
                      </a:r>
                    </a:p>
                  </a:txBody>
                  <a:tcPr marL="91440" marR="91440" marT="45720" marB="45720" anchor="ctr">
                    <a:lnL w="6668">
                      <a:solidFill>
                        <a:srgbClr val="D7E0E8"/>
                      </a:solidFill>
                      <a:prstDash val="solid"/>
                    </a:lnL>
                    <a:lnR w="6668">
                      <a:solidFill>
                        <a:srgbClr val="D7E0E8"/>
                      </a:solidFill>
                      <a:prstDash val="solid"/>
                    </a:lnR>
                    <a:lnB w="6668">
                      <a:solidFill>
                        <a:srgbClr val="D7E0E8"/>
                      </a:solidFill>
                      <a:prstDash val="solid"/>
                    </a:lnB>
                    <a:solidFill>
                      <a:srgbClr val="F4F7FA"/>
                    </a:solidFill>
                  </a:tcPr>
                </a:tc>
                <a:tc>
                  <a:txBody>
                    <a:bodyPr wrap="square" lIns="114300" tIns="95250" rIns="114300" bIns="95250">
                      <a:noAutofit/>
                    </a:bodyPr>
                    <a:lstStyle/>
                    <a:p>
                      <a:pPr>
                        <a:lnSpc>
                          <a:spcPct val="108000"/>
                        </a:lnSpc>
                        <a:buNone/>
                      </a:pPr>
                      <a:r>
                        <a:rPr sz="1725" b="1">
                          <a:solidFill>
                            <a:srgbClr val="93641B"/>
                          </a:solidFill>
                          <a:latin typeface="Meiryo UI"/>
                          <a:ea typeface="Meiryo UI"/>
                          <a:cs typeface="Meiryo UI"/>
                        </a:rPr>
                        <a:t>断定保留</a:t>
                      </a:r>
                    </a:p>
                    <a:p>
                      <a:pPr>
                        <a:lnSpc>
                          <a:spcPct val="108000"/>
                        </a:lnSpc>
                        <a:buNone/>
                      </a:pPr>
                      <a:r>
                        <a:rPr sz="1725" b="1">
                          <a:solidFill>
                            <a:srgbClr val="93641B"/>
                          </a:solidFill>
                          <a:latin typeface="Meiryo UI"/>
                          <a:ea typeface="Meiryo UI"/>
                          <a:cs typeface="Meiryo UI"/>
                        </a:rPr>
                        <a:t>SHOULDとの差</a:t>
                      </a:r>
                    </a:p>
                  </a:txBody>
                  <a:tcPr marL="91440" marR="91440" marT="45720" marB="45720" anchor="ctr">
                    <a:lnR w="6668">
                      <a:solidFill>
                        <a:srgbClr val="D7E0E8"/>
                      </a:solidFill>
                      <a:prstDash val="solid"/>
                    </a:lnR>
                    <a:lnB w="6668">
                      <a:solidFill>
                        <a:srgbClr val="D7E0E8"/>
                      </a:solidFill>
                      <a:prstDash val="solid"/>
                    </a:lnB>
                    <a:solidFill>
                      <a:srgbClr val="F4F7FA"/>
                    </a:solidFill>
                  </a:tcPr>
                </a:tc>
                <a:tc>
                  <a:txBody>
                    <a:bodyPr wrap="square" lIns="114300" tIns="85725" rIns="114300" bIns="85725">
                      <a:noAutofit/>
                    </a:bodyPr>
                    <a:lstStyle/>
                    <a:p>
                      <a:pPr>
                        <a:lnSpc>
                          <a:spcPct val="105000"/>
                        </a:lnSpc>
                        <a:buNone/>
                      </a:pPr>
                      <a:r>
                        <a:rPr sz="1725" b="0">
                          <a:solidFill>
                            <a:srgbClr val="1B2E43"/>
                          </a:solidFill>
                          <a:latin typeface="Meiryo UI"/>
                          <a:ea typeface="Meiryo UI"/>
                          <a:cs typeface="Meiryo UI"/>
                        </a:rPr>
                        <a:t>NOT_YET_VALIDを42へ変換するなど、</a:t>
                      </a:r>
                    </a:p>
                    <a:p>
                      <a:pPr>
                        <a:lnSpc>
                          <a:spcPct val="105000"/>
                        </a:lnSpc>
                        <a:buNone/>
                      </a:pPr>
                      <a:r>
                        <a:rPr sz="1725" b="0">
                          <a:solidFill>
                            <a:srgbClr val="1B2E43"/>
                          </a:solidFill>
                          <a:latin typeface="Meiryo UI"/>
                          <a:ea typeface="Meiryo UI"/>
                          <a:cs typeface="Meiryo UI"/>
                        </a:rPr>
                        <a:t>45の発生条件との相違がある。</a:t>
                      </a:r>
                    </a:p>
                    <a:p>
                      <a:pPr>
                        <a:lnSpc>
                          <a:spcPct val="105000"/>
                        </a:lnSpc>
                        <a:buNone/>
                      </a:pPr>
                      <a:r>
                        <a:rPr sz="1725" b="0">
                          <a:solidFill>
                            <a:srgbClr val="1B2E43"/>
                          </a:solidFill>
                          <a:latin typeface="Meiryo UI"/>
                          <a:ea typeface="Meiryo UI"/>
                          <a:cs typeface="Meiryo UI"/>
                        </a:rPr>
                        <a:t>合理的な例外理由は未評価。</a:t>
                      </a:r>
                    </a:p>
                  </a:txBody>
                  <a:tcPr marL="91440" marR="91440" marT="45720" marB="45720" anchor="ctr">
                    <a:lnR w="6668">
                      <a:solidFill>
                        <a:srgbClr val="D7E0E8"/>
                      </a:solidFill>
                      <a:prstDash val="solid"/>
                    </a:lnR>
                    <a:lnB w="6668">
                      <a:solidFill>
                        <a:srgbClr val="D7E0E8"/>
                      </a:solidFill>
                      <a:prstDash val="solid"/>
                    </a:lnB>
                    <a:solidFill>
                      <a:srgbClr val="F4F7FA"/>
                    </a:solidFill>
                  </a:tcPr>
                </a:tc>
                <a:tc>
                  <a:txBody>
                    <a:bodyPr wrap="square" lIns="95250" tIns="76200" rIns="95250" bIns="76200">
                      <a:noAutofit/>
                    </a:bodyPr>
                    <a:lstStyle/>
                    <a:p>
                      <a:r>
                        <a:rPr sz="1725" b="0" u="sng">
                          <a:solidFill>
                            <a:srgbClr val="176DA5"/>
                          </a:solidFill>
                          <a:latin typeface="Meiryo UI"/>
                          <a:ea typeface="Meiryo UI"/>
                          <a:cs typeface="Meiryo UI"/>
                          <a:hlinkClick xmlns:r="http://schemas.openxmlformats.org/officeDocument/2006/relationships" r:id="R9de408a7cb054ce8"/>
                        </a:rPr>
                        <a:t>§6.2</a:t>
                      </a:r>
                    </a:p>
                    <a:p>
                      <a:r>
                        <a:rPr sz="1725" b="0" u="sng">
                          <a:solidFill>
                            <a:srgbClr val="176DA5"/>
                          </a:solidFill>
                          <a:latin typeface="Meiryo UI"/>
                          <a:ea typeface="Meiryo UI"/>
                          <a:cs typeface="Meiryo UI"/>
                          <a:hlinkClick xmlns:r="http://schemas.openxmlformats.org/officeDocument/2006/relationships" r:id="Rba7ec0d040764630"/>
                        </a:rPr>
                        <a:t>ソース</a:t>
                      </a:r>
                    </a:p>
                    <a:p>
                      <a:r>
                        <a:rPr sz="1725" b="0" u="sng">
                          <a:solidFill>
                            <a:srgbClr val="176DA5"/>
                          </a:solidFill>
                          <a:latin typeface="Meiryo UI"/>
                          <a:ea typeface="Meiryo UI"/>
                          <a:cs typeface="Meiryo UI"/>
                          <a:hlinkClick xmlns:r="http://schemas.openxmlformats.org/officeDocument/2006/relationships" r:id="R570a5cc13ffc47b9"/>
                        </a:rPr>
                        <a:t>定義</a:t>
                      </a:r>
                    </a:p>
                  </a:txBody>
                  <a:tcPr marL="91440" marR="91440" marT="45720" marB="45720" anchor="ctr">
                    <a:lnR w="6668">
                      <a:solidFill>
                        <a:srgbClr val="D7E0E8"/>
                      </a:solidFill>
                      <a:prstDash val="solid"/>
                    </a:lnR>
                    <a:lnB w="6668">
                      <a:solidFill>
                        <a:srgbClr val="D7E0E8"/>
                      </a:solidFill>
                      <a:prstDash val="solid"/>
                    </a:lnB>
                    <a:solidFill>
                      <a:srgbClr val="F4F7FA"/>
                    </a:solidFill>
                  </a:tcPr>
                </a:tc>
              </a:tr>
            </a:tbl>
          </a:graphicData>
        </a:graphic>
      </p:graphicFrame>
      <p:sp>
        <p:nvSpPr>
          <p:cNvPr id="5" name="text-4">
            <a:extLst xmlns:a="http://schemas.openxmlformats.org/drawingml/2006/main">
              <a:ext uri="{FF2B5EF4-FFF2-40B4-BE49-F238E27FC236}">
                <a16:creationId xmlns:a16="http://schemas.microsoft.com/office/drawing/2014/main" id="{54867460-E55D-42CA-93CA-967110CDD30F}"/>
              </a:ext>
            </a:extLst>
          </p:cNvPr>
          <p:cNvSpPr>
            <a:spLocks xmlns:a="http://schemas.openxmlformats.org/drawingml/2006/main" noGrp="1"/>
          </p:cNvSpPr>
          <p:nvPr/>
        </p:nvSpPr>
        <p:spPr>
          <a:xfrm xmlns:a="http://schemas.openxmlformats.org/drawingml/2006/main">
            <a:off x="609600" y="63722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06579"/>
                </a:solidFill>
                <a:latin typeface="Meiryo UI"/>
                <a:ea typeface="Meiryo UI"/>
                <a:cs typeface="Meiryo UI"/>
              </a:defRPr>
            </a:defPPr>
          </a:lstStyle>
          <a:p xmlns:a="http://schemas.openxmlformats.org/drawingml/2006/main">
            <a:pPr>
              <a:lnSpc>
                <a:spcPct val="110000"/>
              </a:lnSpc>
              <a:buNone/>
              <a:defRPr sz="1425" b="0">
                <a:solidFill>
                  <a:srgbClr val="506579"/>
                </a:solidFill>
                <a:latin typeface="Meiryo UI"/>
                <a:ea typeface="Meiryo UI"/>
                <a:cs typeface="Meiryo UI"/>
              </a:defRPr>
            </a:pPr>
            <a:r>
              <a:rPr sz="1425" b="0">
                <a:solidFill>
                  <a:srgbClr val="506579"/>
                </a:solidFill>
                <a:latin typeface="Meiryo UI"/>
                <a:ea typeface="Meiryo UI"/>
                <a:cs typeface="Meiryo UI"/>
              </a:rPr>
              <a:t>静的調査。違反未確認は、全条件での適合認定を意味しない。</a:t>
            </a:r>
          </a:p>
        </p:txBody>
      </p:sp>
    </p:spTree>
    <p:extLst>
      <p:ext uri="{BB962C8B-B14F-4D97-AF65-F5344CB8AC3E}">
        <p14:creationId xmlns:p14="http://schemas.microsoft.com/office/powerpoint/2010/main" val="41449505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1">
            <a:extLst xmlns:a="http://schemas.openxmlformats.org/drawingml/2006/main">
              <a:ext uri="{FF2B5EF4-FFF2-40B4-BE49-F238E27FC236}">
                <a16:creationId xmlns:a16="http://schemas.microsoft.com/office/drawing/2014/main" id="{817FDD65-6265-492A-BCF8-A9FD7E33275D}"/>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D48"/>
                </a:solidFill>
                <a:latin typeface="Meiryo UI"/>
                <a:ea typeface="Meiryo UI"/>
                <a:cs typeface="Meiryo UI"/>
              </a:defRPr>
            </a:defPPr>
          </a:lstStyle>
          <a:p xmlns:a="http://schemas.openxmlformats.org/drawingml/2006/main">
            <a:pPr>
              <a:lnSpc>
                <a:spcPct val="110000"/>
              </a:lnSpc>
              <a:buNone/>
              <a:defRPr sz="3300" b="1">
                <a:solidFill>
                  <a:srgbClr val="152D48"/>
                </a:solidFill>
                <a:latin typeface="Meiryo UI"/>
                <a:ea typeface="Meiryo UI"/>
                <a:cs typeface="Meiryo UI"/>
              </a:defRPr>
            </a:pPr>
            <a:r>
              <a:rPr sz="3300" b="1">
                <a:solidFill>
                  <a:srgbClr val="152D48"/>
                </a:solidFill>
                <a:latin typeface="Meiryo UI"/>
                <a:ea typeface="Meiryo UI"/>
                <a:cs typeface="Meiryo UI"/>
              </a:rPr>
              <a:t>26種類の判定一覧 3/7</a:t>
            </a:r>
          </a:p>
        </p:txBody>
      </p:sp>
      <p:sp>
        <p:nvSpPr>
          <p:cNvPr id="2" name="text-2">
            <a:extLst xmlns:a="http://schemas.openxmlformats.org/drawingml/2006/main">
              <a:ext uri="{FF2B5EF4-FFF2-40B4-BE49-F238E27FC236}">
                <a16:creationId xmlns:a16="http://schemas.microsoft.com/office/drawing/2014/main" id="{593710CF-A2F1-4C89-B798-D28F57D7420D}"/>
              </a:ext>
            </a:extLst>
          </p:cNvPr>
          <p:cNvSpPr>
            <a:spLocks xmlns:a="http://schemas.openxmlformats.org/drawingml/2006/main" noGrp="1"/>
          </p:cNvSpPr>
          <p:nvPr/>
        </p:nvSpPr>
        <p:spPr>
          <a:xfrm xmlns:a="http://schemas.openxmlformats.org/drawingml/2006/main">
            <a:off x="609600" y="10668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02" b="0">
                <a:solidFill>
                  <a:srgbClr val="506579"/>
                </a:solidFill>
                <a:latin typeface="Meiryo UI"/>
                <a:ea typeface="Meiryo UI"/>
                <a:cs typeface="Meiryo UI"/>
              </a:defRPr>
            </a:defPPr>
          </a:lstStyle>
          <a:p xmlns:a="http://schemas.openxmlformats.org/drawingml/2006/main">
            <a:pPr>
              <a:lnSpc>
                <a:spcPct val="110000"/>
              </a:lnSpc>
              <a:buNone/>
              <a:defRPr sz="1702" b="0">
                <a:solidFill>
                  <a:srgbClr val="506579"/>
                </a:solidFill>
                <a:latin typeface="Meiryo UI"/>
                <a:ea typeface="Meiryo UI"/>
                <a:cs typeface="Meiryo UI"/>
              </a:defRPr>
            </a:pPr>
            <a:r>
              <a:rPr sz="1702" b="0">
                <a:solidFill>
                  <a:srgbClr val="506579"/>
                </a:solidFill>
                <a:latin typeface="Meiryo UI"/>
                <a:ea typeface="Meiryo UI"/>
                <a:cs typeface="Meiryo UI"/>
              </a:rPr>
              <a:t>Alert番号 46–49　根拠欄の文字はリンク</a:t>
            </a:r>
          </a:p>
        </p:txBody>
      </p:sp>
      <p:sp>
        <p:nvSpPr>
          <p:cNvPr id="3" name="text-3">
            <a:extLst xmlns:a="http://schemas.openxmlformats.org/drawingml/2006/main">
              <a:ext uri="{FF2B5EF4-FFF2-40B4-BE49-F238E27FC236}">
                <a16:creationId xmlns:a16="http://schemas.microsoft.com/office/drawing/2014/main" id="{CFD02D6D-F36A-4FAB-95F9-A60533CE1916}"/>
              </a:ext>
            </a:extLst>
          </p:cNvPr>
          <p:cNvSpPr>
            <a:spLocks xmlns:a="http://schemas.openxmlformats.org/drawingml/2006/main" noGrp="1"/>
          </p:cNvSpPr>
          <p:nvPr/>
        </p:nvSpPr>
        <p:spPr>
          <a:xfrm xmlns:a="http://schemas.openxmlformats.org/drawingml/2006/main">
            <a:off x="11049000" y="644842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06579"/>
                </a:solidFill>
                <a:latin typeface="Meiryo UI"/>
                <a:ea typeface="Meiryo UI"/>
                <a:cs typeface="Meiryo UI"/>
              </a:defRPr>
            </a:defPPr>
          </a:lstStyle>
          <a:p xmlns:a="http://schemas.openxmlformats.org/drawingml/2006/main">
            <a:pPr>
              <a:lnSpc>
                <a:spcPct val="110000"/>
              </a:lnSpc>
              <a:buNone/>
              <a:defRPr sz="1275" b="0">
                <a:solidFill>
                  <a:srgbClr val="506579"/>
                </a:solidFill>
                <a:latin typeface="Meiryo UI"/>
                <a:ea typeface="Meiryo UI"/>
                <a:cs typeface="Meiryo UI"/>
              </a:defRPr>
            </a:pPr>
            <a:r>
              <a:rPr sz="1275" b="0">
                <a:solidFill>
                  <a:srgbClr val="506579"/>
                </a:solidFill>
                <a:latin typeface="Meiryo UI"/>
                <a:ea typeface="Meiryo UI"/>
                <a:cs typeface="Meiryo UI"/>
              </a:rPr>
              <a:t>07</a:t>
            </a:r>
          </a:p>
        </p:txBody>
      </p:sp>
      <p:graphicFrame>
        <p:nvGraphicFramePr>
          <p:cNvPr id="4" name="">
            <a:extLst xmlns:a="http://schemas.openxmlformats.org/drawingml/2006/main">
              <a:ext uri="{FF2B5EF4-FFF2-40B4-BE49-F238E27FC236}">
                <a16:creationId xmlns:a16="http://schemas.microsoft.com/office/drawing/2014/main" id="{D01715D3-AC93-456D-A79B-6DE3DD33E2DF}"/>
              </a:ext>
            </a:extLst>
          </p:cNvPr>
          <p:cNvGraphicFramePr/>
          <p:nvPr/>
        </p:nvGraphicFramePr>
        <p:xfrm>
          <a:off xmlns:a="http://schemas.openxmlformats.org/drawingml/2006/main" x="609600" y="1504950"/>
          <a:ext xmlns:a="http://schemas.openxmlformats.org/drawingml/2006/main" cx="10972800" cy="4724400"/>
        </p:xfrm>
        <a:graphic xmlns:a="http://schemas.openxmlformats.org/drawingml/2006/main">
          <a:graphicData uri="http://schemas.openxmlformats.org/drawingml/2006/table">
            <a:tbl>
              <a:tblPr firstRow="0" bandRow="0"/>
              <a:tblGrid>
                <a:gridCol w="2724150"/>
                <a:gridCol w="2324100"/>
                <a:gridCol w="4667250"/>
                <a:gridCol w="1257300"/>
              </a:tblGrid>
              <a:tr h="457200">
                <a:tc>
                  <a:txBody>
                    <a:bodyPr wrap="square" lIns="114300" tIns="85725" rIns="114300" bIns="85725">
                      <a:noAutofit/>
                    </a:bodyPr>
                    <a:lstStyle/>
                    <a:p>
                      <a:pPr>
                        <a:lnSpc>
                          <a:spcPct val="105000"/>
                        </a:lnSpc>
                        <a:buNone/>
                      </a:pPr>
                      <a:r>
                        <a:rPr sz="1725" b="1">
                          <a:solidFill>
                            <a:srgbClr val="FFFFFF"/>
                          </a:solidFill>
                          <a:latin typeface="Meiryo UI"/>
                          <a:ea typeface="Meiryo UI"/>
                          <a:cs typeface="Meiryo UI"/>
                        </a:rPr>
                        <a:t>番号・Alert</a:t>
                      </a:r>
                    </a:p>
                  </a:txBody>
                  <a:tcPr marL="91440" marR="91440" marT="45720" marB="45720" anchor="ctr">
                    <a:lnL w="6668">
                      <a:solidFill>
                        <a:srgbClr val="D7E0E8"/>
                      </a:solidFill>
                      <a:prstDash val="solid"/>
                    </a:lnL>
                    <a:lnR w="6668">
                      <a:solidFill>
                        <a:srgbClr val="D7E0E8"/>
                      </a:solidFill>
                      <a:prstDash val="solid"/>
                    </a:lnR>
                    <a:lnT w="6668">
                      <a:solidFill>
                        <a:srgbClr val="D7E0E8"/>
                      </a:solidFill>
                      <a:prstDash val="solid"/>
                    </a:lnT>
                    <a:lnB w="6668">
                      <a:solidFill>
                        <a:srgbClr val="D7E0E8"/>
                      </a:solidFill>
                      <a:prstDash val="solid"/>
                    </a:lnB>
                    <a:solidFill>
                      <a:srgbClr val="152D48"/>
                    </a:solidFill>
                  </a:tcPr>
                </a:tc>
                <a:tc>
                  <a:txBody>
                    <a:bodyPr wrap="square" lIns="114300" tIns="85725" rIns="114300" bIns="85725">
                      <a:noAutofit/>
                    </a:bodyPr>
                    <a:lstStyle/>
                    <a:p>
                      <a:pPr>
                        <a:lnSpc>
                          <a:spcPct val="105000"/>
                        </a:lnSpc>
                        <a:buNone/>
                      </a:pPr>
                      <a:r>
                        <a:rPr sz="1725" b="1">
                          <a:solidFill>
                            <a:srgbClr val="FFFFFF"/>
                          </a:solidFill>
                          <a:latin typeface="Meiryo UI"/>
                          <a:ea typeface="Meiryo UI"/>
                          <a:cs typeface="Meiryo UI"/>
                        </a:rPr>
                        <a:t>RFC違反の判定</a:t>
                      </a:r>
                    </a:p>
                  </a:txBody>
                  <a:tcPr marL="91440" marR="91440" marT="45720" marB="45720" anchor="ctr">
                    <a:lnR w="6668">
                      <a:solidFill>
                        <a:srgbClr val="D7E0E8"/>
                      </a:solidFill>
                      <a:prstDash val="solid"/>
                    </a:lnR>
                    <a:lnT w="6668">
                      <a:solidFill>
                        <a:srgbClr val="D7E0E8"/>
                      </a:solidFill>
                      <a:prstDash val="solid"/>
                    </a:lnT>
                    <a:lnB w="6668">
                      <a:solidFill>
                        <a:srgbClr val="D7E0E8"/>
                      </a:solidFill>
                      <a:prstDash val="solid"/>
                    </a:lnB>
                    <a:solidFill>
                      <a:srgbClr val="152D48"/>
                    </a:solidFill>
                  </a:tcPr>
                </a:tc>
                <a:tc>
                  <a:txBody>
                    <a:bodyPr wrap="square" lIns="114300" tIns="85725" rIns="114300" bIns="85725">
                      <a:noAutofit/>
                    </a:bodyPr>
                    <a:lstStyle/>
                    <a:p>
                      <a:pPr>
                        <a:lnSpc>
                          <a:spcPct val="105000"/>
                        </a:lnSpc>
                        <a:buNone/>
                      </a:pPr>
                      <a:r>
                        <a:rPr sz="1725" b="1">
                          <a:solidFill>
                            <a:srgbClr val="FFFFFF"/>
                          </a:solidFill>
                          <a:latin typeface="Meiryo UI"/>
                          <a:ea typeface="Meiryo UI"/>
                          <a:cs typeface="Meiryo UI"/>
                        </a:rPr>
                        <a:t>確認した条件と判定理由</a:t>
                      </a:r>
                    </a:p>
                  </a:txBody>
                  <a:tcPr marL="91440" marR="91440" marT="45720" marB="45720" anchor="ctr">
                    <a:lnR w="6668">
                      <a:solidFill>
                        <a:srgbClr val="D7E0E8"/>
                      </a:solidFill>
                      <a:prstDash val="solid"/>
                    </a:lnR>
                    <a:lnT w="6668">
                      <a:solidFill>
                        <a:srgbClr val="D7E0E8"/>
                      </a:solidFill>
                      <a:prstDash val="solid"/>
                    </a:lnT>
                    <a:lnB w="6668">
                      <a:solidFill>
                        <a:srgbClr val="D7E0E8"/>
                      </a:solidFill>
                      <a:prstDash val="solid"/>
                    </a:lnB>
                    <a:solidFill>
                      <a:srgbClr val="152D48"/>
                    </a:solidFill>
                  </a:tcPr>
                </a:tc>
                <a:tc>
                  <a:txBody>
                    <a:bodyPr wrap="square" lIns="114300" tIns="85725" rIns="114300" bIns="85725">
                      <a:noAutofit/>
                    </a:bodyPr>
                    <a:lstStyle/>
                    <a:p>
                      <a:pPr>
                        <a:lnSpc>
                          <a:spcPct val="105000"/>
                        </a:lnSpc>
                        <a:buNone/>
                      </a:pPr>
                      <a:r>
                        <a:rPr sz="1725" b="1">
                          <a:solidFill>
                            <a:srgbClr val="FFFFFF"/>
                          </a:solidFill>
                          <a:latin typeface="Meiryo UI"/>
                          <a:ea typeface="Meiryo UI"/>
                          <a:cs typeface="Meiryo UI"/>
                        </a:rPr>
                        <a:t>根拠</a:t>
                      </a:r>
                    </a:p>
                  </a:txBody>
                  <a:tcPr marL="91440" marR="91440" marT="45720" marB="45720" anchor="ctr">
                    <a:lnR w="6668">
                      <a:solidFill>
                        <a:srgbClr val="D7E0E8"/>
                      </a:solidFill>
                      <a:prstDash val="solid"/>
                    </a:lnR>
                    <a:lnT w="6668">
                      <a:solidFill>
                        <a:srgbClr val="D7E0E8"/>
                      </a:solidFill>
                      <a:prstDash val="solid"/>
                    </a:lnT>
                    <a:lnB w="6668">
                      <a:solidFill>
                        <a:srgbClr val="D7E0E8"/>
                      </a:solidFill>
                      <a:prstDash val="solid"/>
                    </a:lnB>
                    <a:solidFill>
                      <a:srgbClr val="152D48"/>
                    </a:solidFill>
                  </a:tcPr>
                </a:tc>
              </a:tr>
              <a:tr h="1066800">
                <a:tc>
                  <a:txBody>
                    <a:bodyPr wrap="square" lIns="114300" tIns="95250" rIns="114300" bIns="95250">
                      <a:noAutofit/>
                    </a:bodyPr>
                    <a:lstStyle/>
                    <a:p>
                      <a:pPr>
                        <a:lnSpc>
                          <a:spcPct val="100000"/>
                        </a:lnSpc>
                        <a:buNone/>
                      </a:pPr>
                      <a:r>
                        <a:rPr sz="1725" b="1">
                          <a:solidFill>
                            <a:srgbClr val="152D48"/>
                          </a:solidFill>
                          <a:latin typeface="Meiryo UI"/>
                          <a:ea typeface="Meiryo UI"/>
                          <a:cs typeface="Meiryo UI"/>
                        </a:rPr>
                        <a:t>46</a:t>
                      </a:r>
                    </a:p>
                    <a:p>
                      <a:pPr>
                        <a:lnSpc>
                          <a:spcPct val="100000"/>
                        </a:lnSpc>
                        <a:buNone/>
                      </a:pPr>
                      <a:r>
                        <a:rPr sz="1725" b="1">
                          <a:solidFill>
                            <a:srgbClr val="152D48"/>
                          </a:solidFill>
                          <a:latin typeface="Meiryo UI"/>
                          <a:ea typeface="Meiryo UI"/>
                          <a:cs typeface="Meiryo UI"/>
                        </a:rPr>
                        <a:t>certificate_</a:t>
                      </a:r>
                    </a:p>
                    <a:p>
                      <a:pPr>
                        <a:lnSpc>
                          <a:spcPct val="100000"/>
                        </a:lnSpc>
                        <a:buNone/>
                      </a:pPr>
                      <a:r>
                        <a:rPr sz="1725" b="1">
                          <a:solidFill>
                            <a:srgbClr val="152D48"/>
                          </a:solidFill>
                          <a:latin typeface="Meiryo UI"/>
                          <a:ea typeface="Meiryo UI"/>
                          <a:cs typeface="Meiryo UI"/>
                        </a:rPr>
                        <a:t>unknown</a:t>
                      </a:r>
                    </a:p>
                  </a:txBody>
                  <a:tcPr marL="91440" marR="91440" marT="45720" marB="45720" anchor="ctr">
                    <a:lnL w="6668">
                      <a:solidFill>
                        <a:srgbClr val="D7E0E8"/>
                      </a:solidFill>
                      <a:prstDash val="solid"/>
                    </a:lnL>
                    <a:lnR w="6668">
                      <a:solidFill>
                        <a:srgbClr val="D7E0E8"/>
                      </a:solidFill>
                      <a:prstDash val="solid"/>
                    </a:lnR>
                    <a:lnB w="6668">
                      <a:solidFill>
                        <a:srgbClr val="D7E0E8"/>
                      </a:solidFill>
                      <a:prstDash val="solid"/>
                    </a:lnB>
                    <a:solidFill>
                      <a:srgbClr val="FFFFFF"/>
                    </a:solidFill>
                  </a:tcPr>
                </a:tc>
                <a:tc>
                  <a:txBody>
                    <a:bodyPr wrap="square" lIns="114300" tIns="95250" rIns="114300" bIns="95250">
                      <a:noAutofit/>
                    </a:bodyPr>
                    <a:lstStyle/>
                    <a:p>
                      <a:pPr>
                        <a:lnSpc>
                          <a:spcPct val="108000"/>
                        </a:lnSpc>
                        <a:buNone/>
                      </a:pPr>
                      <a:r>
                        <a:rPr sz="1725" b="1">
                          <a:solidFill>
                            <a:srgbClr val="A72C35"/>
                          </a:solidFill>
                          <a:latin typeface="Meiryo UI"/>
                          <a:ea typeface="Meiryo UI"/>
                          <a:cs typeface="Meiryo UI"/>
                        </a:rPr>
                        <a:t>条件付き違反</a:t>
                      </a:r>
                    </a:p>
                    <a:p>
                      <a:pPr>
                        <a:lnSpc>
                          <a:spcPct val="108000"/>
                        </a:lnSpc>
                        <a:buNone/>
                      </a:pPr>
                      <a:r>
                        <a:rPr sz="1725" b="1">
                          <a:solidFill>
                            <a:srgbClr val="A72C35"/>
                          </a:solidFill>
                          <a:latin typeface="Meiryo UI"/>
                          <a:ea typeface="Meiryo UI"/>
                          <a:cs typeface="Meiryo UI"/>
                        </a:rPr>
                        <a:t>MD5拒否時</a:t>
                      </a:r>
                    </a:p>
                  </a:txBody>
                  <a:tcPr marL="91440" marR="91440" marT="45720" marB="45720" anchor="ctr">
                    <a:lnR w="6668">
                      <a:solidFill>
                        <a:srgbClr val="D7E0E8"/>
                      </a:solidFill>
                      <a:prstDash val="solid"/>
                    </a:lnR>
                    <a:lnB w="6668">
                      <a:solidFill>
                        <a:srgbClr val="D7E0E8"/>
                      </a:solidFill>
                      <a:prstDash val="solid"/>
                    </a:lnB>
                    <a:solidFill>
                      <a:srgbClr val="FFFFFF"/>
                    </a:solidFill>
                  </a:tcPr>
                </a:tc>
                <a:tc>
                  <a:txBody>
                    <a:bodyPr wrap="square" lIns="114300" tIns="85725" rIns="114300" bIns="85725">
                      <a:noAutofit/>
                    </a:bodyPr>
                    <a:lstStyle/>
                    <a:p>
                      <a:pPr>
                        <a:lnSpc>
                          <a:spcPct val="105000"/>
                        </a:lnSpc>
                        <a:buNone/>
                      </a:pPr>
                      <a:r>
                        <a:rPr sz="1725" b="0">
                          <a:solidFill>
                            <a:srgbClr val="1B2E43"/>
                          </a:solidFill>
                          <a:latin typeface="Meiryo UI"/>
                          <a:ea typeface="Meiryo UI"/>
                          <a:cs typeface="Meiryo UI"/>
                        </a:rPr>
                        <a:t>MD5拒否まで46へ集約する場合は、</a:t>
                      </a:r>
                    </a:p>
                    <a:p>
                      <a:pPr>
                        <a:lnSpc>
                          <a:spcPct val="105000"/>
                        </a:lnSpc>
                        <a:buNone/>
                      </a:pPr>
                      <a:r>
                        <a:rPr sz="1725" b="0">
                          <a:solidFill>
                            <a:srgbClr val="1B2E43"/>
                          </a:solidFill>
                          <a:latin typeface="Meiryo UI"/>
                          <a:ea typeface="Meiryo UI"/>
                          <a:cs typeface="Meiryo UI"/>
                        </a:rPr>
                        <a:t>42の指定に反する。</a:t>
                      </a:r>
                    </a:p>
                    <a:p>
                      <a:pPr>
                        <a:lnSpc>
                          <a:spcPct val="105000"/>
                        </a:lnSpc>
                        <a:buNone/>
                      </a:pPr>
                      <a:r>
                        <a:rPr sz="1725" b="0">
                          <a:solidFill>
                            <a:srgbClr val="1B2E43"/>
                          </a:solidFill>
                          <a:latin typeface="Meiryo UI"/>
                          <a:ea typeface="Meiryo UI"/>
                          <a:cs typeface="Meiryo UI"/>
                        </a:rPr>
                        <a:t>bad_certificate行と同じ事象。</a:t>
                      </a:r>
                    </a:p>
                  </a:txBody>
                  <a:tcPr marL="91440" marR="91440" marT="45720" marB="45720" anchor="ctr">
                    <a:lnR w="6668">
                      <a:solidFill>
                        <a:srgbClr val="D7E0E8"/>
                      </a:solidFill>
                      <a:prstDash val="solid"/>
                    </a:lnR>
                    <a:lnB w="6668">
                      <a:solidFill>
                        <a:srgbClr val="D7E0E8"/>
                      </a:solidFill>
                      <a:prstDash val="solid"/>
                    </a:lnB>
                    <a:solidFill>
                      <a:srgbClr val="FFFFFF"/>
                    </a:solidFill>
                  </a:tcPr>
                </a:tc>
                <a:tc>
                  <a:txBody>
                    <a:bodyPr wrap="square" lIns="95250" tIns="76200" rIns="95250" bIns="76200">
                      <a:noAutofit/>
                    </a:bodyPr>
                    <a:lstStyle/>
                    <a:p>
                      <a:r>
                        <a:rPr sz="1725" b="0" u="sng">
                          <a:solidFill>
                            <a:srgbClr val="176DA5"/>
                          </a:solidFill>
                          <a:latin typeface="Meiryo UI"/>
                          <a:ea typeface="Meiryo UI"/>
                          <a:cs typeface="Meiryo UI"/>
                          <a:hlinkClick xmlns:r="http://schemas.openxmlformats.org/officeDocument/2006/relationships" r:id="R90daaa0933394a4b"/>
                        </a:rPr>
                        <a:t>§4.5.1.3</a:t>
                      </a:r>
                    </a:p>
                    <a:p>
                      <a:r>
                        <a:rPr sz="1725" b="0" u="sng">
                          <a:solidFill>
                            <a:srgbClr val="176DA5"/>
                          </a:solidFill>
                          <a:latin typeface="Meiryo UI"/>
                          <a:ea typeface="Meiryo UI"/>
                          <a:cs typeface="Meiryo UI"/>
                          <a:hlinkClick xmlns:r="http://schemas.openxmlformats.org/officeDocument/2006/relationships" r:id="R06cc7400631e476f"/>
                        </a:rPr>
                        <a:t>ソース</a:t>
                      </a:r>
                    </a:p>
                    <a:p>
                      <a:r>
                        <a:rPr sz="1725" b="0" u="sng">
                          <a:solidFill>
                            <a:srgbClr val="176DA5"/>
                          </a:solidFill>
                          <a:latin typeface="Meiryo UI"/>
                          <a:ea typeface="Meiryo UI"/>
                          <a:cs typeface="Meiryo UI"/>
                          <a:hlinkClick xmlns:r="http://schemas.openxmlformats.org/officeDocument/2006/relationships" r:id="Rff2edcb0c6a74a14"/>
                        </a:rPr>
                        <a:t>定義</a:t>
                      </a:r>
                    </a:p>
                  </a:txBody>
                  <a:tcPr marL="91440" marR="91440" marT="45720" marB="45720" anchor="ctr">
                    <a:lnR w="6668">
                      <a:solidFill>
                        <a:srgbClr val="D7E0E8"/>
                      </a:solidFill>
                      <a:prstDash val="solid"/>
                    </a:lnR>
                    <a:lnB w="6668">
                      <a:solidFill>
                        <a:srgbClr val="D7E0E8"/>
                      </a:solidFill>
                      <a:prstDash val="solid"/>
                    </a:lnB>
                    <a:solidFill>
                      <a:srgbClr val="FFFFFF"/>
                    </a:solidFill>
                  </a:tcPr>
                </a:tc>
              </a:tr>
              <a:tr h="1066800">
                <a:tc>
                  <a:txBody>
                    <a:bodyPr wrap="square" lIns="114300" tIns="95250" rIns="114300" bIns="95250">
                      <a:noAutofit/>
                    </a:bodyPr>
                    <a:lstStyle/>
                    <a:p>
                      <a:pPr>
                        <a:lnSpc>
                          <a:spcPct val="100000"/>
                        </a:lnSpc>
                        <a:buNone/>
                      </a:pPr>
                      <a:r>
                        <a:rPr sz="1725" b="1">
                          <a:solidFill>
                            <a:srgbClr val="152D48"/>
                          </a:solidFill>
                          <a:latin typeface="Meiryo UI"/>
                          <a:ea typeface="Meiryo UI"/>
                          <a:cs typeface="Meiryo UI"/>
                        </a:rPr>
                        <a:t>47</a:t>
                      </a:r>
                    </a:p>
                    <a:p>
                      <a:pPr>
                        <a:lnSpc>
                          <a:spcPct val="100000"/>
                        </a:lnSpc>
                        <a:buNone/>
                      </a:pPr>
                      <a:r>
                        <a:rPr sz="1725" b="1">
                          <a:solidFill>
                            <a:srgbClr val="152D48"/>
                          </a:solidFill>
                          <a:latin typeface="Meiryo UI"/>
                          <a:ea typeface="Meiryo UI"/>
                          <a:cs typeface="Meiryo UI"/>
                        </a:rPr>
                        <a:t>illegal_parameter</a:t>
                      </a:r>
                    </a:p>
                  </a:txBody>
                  <a:tcPr marL="91440" marR="91440" marT="45720" marB="45720" anchor="ctr">
                    <a:lnL w="6668">
                      <a:solidFill>
                        <a:srgbClr val="D7E0E8"/>
                      </a:solidFill>
                      <a:prstDash val="solid"/>
                    </a:lnL>
                    <a:lnR w="6668">
                      <a:solidFill>
                        <a:srgbClr val="D7E0E8"/>
                      </a:solidFill>
                      <a:prstDash val="solid"/>
                    </a:lnR>
                    <a:lnB w="6668">
                      <a:solidFill>
                        <a:srgbClr val="D7E0E8"/>
                      </a:solidFill>
                      <a:prstDash val="solid"/>
                    </a:lnB>
                    <a:solidFill>
                      <a:srgbClr val="F4F7FA"/>
                    </a:solidFill>
                  </a:tcPr>
                </a:tc>
                <a:tc>
                  <a:txBody>
                    <a:bodyPr wrap="square" lIns="114300" tIns="95250" rIns="114300" bIns="95250">
                      <a:noAutofit/>
                    </a:bodyPr>
                    <a:lstStyle/>
                    <a:p>
                      <a:pPr>
                        <a:lnSpc>
                          <a:spcPct val="108000"/>
                        </a:lnSpc>
                        <a:buNone/>
                      </a:pPr>
                      <a:r>
                        <a:rPr sz="1725" b="1">
                          <a:solidFill>
                            <a:srgbClr val="A72C35"/>
                          </a:solidFill>
                          <a:latin typeface="Meiryo UI"/>
                          <a:ea typeface="Meiryo UI"/>
                          <a:cs typeface="Meiryo UI"/>
                        </a:rPr>
                        <a:t>違反あり</a:t>
                      </a:r>
                    </a:p>
                    <a:p>
                      <a:pPr>
                        <a:lnSpc>
                          <a:spcPct val="108000"/>
                        </a:lnSpc>
                        <a:buNone/>
                      </a:pPr>
                      <a:r>
                        <a:rPr sz="1725" b="1">
                          <a:solidFill>
                            <a:srgbClr val="A72C35"/>
                          </a:solidFill>
                          <a:latin typeface="Meiryo UI"/>
                          <a:ea typeface="Meiryo UI"/>
                          <a:cs typeface="Meiryo UI"/>
                        </a:rPr>
                        <a:t>MUST不一致</a:t>
                      </a:r>
                    </a:p>
                  </a:txBody>
                  <a:tcPr marL="91440" marR="91440" marT="45720" marB="45720" anchor="ctr">
                    <a:lnR w="6668">
                      <a:solidFill>
                        <a:srgbClr val="D7E0E8"/>
                      </a:solidFill>
                      <a:prstDash val="solid"/>
                    </a:lnR>
                    <a:lnB w="6668">
                      <a:solidFill>
                        <a:srgbClr val="D7E0E8"/>
                      </a:solidFill>
                      <a:prstDash val="solid"/>
                    </a:lnB>
                    <a:solidFill>
                      <a:srgbClr val="F4F7FA"/>
                    </a:solidFill>
                  </a:tcPr>
                </a:tc>
                <a:tc>
                  <a:txBody>
                    <a:bodyPr wrap="square" lIns="114300" tIns="85725" rIns="114300" bIns="85725">
                      <a:noAutofit/>
                    </a:bodyPr>
                    <a:lstStyle/>
                    <a:p>
                      <a:pPr>
                        <a:lnSpc>
                          <a:spcPct val="105000"/>
                        </a:lnSpc>
                        <a:buNone/>
                      </a:pPr>
                      <a:r>
                        <a:rPr sz="1725" b="0">
                          <a:solidFill>
                            <a:srgbClr val="1B2E43"/>
                          </a:solidFill>
                          <a:latin typeface="Meiryo UI"/>
                          <a:ea typeface="Meiryo UI"/>
                          <a:cs typeface="Meiryo UI"/>
                        </a:rPr>
                        <a:t>長さ不正などの構文エラーに47を使用。</a:t>
                      </a:r>
                    </a:p>
                    <a:p>
                      <a:pPr>
                        <a:lnSpc>
                          <a:spcPct val="105000"/>
                        </a:lnSpc>
                        <a:buNone/>
                      </a:pPr>
                      <a:r>
                        <a:rPr sz="1725" b="0">
                          <a:solidFill>
                            <a:srgbClr val="1B2E43"/>
                          </a:solidFill>
                          <a:latin typeface="Meiryo UI"/>
                          <a:ea typeface="Meiryo UI"/>
                          <a:cs typeface="Meiryo UI"/>
                        </a:rPr>
                        <a:t>RFC §6が指定する番号は50。</a:t>
                      </a:r>
                    </a:p>
                  </a:txBody>
                  <a:tcPr marL="91440" marR="91440" marT="45720" marB="45720" anchor="ctr">
                    <a:lnR w="6668">
                      <a:solidFill>
                        <a:srgbClr val="D7E0E8"/>
                      </a:solidFill>
                      <a:prstDash val="solid"/>
                    </a:lnR>
                    <a:lnB w="6668">
                      <a:solidFill>
                        <a:srgbClr val="D7E0E8"/>
                      </a:solidFill>
                      <a:prstDash val="solid"/>
                    </a:lnB>
                    <a:solidFill>
                      <a:srgbClr val="F4F7FA"/>
                    </a:solidFill>
                  </a:tcPr>
                </a:tc>
                <a:tc>
                  <a:txBody>
                    <a:bodyPr wrap="square" lIns="95250" tIns="76200" rIns="95250" bIns="76200">
                      <a:noAutofit/>
                    </a:bodyPr>
                    <a:lstStyle/>
                    <a:p>
                      <a:r>
                        <a:rPr sz="1725" b="0" u="sng">
                          <a:solidFill>
                            <a:srgbClr val="176DA5"/>
                          </a:solidFill>
                          <a:latin typeface="Meiryo UI"/>
                          <a:ea typeface="Meiryo UI"/>
                          <a:cs typeface="Meiryo UI"/>
                          <a:hlinkClick xmlns:r="http://schemas.openxmlformats.org/officeDocument/2006/relationships" r:id="Ra6b72b75d8ed4a39"/>
                        </a:rPr>
                        <a:t>§6</a:t>
                      </a:r>
                    </a:p>
                    <a:p>
                      <a:r>
                        <a:rPr sz="1725" b="0" u="sng">
                          <a:solidFill>
                            <a:srgbClr val="176DA5"/>
                          </a:solidFill>
                          <a:latin typeface="Meiryo UI"/>
                          <a:ea typeface="Meiryo UI"/>
                          <a:cs typeface="Meiryo UI"/>
                          <a:hlinkClick xmlns:r="http://schemas.openxmlformats.org/officeDocument/2006/relationships" r:id="R428ece24f67f4a93"/>
                        </a:rPr>
                        <a:t>ソース</a:t>
                      </a:r>
                    </a:p>
                    <a:p>
                      <a:r>
                        <a:rPr sz="1725" b="0" u="sng">
                          <a:solidFill>
                            <a:srgbClr val="176DA5"/>
                          </a:solidFill>
                          <a:latin typeface="Meiryo UI"/>
                          <a:ea typeface="Meiryo UI"/>
                          <a:cs typeface="Meiryo UI"/>
                          <a:hlinkClick xmlns:r="http://schemas.openxmlformats.org/officeDocument/2006/relationships" r:id="R53b31150ba824817"/>
                        </a:rPr>
                        <a:t>定義</a:t>
                      </a:r>
                    </a:p>
                  </a:txBody>
                  <a:tcPr marL="91440" marR="91440" marT="45720" marB="45720" anchor="ctr">
                    <a:lnR w="6668">
                      <a:solidFill>
                        <a:srgbClr val="D7E0E8"/>
                      </a:solidFill>
                      <a:prstDash val="solid"/>
                    </a:lnR>
                    <a:lnB w="6668">
                      <a:solidFill>
                        <a:srgbClr val="D7E0E8"/>
                      </a:solidFill>
                      <a:prstDash val="solid"/>
                    </a:lnB>
                    <a:solidFill>
                      <a:srgbClr val="F4F7FA"/>
                    </a:solidFill>
                  </a:tcPr>
                </a:tc>
              </a:tr>
              <a:tr h="1066800">
                <a:tc>
                  <a:txBody>
                    <a:bodyPr wrap="square" lIns="114300" tIns="95250" rIns="114300" bIns="95250">
                      <a:noAutofit/>
                    </a:bodyPr>
                    <a:lstStyle/>
                    <a:p>
                      <a:pPr>
                        <a:lnSpc>
                          <a:spcPct val="100000"/>
                        </a:lnSpc>
                        <a:buNone/>
                      </a:pPr>
                      <a:r>
                        <a:rPr sz="1725" b="1">
                          <a:solidFill>
                            <a:srgbClr val="152D48"/>
                          </a:solidFill>
                          <a:latin typeface="Meiryo UI"/>
                          <a:ea typeface="Meiryo UI"/>
                          <a:cs typeface="Meiryo UI"/>
                        </a:rPr>
                        <a:t>48</a:t>
                      </a:r>
                    </a:p>
                    <a:p>
                      <a:pPr>
                        <a:lnSpc>
                          <a:spcPct val="100000"/>
                        </a:lnSpc>
                        <a:buNone/>
                      </a:pPr>
                      <a:r>
                        <a:rPr sz="1725" b="1">
                          <a:solidFill>
                            <a:srgbClr val="152D48"/>
                          </a:solidFill>
                          <a:latin typeface="Meiryo UI"/>
                          <a:ea typeface="Meiryo UI"/>
                          <a:cs typeface="Meiryo UI"/>
                        </a:rPr>
                        <a:t>unknown_ca</a:t>
                      </a:r>
                    </a:p>
                  </a:txBody>
                  <a:tcPr marL="91440" marR="91440" marT="45720" marB="45720" anchor="ctr">
                    <a:lnL w="6668">
                      <a:solidFill>
                        <a:srgbClr val="D7E0E8"/>
                      </a:solidFill>
                      <a:prstDash val="solid"/>
                    </a:lnL>
                    <a:lnR w="6668">
                      <a:solidFill>
                        <a:srgbClr val="D7E0E8"/>
                      </a:solidFill>
                      <a:prstDash val="solid"/>
                    </a:lnR>
                    <a:lnB w="6668">
                      <a:solidFill>
                        <a:srgbClr val="D7E0E8"/>
                      </a:solidFill>
                      <a:prstDash val="solid"/>
                    </a:lnB>
                    <a:solidFill>
                      <a:srgbClr val="FFFFFF"/>
                    </a:solidFill>
                  </a:tcPr>
                </a:tc>
                <a:tc>
                  <a:txBody>
                    <a:bodyPr wrap="square" lIns="114300" tIns="95250" rIns="114300" bIns="95250">
                      <a:noAutofit/>
                    </a:bodyPr>
                    <a:lstStyle/>
                    <a:p>
                      <a:pPr>
                        <a:lnSpc>
                          <a:spcPct val="108000"/>
                        </a:lnSpc>
                        <a:buNone/>
                      </a:pPr>
                      <a:r>
                        <a:rPr sz="1725" b="1">
                          <a:solidFill>
                            <a:srgbClr val="93641B"/>
                          </a:solidFill>
                          <a:latin typeface="Meiryo UI"/>
                          <a:ea typeface="Meiryo UI"/>
                          <a:cs typeface="Meiryo UI"/>
                        </a:rPr>
                        <a:t>断定保留</a:t>
                      </a:r>
                    </a:p>
                    <a:p>
                      <a:pPr>
                        <a:lnSpc>
                          <a:spcPct val="108000"/>
                        </a:lnSpc>
                        <a:buNone/>
                      </a:pPr>
                      <a:r>
                        <a:rPr sz="1725" b="1">
                          <a:solidFill>
                            <a:srgbClr val="93641B"/>
                          </a:solidFill>
                          <a:latin typeface="Meiryo UI"/>
                          <a:ea typeface="Meiryo UI"/>
                          <a:cs typeface="Meiryo UI"/>
                        </a:rPr>
                        <a:t>SHOULDとの差</a:t>
                      </a:r>
                    </a:p>
                  </a:txBody>
                  <a:tcPr marL="91440" marR="91440" marT="45720" marB="45720" anchor="ctr">
                    <a:lnR w="6668">
                      <a:solidFill>
                        <a:srgbClr val="D7E0E8"/>
                      </a:solidFill>
                      <a:prstDash val="solid"/>
                    </a:lnR>
                    <a:lnB w="6668">
                      <a:solidFill>
                        <a:srgbClr val="D7E0E8"/>
                      </a:solidFill>
                      <a:prstDash val="solid"/>
                    </a:lnB>
                    <a:solidFill>
                      <a:srgbClr val="FFFFFF"/>
                    </a:solidFill>
                  </a:tcPr>
                </a:tc>
                <a:tc>
                  <a:txBody>
                    <a:bodyPr wrap="square" lIns="114300" tIns="85725" rIns="114300" bIns="85725">
                      <a:noAutofit/>
                    </a:bodyPr>
                    <a:lstStyle/>
                    <a:p>
                      <a:pPr>
                        <a:lnSpc>
                          <a:spcPct val="105000"/>
                        </a:lnSpc>
                        <a:buNone/>
                      </a:pPr>
                      <a:r>
                        <a:rPr sz="1725" b="0">
                          <a:solidFill>
                            <a:srgbClr val="1B2E43"/>
                          </a:solidFill>
                          <a:latin typeface="Meiryo UI"/>
                          <a:ea typeface="Meiryo UI"/>
                          <a:cs typeface="Meiryo UI"/>
                        </a:rPr>
                        <a:t>信頼CA不明を48にせず46へ集約。</a:t>
                      </a:r>
                    </a:p>
                    <a:p>
                      <a:pPr>
                        <a:lnSpc>
                          <a:spcPct val="105000"/>
                        </a:lnSpc>
                        <a:buNone/>
                      </a:pPr>
                      <a:r>
                        <a:rPr sz="1725" b="0">
                          <a:solidFill>
                            <a:srgbClr val="1B2E43"/>
                          </a:solidFill>
                          <a:latin typeface="Meiryo UI"/>
                          <a:ea typeface="Meiryo UI"/>
                          <a:cs typeface="Meiryo UI"/>
                        </a:rPr>
                        <a:t>適切な番号を選ぶSHOULDとの差であり、</a:t>
                      </a:r>
                    </a:p>
                    <a:p>
                      <a:pPr>
                        <a:lnSpc>
                          <a:spcPct val="105000"/>
                        </a:lnSpc>
                        <a:buNone/>
                      </a:pPr>
                      <a:r>
                        <a:rPr sz="1725" b="0">
                          <a:solidFill>
                            <a:srgbClr val="1B2E43"/>
                          </a:solidFill>
                          <a:latin typeface="Meiryo UI"/>
                          <a:ea typeface="Meiryo UI"/>
                          <a:cs typeface="Meiryo UI"/>
                        </a:rPr>
                        <a:t>違反の断定は保留する。</a:t>
                      </a:r>
                    </a:p>
                  </a:txBody>
                  <a:tcPr marL="91440" marR="91440" marT="45720" marB="45720" anchor="ctr">
                    <a:lnR w="6668">
                      <a:solidFill>
                        <a:srgbClr val="D7E0E8"/>
                      </a:solidFill>
                      <a:prstDash val="solid"/>
                    </a:lnR>
                    <a:lnB w="6668">
                      <a:solidFill>
                        <a:srgbClr val="D7E0E8"/>
                      </a:solidFill>
                      <a:prstDash val="solid"/>
                    </a:lnB>
                    <a:solidFill>
                      <a:srgbClr val="FFFFFF"/>
                    </a:solidFill>
                  </a:tcPr>
                </a:tc>
                <a:tc>
                  <a:txBody>
                    <a:bodyPr wrap="square" lIns="95250" tIns="76200" rIns="95250" bIns="76200">
                      <a:noAutofit/>
                    </a:bodyPr>
                    <a:lstStyle/>
                    <a:p>
                      <a:r>
                        <a:rPr sz="1725" b="0" u="sng">
                          <a:solidFill>
                            <a:srgbClr val="176DA5"/>
                          </a:solidFill>
                          <a:latin typeface="Meiryo UI"/>
                          <a:ea typeface="Meiryo UI"/>
                          <a:cs typeface="Meiryo UI"/>
                          <a:hlinkClick xmlns:r="http://schemas.openxmlformats.org/officeDocument/2006/relationships" r:id="Rddf74df5ca3049a2"/>
                        </a:rPr>
                        <a:t>§6.2</a:t>
                      </a:r>
                    </a:p>
                    <a:p>
                      <a:r>
                        <a:rPr sz="1725" b="0" u="sng">
                          <a:solidFill>
                            <a:srgbClr val="176DA5"/>
                          </a:solidFill>
                          <a:latin typeface="Meiryo UI"/>
                          <a:ea typeface="Meiryo UI"/>
                          <a:cs typeface="Meiryo UI"/>
                          <a:hlinkClick xmlns:r="http://schemas.openxmlformats.org/officeDocument/2006/relationships" r:id="Rdb367e4e81c44c62"/>
                        </a:rPr>
                        <a:t>ソース</a:t>
                      </a:r>
                    </a:p>
                    <a:p>
                      <a:r>
                        <a:rPr sz="1725" b="0" u="sng">
                          <a:solidFill>
                            <a:srgbClr val="176DA5"/>
                          </a:solidFill>
                          <a:latin typeface="Meiryo UI"/>
                          <a:ea typeface="Meiryo UI"/>
                          <a:cs typeface="Meiryo UI"/>
                          <a:hlinkClick xmlns:r="http://schemas.openxmlformats.org/officeDocument/2006/relationships" r:id="R114e1f4d310e48ce"/>
                        </a:rPr>
                        <a:t>定義</a:t>
                      </a:r>
                    </a:p>
                  </a:txBody>
                  <a:tcPr marL="91440" marR="91440" marT="45720" marB="45720" anchor="ctr">
                    <a:lnR w="6668">
                      <a:solidFill>
                        <a:srgbClr val="D7E0E8"/>
                      </a:solidFill>
                      <a:prstDash val="solid"/>
                    </a:lnR>
                    <a:lnB w="6668">
                      <a:solidFill>
                        <a:srgbClr val="D7E0E8"/>
                      </a:solidFill>
                      <a:prstDash val="solid"/>
                    </a:lnB>
                    <a:solidFill>
                      <a:srgbClr val="FFFFFF"/>
                    </a:solidFill>
                  </a:tcPr>
                </a:tc>
              </a:tr>
              <a:tr h="1066800">
                <a:tc>
                  <a:txBody>
                    <a:bodyPr wrap="square" lIns="114300" tIns="95250" rIns="114300" bIns="95250">
                      <a:noAutofit/>
                    </a:bodyPr>
                    <a:lstStyle/>
                    <a:p>
                      <a:pPr>
                        <a:lnSpc>
                          <a:spcPct val="100000"/>
                        </a:lnSpc>
                        <a:buNone/>
                      </a:pPr>
                      <a:r>
                        <a:rPr sz="1725" b="1">
                          <a:solidFill>
                            <a:srgbClr val="152D48"/>
                          </a:solidFill>
                          <a:latin typeface="Meiryo UI"/>
                          <a:ea typeface="Meiryo UI"/>
                          <a:cs typeface="Meiryo UI"/>
                        </a:rPr>
                        <a:t>49</a:t>
                      </a:r>
                    </a:p>
                    <a:p>
                      <a:pPr>
                        <a:lnSpc>
                          <a:spcPct val="100000"/>
                        </a:lnSpc>
                        <a:buNone/>
                      </a:pPr>
                      <a:r>
                        <a:rPr sz="1725" b="1">
                          <a:solidFill>
                            <a:srgbClr val="152D48"/>
                          </a:solidFill>
                          <a:latin typeface="Meiryo UI"/>
                          <a:ea typeface="Meiryo UI"/>
                          <a:cs typeface="Meiryo UI"/>
                        </a:rPr>
                        <a:t>access_denied</a:t>
                      </a:r>
                    </a:p>
                  </a:txBody>
                  <a:tcPr marL="91440" marR="91440" marT="45720" marB="45720" anchor="ctr">
                    <a:lnL w="6668">
                      <a:solidFill>
                        <a:srgbClr val="D7E0E8"/>
                      </a:solidFill>
                      <a:prstDash val="solid"/>
                    </a:lnL>
                    <a:lnR w="6668">
                      <a:solidFill>
                        <a:srgbClr val="D7E0E8"/>
                      </a:solidFill>
                      <a:prstDash val="solid"/>
                    </a:lnR>
                    <a:lnB w="6668">
                      <a:solidFill>
                        <a:srgbClr val="D7E0E8"/>
                      </a:solidFill>
                      <a:prstDash val="solid"/>
                    </a:lnB>
                    <a:solidFill>
                      <a:srgbClr val="F4F7FA"/>
                    </a:solidFill>
                  </a:tcPr>
                </a:tc>
                <a:tc>
                  <a:txBody>
                    <a:bodyPr wrap="square" lIns="114300" tIns="95250" rIns="114300" bIns="95250">
                      <a:noAutofit/>
                    </a:bodyPr>
                    <a:lstStyle/>
                    <a:p>
                      <a:pPr>
                        <a:lnSpc>
                          <a:spcPct val="108000"/>
                        </a:lnSpc>
                        <a:buNone/>
                      </a:pPr>
                      <a:r>
                        <a:rPr sz="1725" b="1">
                          <a:solidFill>
                            <a:srgbClr val="506579"/>
                          </a:solidFill>
                          <a:latin typeface="Meiryo UI"/>
                          <a:ea typeface="Meiryo UI"/>
                          <a:cs typeface="Meiryo UI"/>
                        </a:rPr>
                        <a:t>未実装のみでは</a:t>
                      </a:r>
                    </a:p>
                    <a:p>
                      <a:pPr>
                        <a:lnSpc>
                          <a:spcPct val="108000"/>
                        </a:lnSpc>
                        <a:buNone/>
                      </a:pPr>
                      <a:r>
                        <a:rPr sz="1725" b="1">
                          <a:solidFill>
                            <a:srgbClr val="506579"/>
                          </a:solidFill>
                          <a:latin typeface="Meiryo UI"/>
                          <a:ea typeface="Meiryo UI"/>
                          <a:cs typeface="Meiryo UI"/>
                        </a:rPr>
                        <a:t>違反といえない</a:t>
                      </a:r>
                    </a:p>
                  </a:txBody>
                  <a:tcPr marL="91440" marR="91440" marT="45720" marB="45720" anchor="ctr">
                    <a:lnR w="6668">
                      <a:solidFill>
                        <a:srgbClr val="D7E0E8"/>
                      </a:solidFill>
                      <a:prstDash val="solid"/>
                    </a:lnR>
                    <a:lnB w="6668">
                      <a:solidFill>
                        <a:srgbClr val="D7E0E8"/>
                      </a:solidFill>
                      <a:prstDash val="solid"/>
                    </a:lnB>
                    <a:solidFill>
                      <a:srgbClr val="F4F7FA"/>
                    </a:solidFill>
                  </a:tcPr>
                </a:tc>
                <a:tc>
                  <a:txBody>
                    <a:bodyPr wrap="square" lIns="114300" tIns="85725" rIns="114300" bIns="85725">
                      <a:noAutofit/>
                    </a:bodyPr>
                    <a:lstStyle/>
                    <a:p>
                      <a:pPr>
                        <a:lnSpc>
                          <a:spcPct val="105000"/>
                        </a:lnSpc>
                        <a:buNone/>
                      </a:pPr>
                      <a:r>
                        <a:rPr sz="1725" b="0">
                          <a:solidFill>
                            <a:srgbClr val="1B2E43"/>
                          </a:solidFill>
                          <a:latin typeface="Meiryo UI"/>
                          <a:ea typeface="Meiryo UI"/>
                          <a:cs typeface="Meiryo UI"/>
                        </a:rPr>
                        <a:t>49の送信経路がないだけでは、</a:t>
                      </a:r>
                    </a:p>
                    <a:p>
                      <a:pPr>
                        <a:lnSpc>
                          <a:spcPct val="105000"/>
                        </a:lnSpc>
                        <a:buNone/>
                      </a:pPr>
                      <a:r>
                        <a:rPr sz="1725" b="0">
                          <a:solidFill>
                            <a:srgbClr val="1B2E43"/>
                          </a:solidFill>
                          <a:latin typeface="Meiryo UI"/>
                          <a:ea typeface="Meiryo UI"/>
                          <a:cs typeface="Meiryo UI"/>
                        </a:rPr>
                        <a:t>該当するアクセス制御や拒否条件の</a:t>
                      </a:r>
                    </a:p>
                    <a:p>
                      <a:pPr>
                        <a:lnSpc>
                          <a:spcPct val="105000"/>
                        </a:lnSpc>
                        <a:buNone/>
                      </a:pPr>
                      <a:r>
                        <a:rPr sz="1725" b="0">
                          <a:solidFill>
                            <a:srgbClr val="1B2E43"/>
                          </a:solidFill>
                          <a:latin typeface="Meiryo UI"/>
                          <a:ea typeface="Meiryo UI"/>
                          <a:cs typeface="Meiryo UI"/>
                        </a:rPr>
                        <a:t>実施を確認できず、違反を断定できない。</a:t>
                      </a:r>
                    </a:p>
                  </a:txBody>
                  <a:tcPr marL="91440" marR="91440" marT="45720" marB="45720" anchor="ctr">
                    <a:lnR w="6668">
                      <a:solidFill>
                        <a:srgbClr val="D7E0E8"/>
                      </a:solidFill>
                      <a:prstDash val="solid"/>
                    </a:lnR>
                    <a:lnB w="6668">
                      <a:solidFill>
                        <a:srgbClr val="D7E0E8"/>
                      </a:solidFill>
                      <a:prstDash val="solid"/>
                    </a:lnB>
                    <a:solidFill>
                      <a:srgbClr val="F4F7FA"/>
                    </a:solidFill>
                  </a:tcPr>
                </a:tc>
                <a:tc>
                  <a:txBody>
                    <a:bodyPr wrap="square" lIns="95250" tIns="76200" rIns="95250" bIns="76200">
                      <a:noAutofit/>
                    </a:bodyPr>
                    <a:lstStyle/>
                    <a:p>
                      <a:r>
                        <a:rPr sz="1725" b="0" u="sng">
                          <a:solidFill>
                            <a:srgbClr val="176DA5"/>
                          </a:solidFill>
                          <a:latin typeface="Meiryo UI"/>
                          <a:ea typeface="Meiryo UI"/>
                          <a:cs typeface="Meiryo UI"/>
                          <a:hlinkClick xmlns:r="http://schemas.openxmlformats.org/officeDocument/2006/relationships" r:id="R313d84fed15d4449"/>
                        </a:rPr>
                        <a:t>§6.2</a:t>
                      </a:r>
                    </a:p>
                    <a:p>
                      <a:r>
                        <a:rPr sz="1725" b="0" u="sng">
                          <a:solidFill>
                            <a:srgbClr val="176DA5"/>
                          </a:solidFill>
                          <a:latin typeface="Meiryo UI"/>
                          <a:ea typeface="Meiryo UI"/>
                          <a:cs typeface="Meiryo UI"/>
                          <a:hlinkClick xmlns:r="http://schemas.openxmlformats.org/officeDocument/2006/relationships" r:id="R8bd7bab726f14e95"/>
                        </a:rPr>
                        <a:t>ソース</a:t>
                      </a:r>
                    </a:p>
                    <a:p>
                      <a:r>
                        <a:rPr sz="1725" b="0" u="sng">
                          <a:solidFill>
                            <a:srgbClr val="176DA5"/>
                          </a:solidFill>
                          <a:latin typeface="Meiryo UI"/>
                          <a:ea typeface="Meiryo UI"/>
                          <a:cs typeface="Meiryo UI"/>
                          <a:hlinkClick xmlns:r="http://schemas.openxmlformats.org/officeDocument/2006/relationships" r:id="Rc91db7623d3d4c7a"/>
                        </a:rPr>
                        <a:t>定義</a:t>
                      </a:r>
                    </a:p>
                  </a:txBody>
                  <a:tcPr marL="91440" marR="91440" marT="45720" marB="45720" anchor="ctr">
                    <a:lnR w="6668">
                      <a:solidFill>
                        <a:srgbClr val="D7E0E8"/>
                      </a:solidFill>
                      <a:prstDash val="solid"/>
                    </a:lnR>
                    <a:lnB w="6668">
                      <a:solidFill>
                        <a:srgbClr val="D7E0E8"/>
                      </a:solidFill>
                      <a:prstDash val="solid"/>
                    </a:lnB>
                    <a:solidFill>
                      <a:srgbClr val="F4F7FA"/>
                    </a:solidFill>
                  </a:tcPr>
                </a:tc>
              </a:tr>
            </a:tbl>
          </a:graphicData>
        </a:graphic>
      </p:graphicFrame>
      <p:sp>
        <p:nvSpPr>
          <p:cNvPr id="5" name="text-4">
            <a:extLst xmlns:a="http://schemas.openxmlformats.org/drawingml/2006/main">
              <a:ext uri="{FF2B5EF4-FFF2-40B4-BE49-F238E27FC236}">
                <a16:creationId xmlns:a16="http://schemas.microsoft.com/office/drawing/2014/main" id="{7E5F4E3F-95BB-4857-9361-FA36BD487859}"/>
              </a:ext>
            </a:extLst>
          </p:cNvPr>
          <p:cNvSpPr>
            <a:spLocks xmlns:a="http://schemas.openxmlformats.org/drawingml/2006/main" noGrp="1"/>
          </p:cNvSpPr>
          <p:nvPr/>
        </p:nvSpPr>
        <p:spPr>
          <a:xfrm xmlns:a="http://schemas.openxmlformats.org/drawingml/2006/main">
            <a:off x="609600" y="63722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06579"/>
                </a:solidFill>
                <a:latin typeface="Meiryo UI"/>
                <a:ea typeface="Meiryo UI"/>
                <a:cs typeface="Meiryo UI"/>
              </a:defRPr>
            </a:defPPr>
          </a:lstStyle>
          <a:p xmlns:a="http://schemas.openxmlformats.org/drawingml/2006/main">
            <a:pPr>
              <a:lnSpc>
                <a:spcPct val="110000"/>
              </a:lnSpc>
              <a:buNone/>
              <a:defRPr sz="1425" b="0">
                <a:solidFill>
                  <a:srgbClr val="506579"/>
                </a:solidFill>
                <a:latin typeface="Meiryo UI"/>
                <a:ea typeface="Meiryo UI"/>
                <a:cs typeface="Meiryo UI"/>
              </a:defRPr>
            </a:pPr>
            <a:r>
              <a:rPr sz="1425" b="0">
                <a:solidFill>
                  <a:srgbClr val="506579"/>
                </a:solidFill>
                <a:latin typeface="Meiryo UI"/>
                <a:ea typeface="Meiryo UI"/>
                <a:cs typeface="Meiryo UI"/>
              </a:rPr>
              <a:t>静的調査。違反未確認は、全条件での適合認定を意味しない。</a:t>
            </a:r>
          </a:p>
        </p:txBody>
      </p:sp>
    </p:spTree>
    <p:extLst>
      <p:ext uri="{BB962C8B-B14F-4D97-AF65-F5344CB8AC3E}">
        <p14:creationId xmlns:p14="http://schemas.microsoft.com/office/powerpoint/2010/main" val="145400867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1">
            <a:extLst xmlns:a="http://schemas.openxmlformats.org/drawingml/2006/main">
              <a:ext uri="{FF2B5EF4-FFF2-40B4-BE49-F238E27FC236}">
                <a16:creationId xmlns:a16="http://schemas.microsoft.com/office/drawing/2014/main" id="{C7584346-066D-4906-9A68-4981DD799053}"/>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D48"/>
                </a:solidFill>
                <a:latin typeface="Meiryo UI"/>
                <a:ea typeface="Meiryo UI"/>
                <a:cs typeface="Meiryo UI"/>
              </a:defRPr>
            </a:defPPr>
          </a:lstStyle>
          <a:p xmlns:a="http://schemas.openxmlformats.org/drawingml/2006/main">
            <a:pPr>
              <a:lnSpc>
                <a:spcPct val="110000"/>
              </a:lnSpc>
              <a:buNone/>
              <a:defRPr sz="3300" b="1">
                <a:solidFill>
                  <a:srgbClr val="152D48"/>
                </a:solidFill>
                <a:latin typeface="Meiryo UI"/>
                <a:ea typeface="Meiryo UI"/>
                <a:cs typeface="Meiryo UI"/>
              </a:defRPr>
            </a:pPr>
            <a:r>
              <a:rPr sz="3300" b="1">
                <a:solidFill>
                  <a:srgbClr val="152D48"/>
                </a:solidFill>
                <a:latin typeface="Meiryo UI"/>
                <a:ea typeface="Meiryo UI"/>
                <a:cs typeface="Meiryo UI"/>
              </a:rPr>
              <a:t>26種類の判定一覧 4/7</a:t>
            </a:r>
          </a:p>
        </p:txBody>
      </p:sp>
      <p:sp>
        <p:nvSpPr>
          <p:cNvPr id="2" name="text-2">
            <a:extLst xmlns:a="http://schemas.openxmlformats.org/drawingml/2006/main">
              <a:ext uri="{FF2B5EF4-FFF2-40B4-BE49-F238E27FC236}">
                <a16:creationId xmlns:a16="http://schemas.microsoft.com/office/drawing/2014/main" id="{ADA92C10-7FD8-49B9-B65D-74E1E51D171E}"/>
              </a:ext>
            </a:extLst>
          </p:cNvPr>
          <p:cNvSpPr>
            <a:spLocks xmlns:a="http://schemas.openxmlformats.org/drawingml/2006/main" noGrp="1"/>
          </p:cNvSpPr>
          <p:nvPr/>
        </p:nvSpPr>
        <p:spPr>
          <a:xfrm xmlns:a="http://schemas.openxmlformats.org/drawingml/2006/main">
            <a:off x="609600" y="10668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02" b="0">
                <a:solidFill>
                  <a:srgbClr val="506579"/>
                </a:solidFill>
                <a:latin typeface="Meiryo UI"/>
                <a:ea typeface="Meiryo UI"/>
                <a:cs typeface="Meiryo UI"/>
              </a:defRPr>
            </a:defPPr>
          </a:lstStyle>
          <a:p xmlns:a="http://schemas.openxmlformats.org/drawingml/2006/main">
            <a:pPr>
              <a:lnSpc>
                <a:spcPct val="110000"/>
              </a:lnSpc>
              <a:buNone/>
              <a:defRPr sz="1702" b="0">
                <a:solidFill>
                  <a:srgbClr val="506579"/>
                </a:solidFill>
                <a:latin typeface="Meiryo UI"/>
                <a:ea typeface="Meiryo UI"/>
                <a:cs typeface="Meiryo UI"/>
              </a:defRPr>
            </a:pPr>
            <a:r>
              <a:rPr sz="1702" b="0">
                <a:solidFill>
                  <a:srgbClr val="506579"/>
                </a:solidFill>
                <a:latin typeface="Meiryo UI"/>
                <a:ea typeface="Meiryo UI"/>
                <a:cs typeface="Meiryo UI"/>
              </a:rPr>
              <a:t>Alert番号 50–71　根拠欄の文字はリンク</a:t>
            </a:r>
          </a:p>
        </p:txBody>
      </p:sp>
      <p:sp>
        <p:nvSpPr>
          <p:cNvPr id="3" name="text-3">
            <a:extLst xmlns:a="http://schemas.openxmlformats.org/drawingml/2006/main">
              <a:ext uri="{FF2B5EF4-FFF2-40B4-BE49-F238E27FC236}">
                <a16:creationId xmlns:a16="http://schemas.microsoft.com/office/drawing/2014/main" id="{A24C803F-652F-4A12-BBE1-790771860891}"/>
              </a:ext>
            </a:extLst>
          </p:cNvPr>
          <p:cNvSpPr>
            <a:spLocks xmlns:a="http://schemas.openxmlformats.org/drawingml/2006/main" noGrp="1"/>
          </p:cNvSpPr>
          <p:nvPr/>
        </p:nvSpPr>
        <p:spPr>
          <a:xfrm xmlns:a="http://schemas.openxmlformats.org/drawingml/2006/main">
            <a:off x="11049000" y="644842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06579"/>
                </a:solidFill>
                <a:latin typeface="Meiryo UI"/>
                <a:ea typeface="Meiryo UI"/>
                <a:cs typeface="Meiryo UI"/>
              </a:defRPr>
            </a:defPPr>
          </a:lstStyle>
          <a:p xmlns:a="http://schemas.openxmlformats.org/drawingml/2006/main">
            <a:pPr>
              <a:lnSpc>
                <a:spcPct val="110000"/>
              </a:lnSpc>
              <a:buNone/>
              <a:defRPr sz="1275" b="0">
                <a:solidFill>
                  <a:srgbClr val="506579"/>
                </a:solidFill>
                <a:latin typeface="Meiryo UI"/>
                <a:ea typeface="Meiryo UI"/>
                <a:cs typeface="Meiryo UI"/>
              </a:defRPr>
            </a:pPr>
            <a:r>
              <a:rPr sz="1275" b="0">
                <a:solidFill>
                  <a:srgbClr val="506579"/>
                </a:solidFill>
                <a:latin typeface="Meiryo UI"/>
                <a:ea typeface="Meiryo UI"/>
                <a:cs typeface="Meiryo UI"/>
              </a:rPr>
              <a:t>08</a:t>
            </a:r>
          </a:p>
        </p:txBody>
      </p:sp>
      <p:graphicFrame>
        <p:nvGraphicFramePr>
          <p:cNvPr id="4" name="">
            <a:extLst xmlns:a="http://schemas.openxmlformats.org/drawingml/2006/main">
              <a:ext uri="{FF2B5EF4-FFF2-40B4-BE49-F238E27FC236}">
                <a16:creationId xmlns:a16="http://schemas.microsoft.com/office/drawing/2014/main" id="{63FEA270-7777-435F-A510-4D3552D8B352}"/>
              </a:ext>
            </a:extLst>
          </p:cNvPr>
          <p:cNvGraphicFramePr/>
          <p:nvPr/>
        </p:nvGraphicFramePr>
        <p:xfrm>
          <a:off xmlns:a="http://schemas.openxmlformats.org/drawingml/2006/main" x="609600" y="1504950"/>
          <a:ext xmlns:a="http://schemas.openxmlformats.org/drawingml/2006/main" cx="10972800" cy="4724400"/>
        </p:xfrm>
        <a:graphic xmlns:a="http://schemas.openxmlformats.org/drawingml/2006/main">
          <a:graphicData uri="http://schemas.openxmlformats.org/drawingml/2006/table">
            <a:tbl>
              <a:tblPr firstRow="0" bandRow="0"/>
              <a:tblGrid>
                <a:gridCol w="2724150"/>
                <a:gridCol w="2324100"/>
                <a:gridCol w="4667250"/>
                <a:gridCol w="1257300"/>
              </a:tblGrid>
              <a:tr h="457200">
                <a:tc>
                  <a:txBody>
                    <a:bodyPr wrap="square" lIns="114300" tIns="85725" rIns="114300" bIns="85725">
                      <a:noAutofit/>
                    </a:bodyPr>
                    <a:lstStyle/>
                    <a:p>
                      <a:pPr>
                        <a:lnSpc>
                          <a:spcPct val="105000"/>
                        </a:lnSpc>
                        <a:buNone/>
                      </a:pPr>
                      <a:r>
                        <a:rPr sz="1725" b="1">
                          <a:solidFill>
                            <a:srgbClr val="FFFFFF"/>
                          </a:solidFill>
                          <a:latin typeface="Meiryo UI"/>
                          <a:ea typeface="Meiryo UI"/>
                          <a:cs typeface="Meiryo UI"/>
                        </a:rPr>
                        <a:t>番号・Alert</a:t>
                      </a:r>
                    </a:p>
                  </a:txBody>
                  <a:tcPr marL="91440" marR="91440" marT="45720" marB="45720" anchor="ctr">
                    <a:lnL w="6668">
                      <a:solidFill>
                        <a:srgbClr val="D7E0E8"/>
                      </a:solidFill>
                      <a:prstDash val="solid"/>
                    </a:lnL>
                    <a:lnR w="6668">
                      <a:solidFill>
                        <a:srgbClr val="D7E0E8"/>
                      </a:solidFill>
                      <a:prstDash val="solid"/>
                    </a:lnR>
                    <a:lnT w="6668">
                      <a:solidFill>
                        <a:srgbClr val="D7E0E8"/>
                      </a:solidFill>
                      <a:prstDash val="solid"/>
                    </a:lnT>
                    <a:lnB w="6668">
                      <a:solidFill>
                        <a:srgbClr val="D7E0E8"/>
                      </a:solidFill>
                      <a:prstDash val="solid"/>
                    </a:lnB>
                    <a:solidFill>
                      <a:srgbClr val="152D48"/>
                    </a:solidFill>
                  </a:tcPr>
                </a:tc>
                <a:tc>
                  <a:txBody>
                    <a:bodyPr wrap="square" lIns="114300" tIns="85725" rIns="114300" bIns="85725">
                      <a:noAutofit/>
                    </a:bodyPr>
                    <a:lstStyle/>
                    <a:p>
                      <a:pPr>
                        <a:lnSpc>
                          <a:spcPct val="105000"/>
                        </a:lnSpc>
                        <a:buNone/>
                      </a:pPr>
                      <a:r>
                        <a:rPr sz="1725" b="1">
                          <a:solidFill>
                            <a:srgbClr val="FFFFFF"/>
                          </a:solidFill>
                          <a:latin typeface="Meiryo UI"/>
                          <a:ea typeface="Meiryo UI"/>
                          <a:cs typeface="Meiryo UI"/>
                        </a:rPr>
                        <a:t>RFC違反の判定</a:t>
                      </a:r>
                    </a:p>
                  </a:txBody>
                  <a:tcPr marL="91440" marR="91440" marT="45720" marB="45720" anchor="ctr">
                    <a:lnR w="6668">
                      <a:solidFill>
                        <a:srgbClr val="D7E0E8"/>
                      </a:solidFill>
                      <a:prstDash val="solid"/>
                    </a:lnR>
                    <a:lnT w="6668">
                      <a:solidFill>
                        <a:srgbClr val="D7E0E8"/>
                      </a:solidFill>
                      <a:prstDash val="solid"/>
                    </a:lnT>
                    <a:lnB w="6668">
                      <a:solidFill>
                        <a:srgbClr val="D7E0E8"/>
                      </a:solidFill>
                      <a:prstDash val="solid"/>
                    </a:lnB>
                    <a:solidFill>
                      <a:srgbClr val="152D48"/>
                    </a:solidFill>
                  </a:tcPr>
                </a:tc>
                <a:tc>
                  <a:txBody>
                    <a:bodyPr wrap="square" lIns="114300" tIns="85725" rIns="114300" bIns="85725">
                      <a:noAutofit/>
                    </a:bodyPr>
                    <a:lstStyle/>
                    <a:p>
                      <a:pPr>
                        <a:lnSpc>
                          <a:spcPct val="105000"/>
                        </a:lnSpc>
                        <a:buNone/>
                      </a:pPr>
                      <a:r>
                        <a:rPr sz="1725" b="1">
                          <a:solidFill>
                            <a:srgbClr val="FFFFFF"/>
                          </a:solidFill>
                          <a:latin typeface="Meiryo UI"/>
                          <a:ea typeface="Meiryo UI"/>
                          <a:cs typeface="Meiryo UI"/>
                        </a:rPr>
                        <a:t>確認した条件と判定理由</a:t>
                      </a:r>
                    </a:p>
                  </a:txBody>
                  <a:tcPr marL="91440" marR="91440" marT="45720" marB="45720" anchor="ctr">
                    <a:lnR w="6668">
                      <a:solidFill>
                        <a:srgbClr val="D7E0E8"/>
                      </a:solidFill>
                      <a:prstDash val="solid"/>
                    </a:lnR>
                    <a:lnT w="6668">
                      <a:solidFill>
                        <a:srgbClr val="D7E0E8"/>
                      </a:solidFill>
                      <a:prstDash val="solid"/>
                    </a:lnT>
                    <a:lnB w="6668">
                      <a:solidFill>
                        <a:srgbClr val="D7E0E8"/>
                      </a:solidFill>
                      <a:prstDash val="solid"/>
                    </a:lnB>
                    <a:solidFill>
                      <a:srgbClr val="152D48"/>
                    </a:solidFill>
                  </a:tcPr>
                </a:tc>
                <a:tc>
                  <a:txBody>
                    <a:bodyPr wrap="square" lIns="114300" tIns="85725" rIns="114300" bIns="85725">
                      <a:noAutofit/>
                    </a:bodyPr>
                    <a:lstStyle/>
                    <a:p>
                      <a:pPr>
                        <a:lnSpc>
                          <a:spcPct val="105000"/>
                        </a:lnSpc>
                        <a:buNone/>
                      </a:pPr>
                      <a:r>
                        <a:rPr sz="1725" b="1">
                          <a:solidFill>
                            <a:srgbClr val="FFFFFF"/>
                          </a:solidFill>
                          <a:latin typeface="Meiryo UI"/>
                          <a:ea typeface="Meiryo UI"/>
                          <a:cs typeface="Meiryo UI"/>
                        </a:rPr>
                        <a:t>根拠</a:t>
                      </a:r>
                    </a:p>
                  </a:txBody>
                  <a:tcPr marL="91440" marR="91440" marT="45720" marB="45720" anchor="ctr">
                    <a:lnR w="6668">
                      <a:solidFill>
                        <a:srgbClr val="D7E0E8"/>
                      </a:solidFill>
                      <a:prstDash val="solid"/>
                    </a:lnR>
                    <a:lnT w="6668">
                      <a:solidFill>
                        <a:srgbClr val="D7E0E8"/>
                      </a:solidFill>
                      <a:prstDash val="solid"/>
                    </a:lnT>
                    <a:lnB w="6668">
                      <a:solidFill>
                        <a:srgbClr val="D7E0E8"/>
                      </a:solidFill>
                      <a:prstDash val="solid"/>
                    </a:lnB>
                    <a:solidFill>
                      <a:srgbClr val="152D48"/>
                    </a:solidFill>
                  </a:tcPr>
                </a:tc>
              </a:tr>
              <a:tr h="1066800">
                <a:tc>
                  <a:txBody>
                    <a:bodyPr wrap="square" lIns="114300" tIns="95250" rIns="114300" bIns="95250">
                      <a:noAutofit/>
                    </a:bodyPr>
                    <a:lstStyle/>
                    <a:p>
                      <a:pPr>
                        <a:lnSpc>
                          <a:spcPct val="100000"/>
                        </a:lnSpc>
                        <a:buNone/>
                      </a:pPr>
                      <a:r>
                        <a:rPr sz="1725" b="1">
                          <a:solidFill>
                            <a:srgbClr val="152D48"/>
                          </a:solidFill>
                          <a:latin typeface="Meiryo UI"/>
                          <a:ea typeface="Meiryo UI"/>
                          <a:cs typeface="Meiryo UI"/>
                        </a:rPr>
                        <a:t>50</a:t>
                      </a:r>
                    </a:p>
                    <a:p>
                      <a:pPr>
                        <a:lnSpc>
                          <a:spcPct val="100000"/>
                        </a:lnSpc>
                        <a:buNone/>
                      </a:pPr>
                      <a:r>
                        <a:rPr sz="1725" b="1">
                          <a:solidFill>
                            <a:srgbClr val="152D48"/>
                          </a:solidFill>
                          <a:latin typeface="Meiryo UI"/>
                          <a:ea typeface="Meiryo UI"/>
                          <a:cs typeface="Meiryo UI"/>
                        </a:rPr>
                        <a:t>decode_error</a:t>
                      </a:r>
                    </a:p>
                  </a:txBody>
                  <a:tcPr marL="91440" marR="91440" marT="45720" marB="45720" anchor="ctr">
                    <a:lnL w="6668">
                      <a:solidFill>
                        <a:srgbClr val="D7E0E8"/>
                      </a:solidFill>
                      <a:prstDash val="solid"/>
                    </a:lnL>
                    <a:lnR w="6668">
                      <a:solidFill>
                        <a:srgbClr val="D7E0E8"/>
                      </a:solidFill>
                      <a:prstDash val="solid"/>
                    </a:lnR>
                    <a:lnB w="6668">
                      <a:solidFill>
                        <a:srgbClr val="D7E0E8"/>
                      </a:solidFill>
                      <a:prstDash val="solid"/>
                    </a:lnB>
                    <a:solidFill>
                      <a:srgbClr val="FFFFFF"/>
                    </a:solidFill>
                  </a:tcPr>
                </a:tc>
                <a:tc>
                  <a:txBody>
                    <a:bodyPr wrap="square" lIns="114300" tIns="95250" rIns="114300" bIns="95250">
                      <a:noAutofit/>
                    </a:bodyPr>
                    <a:lstStyle/>
                    <a:p>
                      <a:pPr>
                        <a:lnSpc>
                          <a:spcPct val="108000"/>
                        </a:lnSpc>
                        <a:buNone/>
                      </a:pPr>
                      <a:r>
                        <a:rPr sz="1725" b="1">
                          <a:solidFill>
                            <a:srgbClr val="A72C35"/>
                          </a:solidFill>
                          <a:latin typeface="Meiryo UI"/>
                          <a:ea typeface="Meiryo UI"/>
                          <a:cs typeface="Meiryo UI"/>
                        </a:rPr>
                        <a:t>違反あり</a:t>
                      </a:r>
                    </a:p>
                    <a:p>
                      <a:pPr>
                        <a:lnSpc>
                          <a:spcPct val="108000"/>
                        </a:lnSpc>
                        <a:buNone/>
                      </a:pPr>
                      <a:r>
                        <a:rPr sz="1725" b="1">
                          <a:solidFill>
                            <a:srgbClr val="A72C35"/>
                          </a:solidFill>
                          <a:latin typeface="Meiryo UI"/>
                          <a:ea typeface="Meiryo UI"/>
                          <a:cs typeface="Meiryo UI"/>
                        </a:rPr>
                        <a:t>MUST不一致</a:t>
                      </a:r>
                    </a:p>
                  </a:txBody>
                  <a:tcPr marL="91440" marR="91440" marT="45720" marB="45720" anchor="ctr">
                    <a:lnR w="6668">
                      <a:solidFill>
                        <a:srgbClr val="D7E0E8"/>
                      </a:solidFill>
                      <a:prstDash val="solid"/>
                    </a:lnR>
                    <a:lnB w="6668">
                      <a:solidFill>
                        <a:srgbClr val="D7E0E8"/>
                      </a:solidFill>
                      <a:prstDash val="solid"/>
                    </a:lnB>
                    <a:solidFill>
                      <a:srgbClr val="FFFFFF"/>
                    </a:solidFill>
                  </a:tcPr>
                </a:tc>
                <a:tc>
                  <a:txBody>
                    <a:bodyPr wrap="square" lIns="114300" tIns="85725" rIns="114300" bIns="85725">
                      <a:noAutofit/>
                    </a:bodyPr>
                    <a:lstStyle/>
                    <a:p>
                      <a:pPr>
                        <a:lnSpc>
                          <a:spcPct val="105000"/>
                        </a:lnSpc>
                        <a:buNone/>
                      </a:pPr>
                      <a:r>
                        <a:rPr sz="1725" b="0">
                          <a:solidFill>
                            <a:srgbClr val="1B2E43"/>
                          </a:solidFill>
                          <a:latin typeface="Meiryo UI"/>
                          <a:ea typeface="Meiryo UI"/>
                          <a:cs typeface="Meiryo UI"/>
                        </a:rPr>
                        <a:t>構文エラーに50を要求するRFC §6に</a:t>
                      </a:r>
                    </a:p>
                    <a:p>
                      <a:pPr>
                        <a:lnSpc>
                          <a:spcPct val="105000"/>
                        </a:lnSpc>
                        <a:buNone/>
                      </a:pPr>
                      <a:r>
                        <a:rPr sz="1725" b="0">
                          <a:solidFill>
                            <a:srgbClr val="1B2E43"/>
                          </a:solidFill>
                          <a:latin typeface="Meiryo UI"/>
                          <a:ea typeface="Meiryo UI"/>
                          <a:cs typeface="Meiryo UI"/>
                        </a:rPr>
                        <a:t>対し、47を選ぶ長さ検査がある。</a:t>
                      </a:r>
                    </a:p>
                  </a:txBody>
                  <a:tcPr marL="91440" marR="91440" marT="45720" marB="45720" anchor="ctr">
                    <a:lnR w="6668">
                      <a:solidFill>
                        <a:srgbClr val="D7E0E8"/>
                      </a:solidFill>
                      <a:prstDash val="solid"/>
                    </a:lnR>
                    <a:lnB w="6668">
                      <a:solidFill>
                        <a:srgbClr val="D7E0E8"/>
                      </a:solidFill>
                      <a:prstDash val="solid"/>
                    </a:lnB>
                    <a:solidFill>
                      <a:srgbClr val="FFFFFF"/>
                    </a:solidFill>
                  </a:tcPr>
                </a:tc>
                <a:tc>
                  <a:txBody>
                    <a:bodyPr wrap="square" lIns="95250" tIns="76200" rIns="95250" bIns="76200">
                      <a:noAutofit/>
                    </a:bodyPr>
                    <a:lstStyle/>
                    <a:p>
                      <a:r>
                        <a:rPr sz="1725" b="0" u="sng">
                          <a:solidFill>
                            <a:srgbClr val="176DA5"/>
                          </a:solidFill>
                          <a:latin typeface="Meiryo UI"/>
                          <a:ea typeface="Meiryo UI"/>
                          <a:cs typeface="Meiryo UI"/>
                          <a:hlinkClick xmlns:r="http://schemas.openxmlformats.org/officeDocument/2006/relationships" r:id="Ra426a36fa01c4061"/>
                        </a:rPr>
                        <a:t>§6</a:t>
                      </a:r>
                    </a:p>
                    <a:p>
                      <a:r>
                        <a:rPr sz="1725" b="0" u="sng">
                          <a:solidFill>
                            <a:srgbClr val="176DA5"/>
                          </a:solidFill>
                          <a:latin typeface="Meiryo UI"/>
                          <a:ea typeface="Meiryo UI"/>
                          <a:cs typeface="Meiryo UI"/>
                          <a:hlinkClick xmlns:r="http://schemas.openxmlformats.org/officeDocument/2006/relationships" r:id="Ra8ac42775190479d"/>
                        </a:rPr>
                        <a:t>ソース</a:t>
                      </a:r>
                    </a:p>
                    <a:p>
                      <a:r>
                        <a:rPr sz="1725" b="0" u="sng">
                          <a:solidFill>
                            <a:srgbClr val="176DA5"/>
                          </a:solidFill>
                          <a:latin typeface="Meiryo UI"/>
                          <a:ea typeface="Meiryo UI"/>
                          <a:cs typeface="Meiryo UI"/>
                          <a:hlinkClick xmlns:r="http://schemas.openxmlformats.org/officeDocument/2006/relationships" r:id="R4291d27e0bac45cd"/>
                        </a:rPr>
                        <a:t>定義</a:t>
                      </a:r>
                    </a:p>
                  </a:txBody>
                  <a:tcPr marL="91440" marR="91440" marT="45720" marB="45720" anchor="ctr">
                    <a:lnR w="6668">
                      <a:solidFill>
                        <a:srgbClr val="D7E0E8"/>
                      </a:solidFill>
                      <a:prstDash val="solid"/>
                    </a:lnR>
                    <a:lnB w="6668">
                      <a:solidFill>
                        <a:srgbClr val="D7E0E8"/>
                      </a:solidFill>
                      <a:prstDash val="solid"/>
                    </a:lnB>
                    <a:solidFill>
                      <a:srgbClr val="FFFFFF"/>
                    </a:solidFill>
                  </a:tcPr>
                </a:tc>
              </a:tr>
              <a:tr h="1066800">
                <a:tc>
                  <a:txBody>
                    <a:bodyPr wrap="square" lIns="114300" tIns="95250" rIns="114300" bIns="95250">
                      <a:noAutofit/>
                    </a:bodyPr>
                    <a:lstStyle/>
                    <a:p>
                      <a:pPr>
                        <a:lnSpc>
                          <a:spcPct val="100000"/>
                        </a:lnSpc>
                        <a:buNone/>
                      </a:pPr>
                      <a:r>
                        <a:rPr sz="1725" b="1">
                          <a:solidFill>
                            <a:srgbClr val="152D48"/>
                          </a:solidFill>
                          <a:latin typeface="Meiryo UI"/>
                          <a:ea typeface="Meiryo UI"/>
                          <a:cs typeface="Meiryo UI"/>
                        </a:rPr>
                        <a:t>51</a:t>
                      </a:r>
                    </a:p>
                    <a:p>
                      <a:pPr>
                        <a:lnSpc>
                          <a:spcPct val="100000"/>
                        </a:lnSpc>
                        <a:buNone/>
                      </a:pPr>
                      <a:r>
                        <a:rPr sz="1725" b="1">
                          <a:solidFill>
                            <a:srgbClr val="152D48"/>
                          </a:solidFill>
                          <a:latin typeface="Meiryo UI"/>
                          <a:ea typeface="Meiryo UI"/>
                          <a:cs typeface="Meiryo UI"/>
                        </a:rPr>
                        <a:t>decrypt_error</a:t>
                      </a:r>
                    </a:p>
                  </a:txBody>
                  <a:tcPr marL="91440" marR="91440" marT="45720" marB="45720" anchor="ctr">
                    <a:lnL w="6668">
                      <a:solidFill>
                        <a:srgbClr val="D7E0E8"/>
                      </a:solidFill>
                      <a:prstDash val="solid"/>
                    </a:lnL>
                    <a:lnR w="6668">
                      <a:solidFill>
                        <a:srgbClr val="D7E0E8"/>
                      </a:solidFill>
                      <a:prstDash val="solid"/>
                    </a:lnR>
                    <a:lnB w="6668">
                      <a:solidFill>
                        <a:srgbClr val="D7E0E8"/>
                      </a:solidFill>
                      <a:prstDash val="solid"/>
                    </a:lnB>
                    <a:solidFill>
                      <a:srgbClr val="F4F7FA"/>
                    </a:solidFill>
                  </a:tcPr>
                </a:tc>
                <a:tc>
                  <a:txBody>
                    <a:bodyPr wrap="square" lIns="114300" tIns="95250" rIns="114300" bIns="95250">
                      <a:noAutofit/>
                    </a:bodyPr>
                    <a:lstStyle/>
                    <a:p>
                      <a:pPr>
                        <a:lnSpc>
                          <a:spcPct val="108000"/>
                        </a:lnSpc>
                        <a:buNone/>
                      </a:pPr>
                      <a:r>
                        <a:rPr sz="1725" b="1">
                          <a:solidFill>
                            <a:srgbClr val="A72C35"/>
                          </a:solidFill>
                          <a:latin typeface="Meiryo UI"/>
                          <a:ea typeface="Meiryo UI"/>
                          <a:cs typeface="Meiryo UI"/>
                        </a:rPr>
                        <a:t>違反あり</a:t>
                      </a:r>
                    </a:p>
                    <a:p>
                      <a:pPr>
                        <a:lnSpc>
                          <a:spcPct val="108000"/>
                        </a:lnSpc>
                        <a:buNone/>
                      </a:pPr>
                      <a:r>
                        <a:rPr sz="1725" b="1">
                          <a:solidFill>
                            <a:srgbClr val="A72C35"/>
                          </a:solidFill>
                          <a:latin typeface="Meiryo UI"/>
                          <a:ea typeface="Meiryo UI"/>
                          <a:cs typeface="Meiryo UI"/>
                        </a:rPr>
                        <a:t>MUST不一致</a:t>
                      </a:r>
                    </a:p>
                  </a:txBody>
                  <a:tcPr marL="91440" marR="91440" marT="45720" marB="45720" anchor="ctr">
                    <a:lnR w="6668">
                      <a:solidFill>
                        <a:srgbClr val="D7E0E8"/>
                      </a:solidFill>
                      <a:prstDash val="solid"/>
                    </a:lnR>
                    <a:lnB w="6668">
                      <a:solidFill>
                        <a:srgbClr val="D7E0E8"/>
                      </a:solidFill>
                      <a:prstDash val="solid"/>
                    </a:lnB>
                    <a:solidFill>
                      <a:srgbClr val="F4F7FA"/>
                    </a:solidFill>
                  </a:tcPr>
                </a:tc>
                <a:tc>
                  <a:txBody>
                    <a:bodyPr wrap="square" lIns="114300" tIns="85725" rIns="114300" bIns="85725">
                      <a:noAutofit/>
                    </a:bodyPr>
                    <a:lstStyle/>
                    <a:p>
                      <a:pPr>
                        <a:lnSpc>
                          <a:spcPct val="105000"/>
                        </a:lnSpc>
                        <a:buNone/>
                      </a:pPr>
                      <a:r>
                        <a:rPr sz="1725" b="0">
                          <a:solidFill>
                            <a:srgbClr val="1B2E43"/>
                          </a:solidFill>
                          <a:latin typeface="Meiryo UI"/>
                          <a:ea typeface="Meiryo UI"/>
                          <a:cs typeface="Meiryo UI"/>
                        </a:rPr>
                        <a:t>CertificateVerify不一致で指定51／実装40。</a:t>
                      </a:r>
                    </a:p>
                    <a:p>
                      <a:pPr>
                        <a:lnSpc>
                          <a:spcPct val="105000"/>
                        </a:lnSpc>
                        <a:buNone/>
                      </a:pPr>
                      <a:r>
                        <a:rPr sz="1725" b="0">
                          <a:solidFill>
                            <a:srgbClr val="1B2E43"/>
                          </a:solidFill>
                          <a:latin typeface="Meiryo UI"/>
                          <a:ea typeface="Meiryo UI"/>
                          <a:cs typeface="Meiryo UI"/>
                        </a:rPr>
                        <a:t>Finished不一致は51で対応。</a:t>
                      </a:r>
                    </a:p>
                    <a:p>
                      <a:pPr>
                        <a:lnSpc>
                          <a:spcPct val="105000"/>
                        </a:lnSpc>
                        <a:buNone/>
                      </a:pPr>
                      <a:r>
                        <a:rPr sz="1725" b="0">
                          <a:solidFill>
                            <a:srgbClr val="1B2E43"/>
                          </a:solidFill>
                          <a:latin typeface="Meiryo UI"/>
                          <a:ea typeface="Meiryo UI"/>
                          <a:cs typeface="Meiryo UI"/>
                        </a:rPr>
                        <a:t>binder不一致の47はSHOULDとの差。</a:t>
                      </a:r>
                    </a:p>
                  </a:txBody>
                  <a:tcPr marL="91440" marR="91440" marT="45720" marB="45720" anchor="ctr">
                    <a:lnR w="6668">
                      <a:solidFill>
                        <a:srgbClr val="D7E0E8"/>
                      </a:solidFill>
                      <a:prstDash val="solid"/>
                    </a:lnR>
                    <a:lnB w="6668">
                      <a:solidFill>
                        <a:srgbClr val="D7E0E8"/>
                      </a:solidFill>
                      <a:prstDash val="solid"/>
                    </a:lnB>
                    <a:solidFill>
                      <a:srgbClr val="F4F7FA"/>
                    </a:solidFill>
                  </a:tcPr>
                </a:tc>
                <a:tc>
                  <a:txBody>
                    <a:bodyPr wrap="square" lIns="95250" tIns="76200" rIns="95250" bIns="76200">
                      <a:noAutofit/>
                    </a:bodyPr>
                    <a:lstStyle/>
                    <a:p>
                      <a:r>
                        <a:rPr sz="1725" b="0" u="sng">
                          <a:solidFill>
                            <a:srgbClr val="176DA5"/>
                          </a:solidFill>
                          <a:latin typeface="Meiryo UI"/>
                          <a:ea typeface="Meiryo UI"/>
                          <a:cs typeface="Meiryo UI"/>
                          <a:hlinkClick xmlns:r="http://schemas.openxmlformats.org/officeDocument/2006/relationships" r:id="Rad80999fa69849a1"/>
                        </a:rPr>
                        <a:t>§4.5.2</a:t>
                      </a:r>
                    </a:p>
                    <a:p>
                      <a:r>
                        <a:rPr sz="1725" b="0" u="sng">
                          <a:solidFill>
                            <a:srgbClr val="176DA5"/>
                          </a:solidFill>
                          <a:latin typeface="Meiryo UI"/>
                          <a:ea typeface="Meiryo UI"/>
                          <a:cs typeface="Meiryo UI"/>
                          <a:hlinkClick xmlns:r="http://schemas.openxmlformats.org/officeDocument/2006/relationships" r:id="R2b5fcf8a6fe34480"/>
                        </a:rPr>
                        <a:t>ソース</a:t>
                      </a:r>
                    </a:p>
                    <a:p>
                      <a:r>
                        <a:rPr sz="1725" b="0" u="sng">
                          <a:solidFill>
                            <a:srgbClr val="176DA5"/>
                          </a:solidFill>
                          <a:latin typeface="Meiryo UI"/>
                          <a:ea typeface="Meiryo UI"/>
                          <a:cs typeface="Meiryo UI"/>
                          <a:hlinkClick xmlns:r="http://schemas.openxmlformats.org/officeDocument/2006/relationships" r:id="R002e47de1eb940f8"/>
                        </a:rPr>
                        <a:t>定義</a:t>
                      </a:r>
                    </a:p>
                  </a:txBody>
                  <a:tcPr marL="91440" marR="91440" marT="45720" marB="45720" anchor="ctr">
                    <a:lnR w="6668">
                      <a:solidFill>
                        <a:srgbClr val="D7E0E8"/>
                      </a:solidFill>
                      <a:prstDash val="solid"/>
                    </a:lnR>
                    <a:lnB w="6668">
                      <a:solidFill>
                        <a:srgbClr val="D7E0E8"/>
                      </a:solidFill>
                      <a:prstDash val="solid"/>
                    </a:lnB>
                    <a:solidFill>
                      <a:srgbClr val="F4F7FA"/>
                    </a:solidFill>
                  </a:tcPr>
                </a:tc>
              </a:tr>
              <a:tr h="1066800">
                <a:tc>
                  <a:txBody>
                    <a:bodyPr wrap="square" lIns="114300" tIns="95250" rIns="114300" bIns="95250">
                      <a:noAutofit/>
                    </a:bodyPr>
                    <a:lstStyle/>
                    <a:p>
                      <a:pPr>
                        <a:lnSpc>
                          <a:spcPct val="100000"/>
                        </a:lnSpc>
                        <a:buNone/>
                      </a:pPr>
                      <a:r>
                        <a:rPr sz="1725" b="1">
                          <a:solidFill>
                            <a:srgbClr val="152D48"/>
                          </a:solidFill>
                          <a:latin typeface="Meiryo UI"/>
                          <a:ea typeface="Meiryo UI"/>
                          <a:cs typeface="Meiryo UI"/>
                        </a:rPr>
                        <a:t>70</a:t>
                      </a:r>
                    </a:p>
                    <a:p>
                      <a:pPr>
                        <a:lnSpc>
                          <a:spcPct val="100000"/>
                        </a:lnSpc>
                        <a:buNone/>
                      </a:pPr>
                      <a:r>
                        <a:rPr sz="1725" b="1">
                          <a:solidFill>
                            <a:srgbClr val="152D48"/>
                          </a:solidFill>
                          <a:latin typeface="Meiryo UI"/>
                          <a:ea typeface="Meiryo UI"/>
                          <a:cs typeface="Meiryo UI"/>
                        </a:rPr>
                        <a:t>protocol_version</a:t>
                      </a:r>
                    </a:p>
                  </a:txBody>
                  <a:tcPr marL="91440" marR="91440" marT="45720" marB="45720" anchor="ctr">
                    <a:lnL w="6668">
                      <a:solidFill>
                        <a:srgbClr val="D7E0E8"/>
                      </a:solidFill>
                      <a:prstDash val="solid"/>
                    </a:lnL>
                    <a:lnR w="6668">
                      <a:solidFill>
                        <a:srgbClr val="D7E0E8"/>
                      </a:solidFill>
                      <a:prstDash val="solid"/>
                    </a:lnR>
                    <a:lnB w="6668">
                      <a:solidFill>
                        <a:srgbClr val="D7E0E8"/>
                      </a:solidFill>
                      <a:prstDash val="solid"/>
                    </a:lnB>
                    <a:solidFill>
                      <a:srgbClr val="FFFFFF"/>
                    </a:solidFill>
                  </a:tcPr>
                </a:tc>
                <a:tc>
                  <a:txBody>
                    <a:bodyPr wrap="square" lIns="114300" tIns="95250" rIns="114300" bIns="95250">
                      <a:noAutofit/>
                    </a:bodyPr>
                    <a:lstStyle/>
                    <a:p>
                      <a:pPr>
                        <a:lnSpc>
                          <a:spcPct val="108000"/>
                        </a:lnSpc>
                        <a:buNone/>
                      </a:pPr>
                      <a:r>
                        <a:rPr sz="1725" b="1">
                          <a:solidFill>
                            <a:srgbClr val="A72C35"/>
                          </a:solidFill>
                          <a:latin typeface="Meiryo UI"/>
                          <a:ea typeface="Meiryo UI"/>
                          <a:cs typeface="Meiryo UI"/>
                        </a:rPr>
                        <a:t>違反あり</a:t>
                      </a:r>
                    </a:p>
                    <a:p>
                      <a:pPr>
                        <a:lnSpc>
                          <a:spcPct val="108000"/>
                        </a:lnSpc>
                        <a:buNone/>
                      </a:pPr>
                      <a:r>
                        <a:rPr sz="1725" b="1">
                          <a:solidFill>
                            <a:srgbClr val="A72C35"/>
                          </a:solidFill>
                          <a:latin typeface="Meiryo UI"/>
                          <a:ea typeface="Meiryo UI"/>
                          <a:cs typeface="Meiryo UI"/>
                        </a:rPr>
                        <a:t>MUST不一致</a:t>
                      </a:r>
                    </a:p>
                  </a:txBody>
                  <a:tcPr marL="91440" marR="91440" marT="45720" marB="45720" anchor="ctr">
                    <a:lnR w="6668">
                      <a:solidFill>
                        <a:srgbClr val="D7E0E8"/>
                      </a:solidFill>
                      <a:prstDash val="solid"/>
                    </a:lnR>
                    <a:lnB w="6668">
                      <a:solidFill>
                        <a:srgbClr val="D7E0E8"/>
                      </a:solidFill>
                      <a:prstDash val="solid"/>
                    </a:lnB>
                    <a:solidFill>
                      <a:srgbClr val="FFFFFF"/>
                    </a:solidFill>
                  </a:tcPr>
                </a:tc>
                <a:tc>
                  <a:txBody>
                    <a:bodyPr wrap="square" lIns="114300" tIns="85725" rIns="114300" bIns="85725">
                      <a:noAutofit/>
                    </a:bodyPr>
                    <a:lstStyle/>
                    <a:p>
                      <a:pPr>
                        <a:lnSpc>
                          <a:spcPct val="105000"/>
                        </a:lnSpc>
                        <a:buNone/>
                      </a:pPr>
                      <a:r>
                        <a:rPr sz="1725" b="0">
                          <a:solidFill>
                            <a:srgbClr val="1B2E43"/>
                          </a:solidFill>
                          <a:latin typeface="Meiryo UI"/>
                          <a:ea typeface="Meiryo UI"/>
                          <a:cs typeface="Meiryo UI"/>
                        </a:rPr>
                        <a:t>supported_versionsの未提示版に、</a:t>
                      </a:r>
                    </a:p>
                    <a:p>
                      <a:pPr>
                        <a:lnSpc>
                          <a:spcPct val="105000"/>
                        </a:lnSpc>
                        <a:buNone/>
                      </a:pPr>
                      <a:r>
                        <a:rPr sz="1725" b="0">
                          <a:solidFill>
                            <a:srgbClr val="1B2E43"/>
                          </a:solidFill>
                          <a:latin typeface="Meiryo UI"/>
                          <a:ea typeface="Meiryo UI"/>
                          <a:cs typeface="Meiryo UI"/>
                        </a:rPr>
                        <a:t>指定の47に対し70を選ぶ分岐がある。</a:t>
                      </a:r>
                    </a:p>
                  </a:txBody>
                  <a:tcPr marL="91440" marR="91440" marT="45720" marB="45720" anchor="ctr">
                    <a:lnR w="6668">
                      <a:solidFill>
                        <a:srgbClr val="D7E0E8"/>
                      </a:solidFill>
                      <a:prstDash val="solid"/>
                    </a:lnR>
                    <a:lnB w="6668">
                      <a:solidFill>
                        <a:srgbClr val="D7E0E8"/>
                      </a:solidFill>
                      <a:prstDash val="solid"/>
                    </a:lnB>
                    <a:solidFill>
                      <a:srgbClr val="FFFFFF"/>
                    </a:solidFill>
                  </a:tcPr>
                </a:tc>
                <a:tc>
                  <a:txBody>
                    <a:bodyPr wrap="square" lIns="95250" tIns="76200" rIns="95250" bIns="76200">
                      <a:noAutofit/>
                    </a:bodyPr>
                    <a:lstStyle/>
                    <a:p>
                      <a:r>
                        <a:rPr sz="1725" b="0" u="sng">
                          <a:solidFill>
                            <a:srgbClr val="176DA5"/>
                          </a:solidFill>
                          <a:latin typeface="Meiryo UI"/>
                          <a:ea typeface="Meiryo UI"/>
                          <a:cs typeface="Meiryo UI"/>
                          <a:hlinkClick xmlns:r="http://schemas.openxmlformats.org/officeDocument/2006/relationships" r:id="R1f4443d6780649ad"/>
                        </a:rPr>
                        <a:t>§4.3.1</a:t>
                      </a:r>
                    </a:p>
                    <a:p>
                      <a:r>
                        <a:rPr sz="1725" b="0" u="sng">
                          <a:solidFill>
                            <a:srgbClr val="176DA5"/>
                          </a:solidFill>
                          <a:latin typeface="Meiryo UI"/>
                          <a:ea typeface="Meiryo UI"/>
                          <a:cs typeface="Meiryo UI"/>
                          <a:hlinkClick xmlns:r="http://schemas.openxmlformats.org/officeDocument/2006/relationships" r:id="Rd16d071c55fb40cd"/>
                        </a:rPr>
                        <a:t>ソース</a:t>
                      </a:r>
                    </a:p>
                    <a:p>
                      <a:r>
                        <a:rPr sz="1725" b="0" u="sng">
                          <a:solidFill>
                            <a:srgbClr val="176DA5"/>
                          </a:solidFill>
                          <a:latin typeface="Meiryo UI"/>
                          <a:ea typeface="Meiryo UI"/>
                          <a:cs typeface="Meiryo UI"/>
                          <a:hlinkClick xmlns:r="http://schemas.openxmlformats.org/officeDocument/2006/relationships" r:id="Rb74b4388e9424cea"/>
                        </a:rPr>
                        <a:t>定義</a:t>
                      </a:r>
                    </a:p>
                  </a:txBody>
                  <a:tcPr marL="91440" marR="91440" marT="45720" marB="45720" anchor="ctr">
                    <a:lnR w="6668">
                      <a:solidFill>
                        <a:srgbClr val="D7E0E8"/>
                      </a:solidFill>
                      <a:prstDash val="solid"/>
                    </a:lnR>
                    <a:lnB w="6668">
                      <a:solidFill>
                        <a:srgbClr val="D7E0E8"/>
                      </a:solidFill>
                      <a:prstDash val="solid"/>
                    </a:lnB>
                    <a:solidFill>
                      <a:srgbClr val="FFFFFF"/>
                    </a:solidFill>
                  </a:tcPr>
                </a:tc>
              </a:tr>
              <a:tr h="1066800">
                <a:tc>
                  <a:txBody>
                    <a:bodyPr wrap="square" lIns="114300" tIns="95250" rIns="114300" bIns="95250">
                      <a:noAutofit/>
                    </a:bodyPr>
                    <a:lstStyle/>
                    <a:p>
                      <a:pPr>
                        <a:lnSpc>
                          <a:spcPct val="100000"/>
                        </a:lnSpc>
                        <a:buNone/>
                      </a:pPr>
                      <a:r>
                        <a:rPr sz="1725" b="1">
                          <a:solidFill>
                            <a:srgbClr val="152D48"/>
                          </a:solidFill>
                          <a:latin typeface="Meiryo UI"/>
                          <a:ea typeface="Meiryo UI"/>
                          <a:cs typeface="Meiryo UI"/>
                        </a:rPr>
                        <a:t>71</a:t>
                      </a:r>
                    </a:p>
                    <a:p>
                      <a:pPr>
                        <a:lnSpc>
                          <a:spcPct val="100000"/>
                        </a:lnSpc>
                        <a:buNone/>
                      </a:pPr>
                      <a:r>
                        <a:rPr sz="1725" b="1">
                          <a:solidFill>
                            <a:srgbClr val="152D48"/>
                          </a:solidFill>
                          <a:latin typeface="Meiryo UI"/>
                          <a:ea typeface="Meiryo UI"/>
                          <a:cs typeface="Meiryo UI"/>
                        </a:rPr>
                        <a:t>insufficient_</a:t>
                      </a:r>
                    </a:p>
                    <a:p>
                      <a:pPr>
                        <a:lnSpc>
                          <a:spcPct val="100000"/>
                        </a:lnSpc>
                        <a:buNone/>
                      </a:pPr>
                      <a:r>
                        <a:rPr sz="1725" b="1">
                          <a:solidFill>
                            <a:srgbClr val="152D48"/>
                          </a:solidFill>
                          <a:latin typeface="Meiryo UI"/>
                          <a:ea typeface="Meiryo UI"/>
                          <a:cs typeface="Meiryo UI"/>
                        </a:rPr>
                        <a:t>security</a:t>
                      </a:r>
                    </a:p>
                  </a:txBody>
                  <a:tcPr marL="91440" marR="91440" marT="45720" marB="45720" anchor="ctr">
                    <a:lnL w="6668">
                      <a:solidFill>
                        <a:srgbClr val="D7E0E8"/>
                      </a:solidFill>
                      <a:prstDash val="solid"/>
                    </a:lnL>
                    <a:lnR w="6668">
                      <a:solidFill>
                        <a:srgbClr val="D7E0E8"/>
                      </a:solidFill>
                      <a:prstDash val="solid"/>
                    </a:lnR>
                    <a:lnB w="6668">
                      <a:solidFill>
                        <a:srgbClr val="D7E0E8"/>
                      </a:solidFill>
                      <a:prstDash val="solid"/>
                    </a:lnB>
                    <a:solidFill>
                      <a:srgbClr val="F4F7FA"/>
                    </a:solidFill>
                  </a:tcPr>
                </a:tc>
                <a:tc>
                  <a:txBody>
                    <a:bodyPr wrap="square" lIns="114300" tIns="95250" rIns="114300" bIns="95250">
                      <a:noAutofit/>
                    </a:bodyPr>
                    <a:lstStyle/>
                    <a:p>
                      <a:pPr>
                        <a:lnSpc>
                          <a:spcPct val="108000"/>
                        </a:lnSpc>
                        <a:buNone/>
                      </a:pPr>
                      <a:r>
                        <a:rPr sz="1725" b="1">
                          <a:solidFill>
                            <a:srgbClr val="93641B"/>
                          </a:solidFill>
                          <a:latin typeface="Meiryo UI"/>
                          <a:ea typeface="Meiryo UI"/>
                          <a:cs typeface="Meiryo UI"/>
                        </a:rPr>
                        <a:t>断定保留</a:t>
                      </a:r>
                    </a:p>
                    <a:p>
                      <a:pPr>
                        <a:lnSpc>
                          <a:spcPct val="108000"/>
                        </a:lnSpc>
                        <a:buNone/>
                      </a:pPr>
                      <a:r>
                        <a:rPr sz="1725" b="1">
                          <a:solidFill>
                            <a:srgbClr val="93641B"/>
                          </a:solidFill>
                          <a:latin typeface="Meiryo UI"/>
                          <a:ea typeface="Meiryo UI"/>
                          <a:cs typeface="Meiryo UI"/>
                        </a:rPr>
                        <a:t>SHOULDとの差</a:t>
                      </a:r>
                    </a:p>
                  </a:txBody>
                  <a:tcPr marL="91440" marR="91440" marT="45720" marB="45720" anchor="ctr">
                    <a:lnR w="6668">
                      <a:solidFill>
                        <a:srgbClr val="D7E0E8"/>
                      </a:solidFill>
                      <a:prstDash val="solid"/>
                    </a:lnR>
                    <a:lnB w="6668">
                      <a:solidFill>
                        <a:srgbClr val="D7E0E8"/>
                      </a:solidFill>
                      <a:prstDash val="solid"/>
                    </a:lnB>
                    <a:solidFill>
                      <a:srgbClr val="F4F7FA"/>
                    </a:solidFill>
                  </a:tcPr>
                </a:tc>
                <a:tc>
                  <a:txBody>
                    <a:bodyPr wrap="square" lIns="114300" tIns="85725" rIns="114300" bIns="85725">
                      <a:noAutofit/>
                    </a:bodyPr>
                    <a:lstStyle/>
                    <a:p>
                      <a:pPr>
                        <a:lnSpc>
                          <a:spcPct val="105000"/>
                        </a:lnSpc>
                        <a:buNone/>
                      </a:pPr>
                      <a:r>
                        <a:rPr sz="1725" b="0">
                          <a:solidFill>
                            <a:srgbClr val="1B2E43"/>
                          </a:solidFill>
                          <a:latin typeface="Meiryo UI"/>
                          <a:ea typeface="Meiryo UI"/>
                          <a:cs typeface="Meiryo UI"/>
                        </a:rPr>
                        <a:t>TLS 1.3クライアントの制約違反に71。</a:t>
                      </a:r>
                    </a:p>
                    <a:p>
                      <a:pPr>
                        <a:lnSpc>
                          <a:spcPct val="105000"/>
                        </a:lnSpc>
                        <a:buNone/>
                      </a:pPr>
                      <a:r>
                        <a:rPr sz="1725" b="0">
                          <a:solidFill>
                            <a:srgbClr val="1B2E43"/>
                          </a:solidFill>
                          <a:latin typeface="Meiryo UI"/>
                          <a:ea typeface="Meiryo UI"/>
                          <a:cs typeface="Meiryo UI"/>
                        </a:rPr>
                        <a:t>RFC §6.2の条件・送信役割と異なるが、</a:t>
                      </a:r>
                    </a:p>
                    <a:p>
                      <a:pPr>
                        <a:lnSpc>
                          <a:spcPct val="105000"/>
                        </a:lnSpc>
                        <a:buNone/>
                      </a:pPr>
                      <a:r>
                        <a:rPr sz="1725" b="0">
                          <a:solidFill>
                            <a:srgbClr val="1B2E43"/>
                          </a:solidFill>
                          <a:latin typeface="Meiryo UI"/>
                          <a:ea typeface="Meiryo UI"/>
                          <a:cs typeface="Meiryo UI"/>
                        </a:rPr>
                        <a:t>MUST NOT違反とは断定しない。</a:t>
                      </a:r>
                    </a:p>
                  </a:txBody>
                  <a:tcPr marL="91440" marR="91440" marT="45720" marB="45720" anchor="ctr">
                    <a:lnR w="6668">
                      <a:solidFill>
                        <a:srgbClr val="D7E0E8"/>
                      </a:solidFill>
                      <a:prstDash val="solid"/>
                    </a:lnR>
                    <a:lnB w="6668">
                      <a:solidFill>
                        <a:srgbClr val="D7E0E8"/>
                      </a:solidFill>
                      <a:prstDash val="solid"/>
                    </a:lnB>
                    <a:solidFill>
                      <a:srgbClr val="F4F7FA"/>
                    </a:solidFill>
                  </a:tcPr>
                </a:tc>
                <a:tc>
                  <a:txBody>
                    <a:bodyPr wrap="square" lIns="95250" tIns="76200" rIns="95250" bIns="76200">
                      <a:noAutofit/>
                    </a:bodyPr>
                    <a:lstStyle/>
                    <a:p>
                      <a:r>
                        <a:rPr sz="1725" b="0" u="sng">
                          <a:solidFill>
                            <a:srgbClr val="176DA5"/>
                          </a:solidFill>
                          <a:latin typeface="Meiryo UI"/>
                          <a:ea typeface="Meiryo UI"/>
                          <a:cs typeface="Meiryo UI"/>
                          <a:hlinkClick xmlns:r="http://schemas.openxmlformats.org/officeDocument/2006/relationships" r:id="R9274496a2f414259"/>
                        </a:rPr>
                        <a:t>§6.2</a:t>
                      </a:r>
                    </a:p>
                    <a:p>
                      <a:r>
                        <a:rPr sz="1725" b="0" u="sng">
                          <a:solidFill>
                            <a:srgbClr val="176DA5"/>
                          </a:solidFill>
                          <a:latin typeface="Meiryo UI"/>
                          <a:ea typeface="Meiryo UI"/>
                          <a:cs typeface="Meiryo UI"/>
                          <a:hlinkClick xmlns:r="http://schemas.openxmlformats.org/officeDocument/2006/relationships" r:id="Rd75898f6a9124e40"/>
                        </a:rPr>
                        <a:t>ソース</a:t>
                      </a:r>
                    </a:p>
                    <a:p>
                      <a:r>
                        <a:rPr sz="1725" b="0" u="sng">
                          <a:solidFill>
                            <a:srgbClr val="176DA5"/>
                          </a:solidFill>
                          <a:latin typeface="Meiryo UI"/>
                          <a:ea typeface="Meiryo UI"/>
                          <a:cs typeface="Meiryo UI"/>
                          <a:hlinkClick xmlns:r="http://schemas.openxmlformats.org/officeDocument/2006/relationships" r:id="Rad2a0f7788b84174"/>
                        </a:rPr>
                        <a:t>定義</a:t>
                      </a:r>
                    </a:p>
                  </a:txBody>
                  <a:tcPr marL="91440" marR="91440" marT="45720" marB="45720" anchor="ctr">
                    <a:lnR w="6668">
                      <a:solidFill>
                        <a:srgbClr val="D7E0E8"/>
                      </a:solidFill>
                      <a:prstDash val="solid"/>
                    </a:lnR>
                    <a:lnB w="6668">
                      <a:solidFill>
                        <a:srgbClr val="D7E0E8"/>
                      </a:solidFill>
                      <a:prstDash val="solid"/>
                    </a:lnB>
                    <a:solidFill>
                      <a:srgbClr val="F4F7FA"/>
                    </a:solidFill>
                  </a:tcPr>
                </a:tc>
              </a:tr>
            </a:tbl>
          </a:graphicData>
        </a:graphic>
      </p:graphicFrame>
      <p:sp>
        <p:nvSpPr>
          <p:cNvPr id="5" name="text-4">
            <a:extLst xmlns:a="http://schemas.openxmlformats.org/drawingml/2006/main">
              <a:ext uri="{FF2B5EF4-FFF2-40B4-BE49-F238E27FC236}">
                <a16:creationId xmlns:a16="http://schemas.microsoft.com/office/drawing/2014/main" id="{67C7BD04-A6BF-47EE-A451-7F8507D73C97}"/>
              </a:ext>
            </a:extLst>
          </p:cNvPr>
          <p:cNvSpPr>
            <a:spLocks xmlns:a="http://schemas.openxmlformats.org/drawingml/2006/main" noGrp="1"/>
          </p:cNvSpPr>
          <p:nvPr/>
        </p:nvSpPr>
        <p:spPr>
          <a:xfrm xmlns:a="http://schemas.openxmlformats.org/drawingml/2006/main">
            <a:off x="609600" y="63722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06579"/>
                </a:solidFill>
                <a:latin typeface="Meiryo UI"/>
                <a:ea typeface="Meiryo UI"/>
                <a:cs typeface="Meiryo UI"/>
              </a:defRPr>
            </a:defPPr>
          </a:lstStyle>
          <a:p xmlns:a="http://schemas.openxmlformats.org/drawingml/2006/main">
            <a:pPr>
              <a:lnSpc>
                <a:spcPct val="110000"/>
              </a:lnSpc>
              <a:buNone/>
              <a:defRPr sz="1425" b="0">
                <a:solidFill>
                  <a:srgbClr val="506579"/>
                </a:solidFill>
                <a:latin typeface="Meiryo UI"/>
                <a:ea typeface="Meiryo UI"/>
                <a:cs typeface="Meiryo UI"/>
              </a:defRPr>
            </a:pPr>
            <a:r>
              <a:rPr sz="1425" b="0">
                <a:solidFill>
                  <a:srgbClr val="506579"/>
                </a:solidFill>
                <a:latin typeface="Meiryo UI"/>
                <a:ea typeface="Meiryo UI"/>
                <a:cs typeface="Meiryo UI"/>
              </a:rPr>
              <a:t>静的調査。違反未確認は、全条件での適合認定を意味しない。</a:t>
            </a:r>
          </a:p>
        </p:txBody>
      </p:sp>
    </p:spTree>
    <p:extLst>
      <p:ext uri="{BB962C8B-B14F-4D97-AF65-F5344CB8AC3E}">
        <p14:creationId xmlns:p14="http://schemas.microsoft.com/office/powerpoint/2010/main" val="168919150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1">
            <a:extLst xmlns:a="http://schemas.openxmlformats.org/drawingml/2006/main">
              <a:ext uri="{FF2B5EF4-FFF2-40B4-BE49-F238E27FC236}">
                <a16:creationId xmlns:a16="http://schemas.microsoft.com/office/drawing/2014/main" id="{2E31072D-8973-4BD6-A908-0240985F6BB6}"/>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D48"/>
                </a:solidFill>
                <a:latin typeface="Meiryo UI"/>
                <a:ea typeface="Meiryo UI"/>
                <a:cs typeface="Meiryo UI"/>
              </a:defRPr>
            </a:defPPr>
          </a:lstStyle>
          <a:p xmlns:a="http://schemas.openxmlformats.org/drawingml/2006/main">
            <a:pPr>
              <a:lnSpc>
                <a:spcPct val="110000"/>
              </a:lnSpc>
              <a:buNone/>
              <a:defRPr sz="3300" b="1">
                <a:solidFill>
                  <a:srgbClr val="152D48"/>
                </a:solidFill>
                <a:latin typeface="Meiryo UI"/>
                <a:ea typeface="Meiryo UI"/>
                <a:cs typeface="Meiryo UI"/>
              </a:defRPr>
            </a:pPr>
            <a:r>
              <a:rPr sz="3300" b="1">
                <a:solidFill>
                  <a:srgbClr val="152D48"/>
                </a:solidFill>
                <a:latin typeface="Meiryo UI"/>
                <a:ea typeface="Meiryo UI"/>
                <a:cs typeface="Meiryo UI"/>
              </a:rPr>
              <a:t>26種類の判定一覧 5/7</a:t>
            </a:r>
          </a:p>
        </p:txBody>
      </p:sp>
      <p:sp>
        <p:nvSpPr>
          <p:cNvPr id="2" name="text-2">
            <a:extLst xmlns:a="http://schemas.openxmlformats.org/drawingml/2006/main">
              <a:ext uri="{FF2B5EF4-FFF2-40B4-BE49-F238E27FC236}">
                <a16:creationId xmlns:a16="http://schemas.microsoft.com/office/drawing/2014/main" id="{5620ACC9-9244-4F87-8437-9E8A3AF1FCC2}"/>
              </a:ext>
            </a:extLst>
          </p:cNvPr>
          <p:cNvSpPr>
            <a:spLocks xmlns:a="http://schemas.openxmlformats.org/drawingml/2006/main" noGrp="1"/>
          </p:cNvSpPr>
          <p:nvPr/>
        </p:nvSpPr>
        <p:spPr>
          <a:xfrm xmlns:a="http://schemas.openxmlformats.org/drawingml/2006/main">
            <a:off x="609600" y="10668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02" b="0">
                <a:solidFill>
                  <a:srgbClr val="506579"/>
                </a:solidFill>
                <a:latin typeface="Meiryo UI"/>
                <a:ea typeface="Meiryo UI"/>
                <a:cs typeface="Meiryo UI"/>
              </a:defRPr>
            </a:defPPr>
          </a:lstStyle>
          <a:p xmlns:a="http://schemas.openxmlformats.org/drawingml/2006/main">
            <a:pPr>
              <a:lnSpc>
                <a:spcPct val="110000"/>
              </a:lnSpc>
              <a:buNone/>
              <a:defRPr sz="1702" b="0">
                <a:solidFill>
                  <a:srgbClr val="506579"/>
                </a:solidFill>
                <a:latin typeface="Meiryo UI"/>
                <a:ea typeface="Meiryo UI"/>
                <a:cs typeface="Meiryo UI"/>
              </a:defRPr>
            </a:pPr>
            <a:r>
              <a:rPr sz="1702" b="0">
                <a:solidFill>
                  <a:srgbClr val="506579"/>
                </a:solidFill>
                <a:latin typeface="Meiryo UI"/>
                <a:ea typeface="Meiryo UI"/>
                <a:cs typeface="Meiryo UI"/>
              </a:rPr>
              <a:t>Alert番号 80–110　根拠欄の文字はリンク</a:t>
            </a:r>
          </a:p>
        </p:txBody>
      </p:sp>
      <p:sp>
        <p:nvSpPr>
          <p:cNvPr id="3" name="text-3">
            <a:extLst xmlns:a="http://schemas.openxmlformats.org/drawingml/2006/main">
              <a:ext uri="{FF2B5EF4-FFF2-40B4-BE49-F238E27FC236}">
                <a16:creationId xmlns:a16="http://schemas.microsoft.com/office/drawing/2014/main" id="{1F2B1837-399A-46FA-9826-D4A538F62EAA}"/>
              </a:ext>
            </a:extLst>
          </p:cNvPr>
          <p:cNvSpPr>
            <a:spLocks xmlns:a="http://schemas.openxmlformats.org/drawingml/2006/main" noGrp="1"/>
          </p:cNvSpPr>
          <p:nvPr/>
        </p:nvSpPr>
        <p:spPr>
          <a:xfrm xmlns:a="http://schemas.openxmlformats.org/drawingml/2006/main">
            <a:off x="11049000" y="644842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06579"/>
                </a:solidFill>
                <a:latin typeface="Meiryo UI"/>
                <a:ea typeface="Meiryo UI"/>
                <a:cs typeface="Meiryo UI"/>
              </a:defRPr>
            </a:defPPr>
          </a:lstStyle>
          <a:p xmlns:a="http://schemas.openxmlformats.org/drawingml/2006/main">
            <a:pPr>
              <a:lnSpc>
                <a:spcPct val="110000"/>
              </a:lnSpc>
              <a:buNone/>
              <a:defRPr sz="1275" b="0">
                <a:solidFill>
                  <a:srgbClr val="506579"/>
                </a:solidFill>
                <a:latin typeface="Meiryo UI"/>
                <a:ea typeface="Meiryo UI"/>
                <a:cs typeface="Meiryo UI"/>
              </a:defRPr>
            </a:pPr>
            <a:r>
              <a:rPr sz="1275" b="0">
                <a:solidFill>
                  <a:srgbClr val="506579"/>
                </a:solidFill>
                <a:latin typeface="Meiryo UI"/>
                <a:ea typeface="Meiryo UI"/>
                <a:cs typeface="Meiryo UI"/>
              </a:rPr>
              <a:t>09</a:t>
            </a:r>
          </a:p>
        </p:txBody>
      </p:sp>
      <p:graphicFrame>
        <p:nvGraphicFramePr>
          <p:cNvPr id="4" name="">
            <a:extLst xmlns:a="http://schemas.openxmlformats.org/drawingml/2006/main">
              <a:ext uri="{FF2B5EF4-FFF2-40B4-BE49-F238E27FC236}">
                <a16:creationId xmlns:a16="http://schemas.microsoft.com/office/drawing/2014/main" id="{F35F384A-A94B-4B4A-8FAC-D7910BB20FBC}"/>
              </a:ext>
            </a:extLst>
          </p:cNvPr>
          <p:cNvGraphicFramePr/>
          <p:nvPr/>
        </p:nvGraphicFramePr>
        <p:xfrm>
          <a:off xmlns:a="http://schemas.openxmlformats.org/drawingml/2006/main" x="609600" y="1504950"/>
          <a:ext xmlns:a="http://schemas.openxmlformats.org/drawingml/2006/main" cx="10972800" cy="4724400"/>
        </p:xfrm>
        <a:graphic xmlns:a="http://schemas.openxmlformats.org/drawingml/2006/main">
          <a:graphicData uri="http://schemas.openxmlformats.org/drawingml/2006/table">
            <a:tbl>
              <a:tblPr firstRow="0" bandRow="0"/>
              <a:tblGrid>
                <a:gridCol w="2724150"/>
                <a:gridCol w="2324100"/>
                <a:gridCol w="4667250"/>
                <a:gridCol w="1257300"/>
              </a:tblGrid>
              <a:tr h="457200">
                <a:tc>
                  <a:txBody>
                    <a:bodyPr wrap="square" lIns="114300" tIns="85725" rIns="114300" bIns="85725">
                      <a:noAutofit/>
                    </a:bodyPr>
                    <a:lstStyle/>
                    <a:p>
                      <a:pPr>
                        <a:lnSpc>
                          <a:spcPct val="105000"/>
                        </a:lnSpc>
                        <a:buNone/>
                      </a:pPr>
                      <a:r>
                        <a:rPr sz="1725" b="1">
                          <a:solidFill>
                            <a:srgbClr val="FFFFFF"/>
                          </a:solidFill>
                          <a:latin typeface="Meiryo UI"/>
                          <a:ea typeface="Meiryo UI"/>
                          <a:cs typeface="Meiryo UI"/>
                        </a:rPr>
                        <a:t>番号・Alert</a:t>
                      </a:r>
                    </a:p>
                  </a:txBody>
                  <a:tcPr marL="91440" marR="91440" marT="45720" marB="45720" anchor="ctr">
                    <a:lnL w="6668">
                      <a:solidFill>
                        <a:srgbClr val="D7E0E8"/>
                      </a:solidFill>
                      <a:prstDash val="solid"/>
                    </a:lnL>
                    <a:lnR w="6668">
                      <a:solidFill>
                        <a:srgbClr val="D7E0E8"/>
                      </a:solidFill>
                      <a:prstDash val="solid"/>
                    </a:lnR>
                    <a:lnT w="6668">
                      <a:solidFill>
                        <a:srgbClr val="D7E0E8"/>
                      </a:solidFill>
                      <a:prstDash val="solid"/>
                    </a:lnT>
                    <a:lnB w="6668">
                      <a:solidFill>
                        <a:srgbClr val="D7E0E8"/>
                      </a:solidFill>
                      <a:prstDash val="solid"/>
                    </a:lnB>
                    <a:solidFill>
                      <a:srgbClr val="152D48"/>
                    </a:solidFill>
                  </a:tcPr>
                </a:tc>
                <a:tc>
                  <a:txBody>
                    <a:bodyPr wrap="square" lIns="114300" tIns="85725" rIns="114300" bIns="85725">
                      <a:noAutofit/>
                    </a:bodyPr>
                    <a:lstStyle/>
                    <a:p>
                      <a:pPr>
                        <a:lnSpc>
                          <a:spcPct val="105000"/>
                        </a:lnSpc>
                        <a:buNone/>
                      </a:pPr>
                      <a:r>
                        <a:rPr sz="1725" b="1">
                          <a:solidFill>
                            <a:srgbClr val="FFFFFF"/>
                          </a:solidFill>
                          <a:latin typeface="Meiryo UI"/>
                          <a:ea typeface="Meiryo UI"/>
                          <a:cs typeface="Meiryo UI"/>
                        </a:rPr>
                        <a:t>RFC違反の判定</a:t>
                      </a:r>
                    </a:p>
                  </a:txBody>
                  <a:tcPr marL="91440" marR="91440" marT="45720" marB="45720" anchor="ctr">
                    <a:lnR w="6668">
                      <a:solidFill>
                        <a:srgbClr val="D7E0E8"/>
                      </a:solidFill>
                      <a:prstDash val="solid"/>
                    </a:lnR>
                    <a:lnT w="6668">
                      <a:solidFill>
                        <a:srgbClr val="D7E0E8"/>
                      </a:solidFill>
                      <a:prstDash val="solid"/>
                    </a:lnT>
                    <a:lnB w="6668">
                      <a:solidFill>
                        <a:srgbClr val="D7E0E8"/>
                      </a:solidFill>
                      <a:prstDash val="solid"/>
                    </a:lnB>
                    <a:solidFill>
                      <a:srgbClr val="152D48"/>
                    </a:solidFill>
                  </a:tcPr>
                </a:tc>
                <a:tc>
                  <a:txBody>
                    <a:bodyPr wrap="square" lIns="114300" tIns="85725" rIns="114300" bIns="85725">
                      <a:noAutofit/>
                    </a:bodyPr>
                    <a:lstStyle/>
                    <a:p>
                      <a:pPr>
                        <a:lnSpc>
                          <a:spcPct val="105000"/>
                        </a:lnSpc>
                        <a:buNone/>
                      </a:pPr>
                      <a:r>
                        <a:rPr sz="1725" b="1">
                          <a:solidFill>
                            <a:srgbClr val="FFFFFF"/>
                          </a:solidFill>
                          <a:latin typeface="Meiryo UI"/>
                          <a:ea typeface="Meiryo UI"/>
                          <a:cs typeface="Meiryo UI"/>
                        </a:rPr>
                        <a:t>確認した条件と判定理由</a:t>
                      </a:r>
                    </a:p>
                  </a:txBody>
                  <a:tcPr marL="91440" marR="91440" marT="45720" marB="45720" anchor="ctr">
                    <a:lnR w="6668">
                      <a:solidFill>
                        <a:srgbClr val="D7E0E8"/>
                      </a:solidFill>
                      <a:prstDash val="solid"/>
                    </a:lnR>
                    <a:lnT w="6668">
                      <a:solidFill>
                        <a:srgbClr val="D7E0E8"/>
                      </a:solidFill>
                      <a:prstDash val="solid"/>
                    </a:lnT>
                    <a:lnB w="6668">
                      <a:solidFill>
                        <a:srgbClr val="D7E0E8"/>
                      </a:solidFill>
                      <a:prstDash val="solid"/>
                    </a:lnB>
                    <a:solidFill>
                      <a:srgbClr val="152D48"/>
                    </a:solidFill>
                  </a:tcPr>
                </a:tc>
                <a:tc>
                  <a:txBody>
                    <a:bodyPr wrap="square" lIns="114300" tIns="85725" rIns="114300" bIns="85725">
                      <a:noAutofit/>
                    </a:bodyPr>
                    <a:lstStyle/>
                    <a:p>
                      <a:pPr>
                        <a:lnSpc>
                          <a:spcPct val="105000"/>
                        </a:lnSpc>
                        <a:buNone/>
                      </a:pPr>
                      <a:r>
                        <a:rPr sz="1725" b="1">
                          <a:solidFill>
                            <a:srgbClr val="FFFFFF"/>
                          </a:solidFill>
                          <a:latin typeface="Meiryo UI"/>
                          <a:ea typeface="Meiryo UI"/>
                          <a:cs typeface="Meiryo UI"/>
                        </a:rPr>
                        <a:t>根拠</a:t>
                      </a:r>
                    </a:p>
                  </a:txBody>
                  <a:tcPr marL="91440" marR="91440" marT="45720" marB="45720" anchor="ctr">
                    <a:lnR w="6668">
                      <a:solidFill>
                        <a:srgbClr val="D7E0E8"/>
                      </a:solidFill>
                      <a:prstDash val="solid"/>
                    </a:lnR>
                    <a:lnT w="6668">
                      <a:solidFill>
                        <a:srgbClr val="D7E0E8"/>
                      </a:solidFill>
                      <a:prstDash val="solid"/>
                    </a:lnT>
                    <a:lnB w="6668">
                      <a:solidFill>
                        <a:srgbClr val="D7E0E8"/>
                      </a:solidFill>
                      <a:prstDash val="solid"/>
                    </a:lnB>
                    <a:solidFill>
                      <a:srgbClr val="152D48"/>
                    </a:solidFill>
                  </a:tcPr>
                </a:tc>
              </a:tr>
              <a:tr h="1066800">
                <a:tc>
                  <a:txBody>
                    <a:bodyPr wrap="square" lIns="114300" tIns="95250" rIns="114300" bIns="95250">
                      <a:noAutofit/>
                    </a:bodyPr>
                    <a:lstStyle/>
                    <a:p>
                      <a:pPr>
                        <a:lnSpc>
                          <a:spcPct val="100000"/>
                        </a:lnSpc>
                        <a:buNone/>
                      </a:pPr>
                      <a:r>
                        <a:rPr sz="1725" b="1">
                          <a:solidFill>
                            <a:srgbClr val="152D48"/>
                          </a:solidFill>
                          <a:latin typeface="Meiryo UI"/>
                          <a:ea typeface="Meiryo UI"/>
                          <a:cs typeface="Meiryo UI"/>
                        </a:rPr>
                        <a:t>80</a:t>
                      </a:r>
                    </a:p>
                    <a:p>
                      <a:pPr>
                        <a:lnSpc>
                          <a:spcPct val="100000"/>
                        </a:lnSpc>
                        <a:buNone/>
                      </a:pPr>
                      <a:r>
                        <a:rPr sz="1725" b="1">
                          <a:solidFill>
                            <a:srgbClr val="152D48"/>
                          </a:solidFill>
                          <a:latin typeface="Meiryo UI"/>
                          <a:ea typeface="Meiryo UI"/>
                          <a:cs typeface="Meiryo UI"/>
                        </a:rPr>
                        <a:t>internal_error</a:t>
                      </a:r>
                    </a:p>
                  </a:txBody>
                  <a:tcPr marL="91440" marR="91440" marT="45720" marB="45720" anchor="ctr">
                    <a:lnL w="6668">
                      <a:solidFill>
                        <a:srgbClr val="D7E0E8"/>
                      </a:solidFill>
                      <a:prstDash val="solid"/>
                    </a:lnL>
                    <a:lnR w="6668">
                      <a:solidFill>
                        <a:srgbClr val="D7E0E8"/>
                      </a:solidFill>
                      <a:prstDash val="solid"/>
                    </a:lnR>
                    <a:lnB w="6668">
                      <a:solidFill>
                        <a:srgbClr val="D7E0E8"/>
                      </a:solidFill>
                      <a:prstDash val="solid"/>
                    </a:lnB>
                    <a:solidFill>
                      <a:srgbClr val="FFFFFF"/>
                    </a:solidFill>
                  </a:tcPr>
                </a:tc>
                <a:tc>
                  <a:txBody>
                    <a:bodyPr wrap="square" lIns="114300" tIns="95250" rIns="114300" bIns="95250">
                      <a:noAutofit/>
                    </a:bodyPr>
                    <a:lstStyle/>
                    <a:p>
                      <a:pPr>
                        <a:lnSpc>
                          <a:spcPct val="108000"/>
                        </a:lnSpc>
                        <a:buNone/>
                      </a:pPr>
                      <a:r>
                        <a:rPr sz="1725" b="1">
                          <a:solidFill>
                            <a:srgbClr val="506579"/>
                          </a:solidFill>
                          <a:latin typeface="Meiryo UI"/>
                          <a:ea typeface="Meiryo UI"/>
                          <a:cs typeface="Meiryo UI"/>
                        </a:rPr>
                        <a:t>違反未確認</a:t>
                      </a:r>
                    </a:p>
                    <a:p>
                      <a:pPr>
                        <a:lnSpc>
                          <a:spcPct val="108000"/>
                        </a:lnSpc>
                        <a:buNone/>
                      </a:pPr>
                      <a:r>
                        <a:rPr sz="1725" b="1">
                          <a:solidFill>
                            <a:srgbClr val="506579"/>
                          </a:solidFill>
                          <a:latin typeface="Meiryo UI"/>
                          <a:ea typeface="Meiryo UI"/>
                          <a:cs typeface="Meiryo UI"/>
                        </a:rPr>
                        <a:t>確認した経路の範囲</a:t>
                      </a:r>
                    </a:p>
                  </a:txBody>
                  <a:tcPr marL="91440" marR="91440" marT="45720" marB="45720" anchor="ctr">
                    <a:lnR w="6668">
                      <a:solidFill>
                        <a:srgbClr val="D7E0E8"/>
                      </a:solidFill>
                      <a:prstDash val="solid"/>
                    </a:lnR>
                    <a:lnB w="6668">
                      <a:solidFill>
                        <a:srgbClr val="D7E0E8"/>
                      </a:solidFill>
                      <a:prstDash val="solid"/>
                    </a:lnB>
                    <a:solidFill>
                      <a:srgbClr val="FFFFFF"/>
                    </a:solidFill>
                  </a:tcPr>
                </a:tc>
                <a:tc>
                  <a:txBody>
                    <a:bodyPr wrap="square" lIns="114300" tIns="85725" rIns="114300" bIns="85725">
                      <a:noAutofit/>
                    </a:bodyPr>
                    <a:lstStyle/>
                    <a:p>
                      <a:pPr>
                        <a:lnSpc>
                          <a:spcPct val="105000"/>
                        </a:lnSpc>
                        <a:buNone/>
                      </a:pPr>
                      <a:r>
                        <a:rPr sz="1725" b="0">
                          <a:solidFill>
                            <a:srgbClr val="1B2E43"/>
                          </a:solidFill>
                          <a:latin typeface="Meiryo UI"/>
                          <a:ea typeface="Meiryo UI"/>
                          <a:cs typeface="Meiryo UI"/>
                        </a:rPr>
                        <a:t>全内部障害で必ず80を送る義務は</a:t>
                      </a:r>
                    </a:p>
                    <a:p>
                      <a:pPr>
                        <a:lnSpc>
                          <a:spcPct val="105000"/>
                        </a:lnSpc>
                        <a:buNone/>
                      </a:pPr>
                      <a:r>
                        <a:rPr sz="1725" b="0">
                          <a:solidFill>
                            <a:srgbClr val="1B2E43"/>
                          </a:solidFill>
                          <a:latin typeface="Meiryo UI"/>
                          <a:ea typeface="Meiryo UI"/>
                          <a:cs typeface="Meiryo UI"/>
                        </a:rPr>
                        <a:t>確認していない。送信不能となる障害を</a:t>
                      </a:r>
                    </a:p>
                    <a:p>
                      <a:pPr>
                        <a:lnSpc>
                          <a:spcPct val="105000"/>
                        </a:lnSpc>
                        <a:buNone/>
                      </a:pPr>
                      <a:r>
                        <a:rPr sz="1725" b="0">
                          <a:solidFill>
                            <a:srgbClr val="1B2E43"/>
                          </a:solidFill>
                          <a:latin typeface="Meiryo UI"/>
                          <a:ea typeface="Meiryo UI"/>
                          <a:cs typeface="Meiryo UI"/>
                        </a:rPr>
                        <a:t>捕捉しないことだけでは違反といえない。</a:t>
                      </a:r>
                    </a:p>
                  </a:txBody>
                  <a:tcPr marL="91440" marR="91440" marT="45720" marB="45720" anchor="ctr">
                    <a:lnR w="6668">
                      <a:solidFill>
                        <a:srgbClr val="D7E0E8"/>
                      </a:solidFill>
                      <a:prstDash val="solid"/>
                    </a:lnR>
                    <a:lnB w="6668">
                      <a:solidFill>
                        <a:srgbClr val="D7E0E8"/>
                      </a:solidFill>
                      <a:prstDash val="solid"/>
                    </a:lnB>
                    <a:solidFill>
                      <a:srgbClr val="FFFFFF"/>
                    </a:solidFill>
                  </a:tcPr>
                </a:tc>
                <a:tc>
                  <a:txBody>
                    <a:bodyPr wrap="square" lIns="95250" tIns="76200" rIns="95250" bIns="76200">
                      <a:noAutofit/>
                    </a:bodyPr>
                    <a:lstStyle/>
                    <a:p>
                      <a:r>
                        <a:rPr sz="1725" b="0" u="sng">
                          <a:solidFill>
                            <a:srgbClr val="176DA5"/>
                          </a:solidFill>
                          <a:latin typeface="Meiryo UI"/>
                          <a:ea typeface="Meiryo UI"/>
                          <a:cs typeface="Meiryo UI"/>
                          <a:hlinkClick xmlns:r="http://schemas.openxmlformats.org/officeDocument/2006/relationships" r:id="R30bb13bd9e434b69"/>
                        </a:rPr>
                        <a:t>§6.2</a:t>
                      </a:r>
                    </a:p>
                    <a:p>
                      <a:r>
                        <a:rPr sz="1725" b="0" u="sng">
                          <a:solidFill>
                            <a:srgbClr val="176DA5"/>
                          </a:solidFill>
                          <a:latin typeface="Meiryo UI"/>
                          <a:ea typeface="Meiryo UI"/>
                          <a:cs typeface="Meiryo UI"/>
                          <a:hlinkClick xmlns:r="http://schemas.openxmlformats.org/officeDocument/2006/relationships" r:id="R10a341e95b4240bf"/>
                        </a:rPr>
                        <a:t>ソース</a:t>
                      </a:r>
                    </a:p>
                    <a:p>
                      <a:r>
                        <a:rPr sz="1725" b="0" u="sng">
                          <a:solidFill>
                            <a:srgbClr val="176DA5"/>
                          </a:solidFill>
                          <a:latin typeface="Meiryo UI"/>
                          <a:ea typeface="Meiryo UI"/>
                          <a:cs typeface="Meiryo UI"/>
                          <a:hlinkClick xmlns:r="http://schemas.openxmlformats.org/officeDocument/2006/relationships" r:id="R16d9aeed8db8474a"/>
                        </a:rPr>
                        <a:t>定義</a:t>
                      </a:r>
                    </a:p>
                  </a:txBody>
                  <a:tcPr marL="91440" marR="91440" marT="45720" marB="45720" anchor="ctr">
                    <a:lnR w="6668">
                      <a:solidFill>
                        <a:srgbClr val="D7E0E8"/>
                      </a:solidFill>
                      <a:prstDash val="solid"/>
                    </a:lnR>
                    <a:lnB w="6668">
                      <a:solidFill>
                        <a:srgbClr val="D7E0E8"/>
                      </a:solidFill>
                      <a:prstDash val="solid"/>
                    </a:lnB>
                    <a:solidFill>
                      <a:srgbClr val="FFFFFF"/>
                    </a:solidFill>
                  </a:tcPr>
                </a:tc>
              </a:tr>
              <a:tr h="1066800">
                <a:tc>
                  <a:txBody>
                    <a:bodyPr wrap="square" lIns="114300" tIns="95250" rIns="114300" bIns="95250">
                      <a:noAutofit/>
                    </a:bodyPr>
                    <a:lstStyle/>
                    <a:p>
                      <a:pPr>
                        <a:lnSpc>
                          <a:spcPct val="100000"/>
                        </a:lnSpc>
                        <a:buNone/>
                      </a:pPr>
                      <a:r>
                        <a:rPr sz="1725" b="1">
                          <a:solidFill>
                            <a:srgbClr val="152D48"/>
                          </a:solidFill>
                          <a:latin typeface="Meiryo UI"/>
                          <a:ea typeface="Meiryo UI"/>
                          <a:cs typeface="Meiryo UI"/>
                        </a:rPr>
                        <a:t>86</a:t>
                      </a:r>
                    </a:p>
                    <a:p>
                      <a:pPr>
                        <a:lnSpc>
                          <a:spcPct val="100000"/>
                        </a:lnSpc>
                        <a:buNone/>
                      </a:pPr>
                      <a:r>
                        <a:rPr sz="1725" b="1">
                          <a:solidFill>
                            <a:srgbClr val="152D48"/>
                          </a:solidFill>
                          <a:latin typeface="Meiryo UI"/>
                          <a:ea typeface="Meiryo UI"/>
                          <a:cs typeface="Meiryo UI"/>
                        </a:rPr>
                        <a:t>inappropriate_</a:t>
                      </a:r>
                    </a:p>
                    <a:p>
                      <a:pPr>
                        <a:lnSpc>
                          <a:spcPct val="100000"/>
                        </a:lnSpc>
                        <a:buNone/>
                      </a:pPr>
                      <a:r>
                        <a:rPr sz="1725" b="1">
                          <a:solidFill>
                            <a:srgbClr val="152D48"/>
                          </a:solidFill>
                          <a:latin typeface="Meiryo UI"/>
                          <a:ea typeface="Meiryo UI"/>
                          <a:cs typeface="Meiryo UI"/>
                        </a:rPr>
                        <a:t>fallback</a:t>
                      </a:r>
                    </a:p>
                  </a:txBody>
                  <a:tcPr marL="91440" marR="91440" marT="45720" marB="45720" anchor="ctr">
                    <a:lnL w="6668">
                      <a:solidFill>
                        <a:srgbClr val="D7E0E8"/>
                      </a:solidFill>
                      <a:prstDash val="solid"/>
                    </a:lnL>
                    <a:lnR w="6668">
                      <a:solidFill>
                        <a:srgbClr val="D7E0E8"/>
                      </a:solidFill>
                      <a:prstDash val="solid"/>
                    </a:lnR>
                    <a:lnB w="6668">
                      <a:solidFill>
                        <a:srgbClr val="D7E0E8"/>
                      </a:solidFill>
                      <a:prstDash val="solid"/>
                    </a:lnB>
                    <a:solidFill>
                      <a:srgbClr val="F4F7FA"/>
                    </a:solidFill>
                  </a:tcPr>
                </a:tc>
                <a:tc>
                  <a:txBody>
                    <a:bodyPr wrap="square" lIns="114300" tIns="95250" rIns="114300" bIns="95250">
                      <a:noAutofit/>
                    </a:bodyPr>
                    <a:lstStyle/>
                    <a:p>
                      <a:pPr>
                        <a:lnSpc>
                          <a:spcPct val="108000"/>
                        </a:lnSpc>
                        <a:buNone/>
                      </a:pPr>
                      <a:r>
                        <a:rPr sz="1725" b="1">
                          <a:solidFill>
                            <a:srgbClr val="A72C35"/>
                          </a:solidFill>
                          <a:latin typeface="Meiryo UI"/>
                          <a:ea typeface="Meiryo UI"/>
                          <a:cs typeface="Meiryo UI"/>
                        </a:rPr>
                        <a:t>条件付き違反</a:t>
                      </a:r>
                    </a:p>
                    <a:p>
                      <a:pPr>
                        <a:lnSpc>
                          <a:spcPct val="108000"/>
                        </a:lnSpc>
                        <a:buNone/>
                      </a:pPr>
                      <a:r>
                        <a:rPr sz="1725" b="1">
                          <a:solidFill>
                            <a:srgbClr val="A72C35"/>
                          </a:solidFill>
                          <a:latin typeface="Meiryo UI"/>
                          <a:ea typeface="Meiryo UI"/>
                          <a:cs typeface="Meiryo UI"/>
                        </a:rPr>
                        <a:t>RFC 7507適用時</a:t>
                      </a:r>
                    </a:p>
                  </a:txBody>
                  <a:tcPr marL="91440" marR="91440" marT="45720" marB="45720" anchor="ctr">
                    <a:lnR w="6668">
                      <a:solidFill>
                        <a:srgbClr val="D7E0E8"/>
                      </a:solidFill>
                      <a:prstDash val="solid"/>
                    </a:lnR>
                    <a:lnB w="6668">
                      <a:solidFill>
                        <a:srgbClr val="D7E0E8"/>
                      </a:solidFill>
                      <a:prstDash val="solid"/>
                    </a:lnB>
                    <a:solidFill>
                      <a:srgbClr val="F4F7FA"/>
                    </a:solidFill>
                  </a:tcPr>
                </a:tc>
                <a:tc>
                  <a:txBody>
                    <a:bodyPr wrap="square" lIns="114300" tIns="85725" rIns="114300" bIns="85725">
                      <a:noAutofit/>
                    </a:bodyPr>
                    <a:lstStyle/>
                    <a:p>
                      <a:pPr>
                        <a:lnSpc>
                          <a:spcPct val="105000"/>
                        </a:lnSpc>
                        <a:buNone/>
                      </a:pPr>
                      <a:r>
                        <a:rPr sz="1725" b="0">
                          <a:solidFill>
                            <a:srgbClr val="1B2E43"/>
                          </a:solidFill>
                          <a:latin typeface="Meiryo UI"/>
                          <a:ea typeface="Meiryo UI"/>
                          <a:cs typeface="Meiryo UI"/>
                        </a:rPr>
                        <a:t>RFC 7507 §3の適用条件が成立すると</a:t>
                      </a:r>
                    </a:p>
                    <a:p>
                      <a:pPr>
                        <a:lnSpc>
                          <a:spcPct val="105000"/>
                        </a:lnSpc>
                        <a:buNone/>
                      </a:pPr>
                      <a:r>
                        <a:rPr sz="1725" b="0">
                          <a:solidFill>
                            <a:srgbClr val="1B2E43"/>
                          </a:solidFill>
                          <a:latin typeface="Meiryo UI"/>
                          <a:ea typeface="Meiryo UI"/>
                          <a:cs typeface="Meiryo UI"/>
                        </a:rPr>
                        <a:t>86が必要だが、検出・送信経路がない。</a:t>
                      </a:r>
                    </a:p>
                    <a:p>
                      <a:pPr>
                        <a:lnSpc>
                          <a:spcPct val="105000"/>
                        </a:lnSpc>
                        <a:buNone/>
                      </a:pPr>
                      <a:r>
                        <a:rPr sz="1725" b="0">
                          <a:solidFill>
                            <a:srgbClr val="1B2E43"/>
                          </a:solidFill>
                          <a:latin typeface="Meiryo UI"/>
                          <a:ea typeface="Meiryo UI"/>
                          <a:cs typeface="Meiryo UI"/>
                        </a:rPr>
                        <a:t>未対応版による70の例外は除く。</a:t>
                      </a:r>
                    </a:p>
                  </a:txBody>
                  <a:tcPr marL="91440" marR="91440" marT="45720" marB="45720" anchor="ctr">
                    <a:lnR w="6668">
                      <a:solidFill>
                        <a:srgbClr val="D7E0E8"/>
                      </a:solidFill>
                      <a:prstDash val="solid"/>
                    </a:lnR>
                    <a:lnB w="6668">
                      <a:solidFill>
                        <a:srgbClr val="D7E0E8"/>
                      </a:solidFill>
                      <a:prstDash val="solid"/>
                    </a:lnB>
                    <a:solidFill>
                      <a:srgbClr val="F4F7FA"/>
                    </a:solidFill>
                  </a:tcPr>
                </a:tc>
                <a:tc>
                  <a:txBody>
                    <a:bodyPr wrap="square" lIns="95250" tIns="76200" rIns="95250" bIns="76200">
                      <a:noAutofit/>
                    </a:bodyPr>
                    <a:lstStyle/>
                    <a:p>
                      <a:r>
                        <a:rPr sz="1725" b="0" u="sng">
                          <a:solidFill>
                            <a:srgbClr val="176DA5"/>
                          </a:solidFill>
                          <a:latin typeface="Meiryo UI"/>
                          <a:ea typeface="Meiryo UI"/>
                          <a:cs typeface="Meiryo UI"/>
                          <a:hlinkClick xmlns:r="http://schemas.openxmlformats.org/officeDocument/2006/relationships" r:id="R6e4e6371acc34511"/>
                        </a:rPr>
                        <a:t>§6.2</a:t>
                      </a:r>
                    </a:p>
                    <a:p>
                      <a:r>
                        <a:rPr sz="1725" b="0" u="sng">
                          <a:solidFill>
                            <a:srgbClr val="176DA5"/>
                          </a:solidFill>
                          <a:latin typeface="Meiryo UI"/>
                          <a:ea typeface="Meiryo UI"/>
                          <a:cs typeface="Meiryo UI"/>
                          <a:hlinkClick xmlns:r="http://schemas.openxmlformats.org/officeDocument/2006/relationships" r:id="R01130685812d4064"/>
                        </a:rPr>
                        <a:t>ソース</a:t>
                      </a:r>
                    </a:p>
                    <a:p>
                      <a:r>
                        <a:rPr sz="1725" b="0" u="sng">
                          <a:solidFill>
                            <a:srgbClr val="176DA5"/>
                          </a:solidFill>
                          <a:latin typeface="Meiryo UI"/>
                          <a:ea typeface="Meiryo UI"/>
                          <a:cs typeface="Meiryo UI"/>
                          <a:hlinkClick xmlns:r="http://schemas.openxmlformats.org/officeDocument/2006/relationships" r:id="R3960529e3a494cd8"/>
                        </a:rPr>
                        <a:t>定義</a:t>
                      </a:r>
                    </a:p>
                  </a:txBody>
                  <a:tcPr marL="91440" marR="91440" marT="45720" marB="45720" anchor="ctr">
                    <a:lnR w="6668">
                      <a:solidFill>
                        <a:srgbClr val="D7E0E8"/>
                      </a:solidFill>
                      <a:prstDash val="solid"/>
                    </a:lnR>
                    <a:lnB w="6668">
                      <a:solidFill>
                        <a:srgbClr val="D7E0E8"/>
                      </a:solidFill>
                      <a:prstDash val="solid"/>
                    </a:lnB>
                    <a:solidFill>
                      <a:srgbClr val="F4F7FA"/>
                    </a:solidFill>
                  </a:tcPr>
                </a:tc>
              </a:tr>
              <a:tr h="1066800">
                <a:tc>
                  <a:txBody>
                    <a:bodyPr wrap="square" lIns="114300" tIns="95250" rIns="114300" bIns="95250">
                      <a:noAutofit/>
                    </a:bodyPr>
                    <a:lstStyle/>
                    <a:p>
                      <a:pPr>
                        <a:lnSpc>
                          <a:spcPct val="100000"/>
                        </a:lnSpc>
                        <a:buNone/>
                      </a:pPr>
                      <a:r>
                        <a:rPr sz="1725" b="1">
                          <a:solidFill>
                            <a:srgbClr val="152D48"/>
                          </a:solidFill>
                          <a:latin typeface="Meiryo UI"/>
                          <a:ea typeface="Meiryo UI"/>
                          <a:cs typeface="Meiryo UI"/>
                        </a:rPr>
                        <a:t>109</a:t>
                      </a:r>
                    </a:p>
                    <a:p>
                      <a:pPr>
                        <a:lnSpc>
                          <a:spcPct val="100000"/>
                        </a:lnSpc>
                        <a:buNone/>
                      </a:pPr>
                      <a:r>
                        <a:rPr sz="1725" b="1">
                          <a:solidFill>
                            <a:srgbClr val="152D48"/>
                          </a:solidFill>
                          <a:latin typeface="Meiryo UI"/>
                          <a:ea typeface="Meiryo UI"/>
                          <a:cs typeface="Meiryo UI"/>
                        </a:rPr>
                        <a:t>missing_extension</a:t>
                      </a:r>
                    </a:p>
                  </a:txBody>
                  <a:tcPr marL="91440" marR="91440" marT="45720" marB="45720" anchor="ctr">
                    <a:lnL w="6668">
                      <a:solidFill>
                        <a:srgbClr val="D7E0E8"/>
                      </a:solidFill>
                      <a:prstDash val="solid"/>
                    </a:lnL>
                    <a:lnR w="6668">
                      <a:solidFill>
                        <a:srgbClr val="D7E0E8"/>
                      </a:solidFill>
                      <a:prstDash val="solid"/>
                    </a:lnR>
                    <a:lnB w="6668">
                      <a:solidFill>
                        <a:srgbClr val="D7E0E8"/>
                      </a:solidFill>
                      <a:prstDash val="solid"/>
                    </a:lnB>
                    <a:solidFill>
                      <a:srgbClr val="FFFFFF"/>
                    </a:solidFill>
                  </a:tcPr>
                </a:tc>
                <a:tc>
                  <a:txBody>
                    <a:bodyPr wrap="square" lIns="114300" tIns="95250" rIns="114300" bIns="95250">
                      <a:noAutofit/>
                    </a:bodyPr>
                    <a:lstStyle/>
                    <a:p>
                      <a:pPr>
                        <a:lnSpc>
                          <a:spcPct val="108000"/>
                        </a:lnSpc>
                        <a:buNone/>
                      </a:pPr>
                      <a:r>
                        <a:rPr sz="1725" b="1">
                          <a:solidFill>
                            <a:srgbClr val="93641B"/>
                          </a:solidFill>
                          <a:latin typeface="Meiryo UI"/>
                          <a:ea typeface="Meiryo UI"/>
                          <a:cs typeface="Meiryo UI"/>
                        </a:rPr>
                        <a:t>断定保留</a:t>
                      </a:r>
                    </a:p>
                    <a:p>
                      <a:pPr>
                        <a:lnSpc>
                          <a:spcPct val="108000"/>
                        </a:lnSpc>
                        <a:buNone/>
                      </a:pPr>
                      <a:r>
                        <a:rPr sz="1725" b="1">
                          <a:solidFill>
                            <a:srgbClr val="93641B"/>
                          </a:solidFill>
                          <a:latin typeface="Meiryo UI"/>
                          <a:ea typeface="Meiryo UI"/>
                          <a:cs typeface="Meiryo UI"/>
                        </a:rPr>
                        <a:t>SHOULDとの差</a:t>
                      </a:r>
                    </a:p>
                  </a:txBody>
                  <a:tcPr marL="91440" marR="91440" marT="45720" marB="45720" anchor="ctr">
                    <a:lnR w="6668">
                      <a:solidFill>
                        <a:srgbClr val="D7E0E8"/>
                      </a:solidFill>
                      <a:prstDash val="solid"/>
                    </a:lnR>
                    <a:lnB w="6668">
                      <a:solidFill>
                        <a:srgbClr val="D7E0E8"/>
                      </a:solidFill>
                      <a:prstDash val="solid"/>
                    </a:lnB>
                    <a:solidFill>
                      <a:srgbClr val="FFFFFF"/>
                    </a:solidFill>
                  </a:tcPr>
                </a:tc>
                <a:tc>
                  <a:txBody>
                    <a:bodyPr wrap="square" lIns="114300" tIns="85725" rIns="114300" bIns="85725">
                      <a:noAutofit/>
                    </a:bodyPr>
                    <a:lstStyle/>
                    <a:p>
                      <a:pPr>
                        <a:lnSpc>
                          <a:spcPct val="105000"/>
                        </a:lnSpc>
                        <a:buNone/>
                      </a:pPr>
                      <a:r>
                        <a:rPr sz="1725" b="0">
                          <a:solidFill>
                            <a:srgbClr val="1B2E43"/>
                          </a:solidFill>
                          <a:latin typeface="Meiryo UI"/>
                          <a:ea typeface="Meiryo UI"/>
                          <a:cs typeface="Meiryo UI"/>
                        </a:rPr>
                        <a:t>PSK modes欠落で47を選ぶ。</a:t>
                      </a:r>
                    </a:p>
                    <a:p>
                      <a:pPr>
                        <a:lnSpc>
                          <a:spcPct val="105000"/>
                        </a:lnSpc>
                        <a:buNone/>
                      </a:pPr>
                      <a:r>
                        <a:rPr sz="1725" b="0">
                          <a:solidFill>
                            <a:srgbClr val="1B2E43"/>
                          </a:solidFill>
                          <a:latin typeface="Meiryo UI"/>
                          <a:ea typeface="Meiryo UI"/>
                          <a:cs typeface="Meiryo UI"/>
                        </a:rPr>
                        <a:t>RFC §4.3.9の中止MUSTは満たすが、</a:t>
                      </a:r>
                    </a:p>
                    <a:p>
                      <a:pPr>
                        <a:lnSpc>
                          <a:spcPct val="105000"/>
                        </a:lnSpc>
                        <a:buNone/>
                      </a:pPr>
                      <a:r>
                        <a:rPr sz="1725" b="0">
                          <a:solidFill>
                            <a:srgbClr val="1B2E43"/>
                          </a:solidFill>
                          <a:latin typeface="Meiryo UI"/>
                          <a:ea typeface="Meiryo UI"/>
                          <a:cs typeface="Meiryo UI"/>
                        </a:rPr>
                        <a:t>109の番号選択SHOULDとの差がある。</a:t>
                      </a:r>
                    </a:p>
                  </a:txBody>
                  <a:tcPr marL="91440" marR="91440" marT="45720" marB="45720" anchor="ctr">
                    <a:lnR w="6668">
                      <a:solidFill>
                        <a:srgbClr val="D7E0E8"/>
                      </a:solidFill>
                      <a:prstDash val="solid"/>
                    </a:lnR>
                    <a:lnB w="6668">
                      <a:solidFill>
                        <a:srgbClr val="D7E0E8"/>
                      </a:solidFill>
                      <a:prstDash val="solid"/>
                    </a:lnB>
                    <a:solidFill>
                      <a:srgbClr val="FFFFFF"/>
                    </a:solidFill>
                  </a:tcPr>
                </a:tc>
                <a:tc>
                  <a:txBody>
                    <a:bodyPr wrap="square" lIns="95250" tIns="76200" rIns="95250" bIns="76200">
                      <a:noAutofit/>
                    </a:bodyPr>
                    <a:lstStyle/>
                    <a:p>
                      <a:r>
                        <a:rPr sz="1725" b="0" u="sng">
                          <a:solidFill>
                            <a:srgbClr val="176DA5"/>
                          </a:solidFill>
                          <a:latin typeface="Meiryo UI"/>
                          <a:ea typeface="Meiryo UI"/>
                          <a:cs typeface="Meiryo UI"/>
                          <a:hlinkClick xmlns:r="http://schemas.openxmlformats.org/officeDocument/2006/relationships" r:id="R9a7e2ad5eb954cca"/>
                        </a:rPr>
                        <a:t>§4.3.9</a:t>
                      </a:r>
                    </a:p>
                    <a:p>
                      <a:r>
                        <a:rPr sz="1725" b="0" u="sng">
                          <a:solidFill>
                            <a:srgbClr val="176DA5"/>
                          </a:solidFill>
                          <a:latin typeface="Meiryo UI"/>
                          <a:ea typeface="Meiryo UI"/>
                          <a:cs typeface="Meiryo UI"/>
                          <a:hlinkClick xmlns:r="http://schemas.openxmlformats.org/officeDocument/2006/relationships" r:id="Rff932650a31a41e4"/>
                        </a:rPr>
                        <a:t>ソース</a:t>
                      </a:r>
                    </a:p>
                    <a:p>
                      <a:r>
                        <a:rPr sz="1725" b="0" u="sng">
                          <a:solidFill>
                            <a:srgbClr val="176DA5"/>
                          </a:solidFill>
                          <a:latin typeface="Meiryo UI"/>
                          <a:ea typeface="Meiryo UI"/>
                          <a:cs typeface="Meiryo UI"/>
                          <a:hlinkClick xmlns:r="http://schemas.openxmlformats.org/officeDocument/2006/relationships" r:id="Rb7de108924674ddb"/>
                        </a:rPr>
                        <a:t>定義</a:t>
                      </a:r>
                    </a:p>
                  </a:txBody>
                  <a:tcPr marL="91440" marR="91440" marT="45720" marB="45720" anchor="ctr">
                    <a:lnR w="6668">
                      <a:solidFill>
                        <a:srgbClr val="D7E0E8"/>
                      </a:solidFill>
                      <a:prstDash val="solid"/>
                    </a:lnR>
                    <a:lnB w="6668">
                      <a:solidFill>
                        <a:srgbClr val="D7E0E8"/>
                      </a:solidFill>
                      <a:prstDash val="solid"/>
                    </a:lnB>
                    <a:solidFill>
                      <a:srgbClr val="FFFFFF"/>
                    </a:solidFill>
                  </a:tcPr>
                </a:tc>
              </a:tr>
              <a:tr h="1066800">
                <a:tc>
                  <a:txBody>
                    <a:bodyPr wrap="square" lIns="114300" tIns="95250" rIns="114300" bIns="95250">
                      <a:noAutofit/>
                    </a:bodyPr>
                    <a:lstStyle/>
                    <a:p>
                      <a:pPr>
                        <a:lnSpc>
                          <a:spcPct val="100000"/>
                        </a:lnSpc>
                        <a:buNone/>
                      </a:pPr>
                      <a:r>
                        <a:rPr sz="1725" b="1">
                          <a:solidFill>
                            <a:srgbClr val="152D48"/>
                          </a:solidFill>
                          <a:latin typeface="Meiryo UI"/>
                          <a:ea typeface="Meiryo UI"/>
                          <a:cs typeface="Meiryo UI"/>
                        </a:rPr>
                        <a:t>110</a:t>
                      </a:r>
                    </a:p>
                    <a:p>
                      <a:pPr>
                        <a:lnSpc>
                          <a:spcPct val="100000"/>
                        </a:lnSpc>
                        <a:buNone/>
                      </a:pPr>
                      <a:r>
                        <a:rPr sz="1725" b="1">
                          <a:solidFill>
                            <a:srgbClr val="152D48"/>
                          </a:solidFill>
                          <a:latin typeface="Meiryo UI"/>
                          <a:ea typeface="Meiryo UI"/>
                          <a:cs typeface="Meiryo UI"/>
                        </a:rPr>
                        <a:t>unsupported_</a:t>
                      </a:r>
                    </a:p>
                    <a:p>
                      <a:pPr>
                        <a:lnSpc>
                          <a:spcPct val="100000"/>
                        </a:lnSpc>
                        <a:buNone/>
                      </a:pPr>
                      <a:r>
                        <a:rPr sz="1725" b="1">
                          <a:solidFill>
                            <a:srgbClr val="152D48"/>
                          </a:solidFill>
                          <a:latin typeface="Meiryo UI"/>
                          <a:ea typeface="Meiryo UI"/>
                          <a:cs typeface="Meiryo UI"/>
                        </a:rPr>
                        <a:t>extension</a:t>
                      </a:r>
                    </a:p>
                  </a:txBody>
                  <a:tcPr marL="91440" marR="91440" marT="45720" marB="45720" anchor="ctr">
                    <a:lnL w="6668">
                      <a:solidFill>
                        <a:srgbClr val="D7E0E8"/>
                      </a:solidFill>
                      <a:prstDash val="solid"/>
                    </a:lnL>
                    <a:lnR w="6668">
                      <a:solidFill>
                        <a:srgbClr val="D7E0E8"/>
                      </a:solidFill>
                      <a:prstDash val="solid"/>
                    </a:lnR>
                    <a:lnB w="6668">
                      <a:solidFill>
                        <a:srgbClr val="D7E0E8"/>
                      </a:solidFill>
                      <a:prstDash val="solid"/>
                    </a:lnB>
                    <a:solidFill>
                      <a:srgbClr val="F4F7FA"/>
                    </a:solidFill>
                  </a:tcPr>
                </a:tc>
                <a:tc>
                  <a:txBody>
                    <a:bodyPr wrap="square" lIns="114300" tIns="95250" rIns="114300" bIns="95250">
                      <a:noAutofit/>
                    </a:bodyPr>
                    <a:lstStyle/>
                    <a:p>
                      <a:pPr>
                        <a:lnSpc>
                          <a:spcPct val="108000"/>
                        </a:lnSpc>
                        <a:buNone/>
                      </a:pPr>
                      <a:r>
                        <a:rPr sz="1725" b="1">
                          <a:solidFill>
                            <a:srgbClr val="A72C35"/>
                          </a:solidFill>
                          <a:latin typeface="Meiryo UI"/>
                          <a:ea typeface="Meiryo UI"/>
                          <a:cs typeface="Meiryo UI"/>
                        </a:rPr>
                        <a:t>違反あり</a:t>
                      </a:r>
                    </a:p>
                    <a:p>
                      <a:pPr>
                        <a:lnSpc>
                          <a:spcPct val="108000"/>
                        </a:lnSpc>
                        <a:buNone/>
                      </a:pPr>
                      <a:r>
                        <a:rPr sz="1725" b="1">
                          <a:solidFill>
                            <a:srgbClr val="A72C35"/>
                          </a:solidFill>
                          <a:latin typeface="Meiryo UI"/>
                          <a:ea typeface="Meiryo UI"/>
                          <a:cs typeface="Meiryo UI"/>
                        </a:rPr>
                        <a:t>MUST不一致</a:t>
                      </a:r>
                    </a:p>
                  </a:txBody>
                  <a:tcPr marL="91440" marR="91440" marT="45720" marB="45720" anchor="ctr">
                    <a:lnR w="6668">
                      <a:solidFill>
                        <a:srgbClr val="D7E0E8"/>
                      </a:solidFill>
                      <a:prstDash val="solid"/>
                    </a:lnR>
                    <a:lnB w="6668">
                      <a:solidFill>
                        <a:srgbClr val="D7E0E8"/>
                      </a:solidFill>
                      <a:prstDash val="solid"/>
                    </a:lnB>
                    <a:solidFill>
                      <a:srgbClr val="F4F7FA"/>
                    </a:solidFill>
                  </a:tcPr>
                </a:tc>
                <a:tc>
                  <a:txBody>
                    <a:bodyPr wrap="square" lIns="114300" tIns="85725" rIns="114300" bIns="85725">
                      <a:noAutofit/>
                    </a:bodyPr>
                    <a:lstStyle/>
                    <a:p>
                      <a:pPr>
                        <a:lnSpc>
                          <a:spcPct val="105000"/>
                        </a:lnSpc>
                        <a:buNone/>
                      </a:pPr>
                      <a:r>
                        <a:rPr sz="1725" b="0">
                          <a:solidFill>
                            <a:srgbClr val="1B2E43"/>
                          </a:solidFill>
                          <a:latin typeface="Meiryo UI"/>
                          <a:ea typeface="Meiryo UI"/>
                          <a:cs typeface="Meiryo UI"/>
                        </a:rPr>
                        <a:t>未要求のALPN応答に10を使用。</a:t>
                      </a:r>
                    </a:p>
                    <a:p>
                      <a:pPr>
                        <a:lnSpc>
                          <a:spcPct val="105000"/>
                        </a:lnSpc>
                        <a:buNone/>
                      </a:pPr>
                      <a:r>
                        <a:rPr sz="1725" b="0">
                          <a:solidFill>
                            <a:srgbClr val="1B2E43"/>
                          </a:solidFill>
                          <a:latin typeface="Meiryo UI"/>
                          <a:ea typeface="Meiryo UI"/>
                          <a:cs typeface="Meiryo UI"/>
                        </a:rPr>
                        <a:t>RFC §4.3が指定する番号は110。</a:t>
                      </a:r>
                    </a:p>
                    <a:p>
                      <a:pPr>
                        <a:lnSpc>
                          <a:spcPct val="105000"/>
                        </a:lnSpc>
                        <a:buNone/>
                      </a:pPr>
                      <a:r>
                        <a:rPr sz="1725" b="0">
                          <a:solidFill>
                            <a:srgbClr val="1B2E43"/>
                          </a:solidFill>
                          <a:latin typeface="Meiryo UI"/>
                          <a:ea typeface="Meiryo UI"/>
                          <a:cs typeface="Meiryo UI"/>
                        </a:rPr>
                        <a:t>TLS 1.3でも同じconsumerを使用する。</a:t>
                      </a:r>
                    </a:p>
                  </a:txBody>
                  <a:tcPr marL="91440" marR="91440" marT="45720" marB="45720" anchor="ctr">
                    <a:lnR w="6668">
                      <a:solidFill>
                        <a:srgbClr val="D7E0E8"/>
                      </a:solidFill>
                      <a:prstDash val="solid"/>
                    </a:lnR>
                    <a:lnB w="6668">
                      <a:solidFill>
                        <a:srgbClr val="D7E0E8"/>
                      </a:solidFill>
                      <a:prstDash val="solid"/>
                    </a:lnB>
                    <a:solidFill>
                      <a:srgbClr val="F4F7FA"/>
                    </a:solidFill>
                  </a:tcPr>
                </a:tc>
                <a:tc>
                  <a:txBody>
                    <a:bodyPr wrap="square" lIns="95250" tIns="76200" rIns="95250" bIns="76200">
                      <a:noAutofit/>
                    </a:bodyPr>
                    <a:lstStyle/>
                    <a:p>
                      <a:r>
                        <a:rPr sz="1725" b="0" u="sng">
                          <a:solidFill>
                            <a:srgbClr val="176DA5"/>
                          </a:solidFill>
                          <a:latin typeface="Meiryo UI"/>
                          <a:ea typeface="Meiryo UI"/>
                          <a:cs typeface="Meiryo UI"/>
                          <a:hlinkClick xmlns:r="http://schemas.openxmlformats.org/officeDocument/2006/relationships" r:id="R511ebf032e40405f"/>
                        </a:rPr>
                        <a:t>§4.3</a:t>
                      </a:r>
                    </a:p>
                    <a:p>
                      <a:r>
                        <a:rPr sz="1725" b="0" u="sng">
                          <a:solidFill>
                            <a:srgbClr val="176DA5"/>
                          </a:solidFill>
                          <a:latin typeface="Meiryo UI"/>
                          <a:ea typeface="Meiryo UI"/>
                          <a:cs typeface="Meiryo UI"/>
                          <a:hlinkClick xmlns:r="http://schemas.openxmlformats.org/officeDocument/2006/relationships" r:id="R484be748d26f434e"/>
                        </a:rPr>
                        <a:t>ソース</a:t>
                      </a:r>
                    </a:p>
                    <a:p>
                      <a:r>
                        <a:rPr sz="1725" b="0" u="sng">
                          <a:solidFill>
                            <a:srgbClr val="176DA5"/>
                          </a:solidFill>
                          <a:latin typeface="Meiryo UI"/>
                          <a:ea typeface="Meiryo UI"/>
                          <a:cs typeface="Meiryo UI"/>
                          <a:hlinkClick xmlns:r="http://schemas.openxmlformats.org/officeDocument/2006/relationships" r:id="R215471b64584404d"/>
                        </a:rPr>
                        <a:t>定義</a:t>
                      </a:r>
                    </a:p>
                  </a:txBody>
                  <a:tcPr marL="91440" marR="91440" marT="45720" marB="45720" anchor="ctr">
                    <a:lnR w="6668">
                      <a:solidFill>
                        <a:srgbClr val="D7E0E8"/>
                      </a:solidFill>
                      <a:prstDash val="solid"/>
                    </a:lnR>
                    <a:lnB w="6668">
                      <a:solidFill>
                        <a:srgbClr val="D7E0E8"/>
                      </a:solidFill>
                      <a:prstDash val="solid"/>
                    </a:lnB>
                    <a:solidFill>
                      <a:srgbClr val="F4F7FA"/>
                    </a:solidFill>
                  </a:tcPr>
                </a:tc>
              </a:tr>
            </a:tbl>
          </a:graphicData>
        </a:graphic>
      </p:graphicFrame>
      <p:sp>
        <p:nvSpPr>
          <p:cNvPr id="5" name="text-4">
            <a:extLst xmlns:a="http://schemas.openxmlformats.org/drawingml/2006/main">
              <a:ext uri="{FF2B5EF4-FFF2-40B4-BE49-F238E27FC236}">
                <a16:creationId xmlns:a16="http://schemas.microsoft.com/office/drawing/2014/main" id="{0B2329FB-CEFF-4B92-B5BD-FB31103A13A7}"/>
              </a:ext>
            </a:extLst>
          </p:cNvPr>
          <p:cNvSpPr>
            <a:spLocks xmlns:a="http://schemas.openxmlformats.org/drawingml/2006/main" noGrp="1"/>
          </p:cNvSpPr>
          <p:nvPr/>
        </p:nvSpPr>
        <p:spPr>
          <a:xfrm xmlns:a="http://schemas.openxmlformats.org/drawingml/2006/main">
            <a:off x="609600" y="63722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06579"/>
                </a:solidFill>
                <a:latin typeface="Meiryo UI"/>
                <a:ea typeface="Meiryo UI"/>
                <a:cs typeface="Meiryo UI"/>
              </a:defRPr>
            </a:defPPr>
          </a:lstStyle>
          <a:p xmlns:a="http://schemas.openxmlformats.org/drawingml/2006/main">
            <a:pPr>
              <a:lnSpc>
                <a:spcPct val="110000"/>
              </a:lnSpc>
              <a:buNone/>
              <a:defRPr sz="1425" b="0">
                <a:solidFill>
                  <a:srgbClr val="506579"/>
                </a:solidFill>
                <a:latin typeface="Meiryo UI"/>
                <a:ea typeface="Meiryo UI"/>
                <a:cs typeface="Meiryo UI"/>
              </a:defRPr>
            </a:pPr>
            <a:r>
              <a:rPr sz="1425" b="0">
                <a:solidFill>
                  <a:srgbClr val="506579"/>
                </a:solidFill>
                <a:latin typeface="Meiryo UI"/>
                <a:ea typeface="Meiryo UI"/>
                <a:cs typeface="Meiryo UI"/>
              </a:rPr>
              <a:t>静的調査。違反未確認は、全条件での適合認定を意味しない。</a:t>
            </a:r>
          </a:p>
        </p:txBody>
      </p:sp>
    </p:spTree>
    <p:extLst>
      <p:ext uri="{BB962C8B-B14F-4D97-AF65-F5344CB8AC3E}">
        <p14:creationId xmlns:p14="http://schemas.microsoft.com/office/powerpoint/2010/main" val="79259372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1">
            <a:extLst xmlns:a="http://schemas.openxmlformats.org/drawingml/2006/main">
              <a:ext uri="{FF2B5EF4-FFF2-40B4-BE49-F238E27FC236}">
                <a16:creationId xmlns:a16="http://schemas.microsoft.com/office/drawing/2014/main" id="{D752F540-FD77-482A-80A0-5A78BC91A009}"/>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D48"/>
                </a:solidFill>
                <a:latin typeface="Meiryo UI"/>
                <a:ea typeface="Meiryo UI"/>
                <a:cs typeface="Meiryo UI"/>
              </a:defRPr>
            </a:defPPr>
          </a:lstStyle>
          <a:p xmlns:a="http://schemas.openxmlformats.org/drawingml/2006/main">
            <a:pPr>
              <a:lnSpc>
                <a:spcPct val="110000"/>
              </a:lnSpc>
              <a:buNone/>
              <a:defRPr sz="3300" b="1">
                <a:solidFill>
                  <a:srgbClr val="152D48"/>
                </a:solidFill>
                <a:latin typeface="Meiryo UI"/>
                <a:ea typeface="Meiryo UI"/>
                <a:cs typeface="Meiryo UI"/>
              </a:defRPr>
            </a:pPr>
            <a:r>
              <a:rPr sz="3300" b="1">
                <a:solidFill>
                  <a:srgbClr val="152D48"/>
                </a:solidFill>
                <a:latin typeface="Meiryo UI"/>
                <a:ea typeface="Meiryo UI"/>
                <a:cs typeface="Meiryo UI"/>
              </a:rPr>
              <a:t>26種類の判定一覧 6/7</a:t>
            </a:r>
          </a:p>
        </p:txBody>
      </p:sp>
      <p:sp>
        <p:nvSpPr>
          <p:cNvPr id="2" name="text-2">
            <a:extLst xmlns:a="http://schemas.openxmlformats.org/drawingml/2006/main">
              <a:ext uri="{FF2B5EF4-FFF2-40B4-BE49-F238E27FC236}">
                <a16:creationId xmlns:a16="http://schemas.microsoft.com/office/drawing/2014/main" id="{D29683E2-6782-46F3-A7B1-396045671C46}"/>
              </a:ext>
            </a:extLst>
          </p:cNvPr>
          <p:cNvSpPr>
            <a:spLocks xmlns:a="http://schemas.openxmlformats.org/drawingml/2006/main" noGrp="1"/>
          </p:cNvSpPr>
          <p:nvPr/>
        </p:nvSpPr>
        <p:spPr>
          <a:xfrm xmlns:a="http://schemas.openxmlformats.org/drawingml/2006/main">
            <a:off x="609600" y="10668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02" b="0">
                <a:solidFill>
                  <a:srgbClr val="506579"/>
                </a:solidFill>
                <a:latin typeface="Meiryo UI"/>
                <a:ea typeface="Meiryo UI"/>
                <a:cs typeface="Meiryo UI"/>
              </a:defRPr>
            </a:defPPr>
          </a:lstStyle>
          <a:p xmlns:a="http://schemas.openxmlformats.org/drawingml/2006/main">
            <a:pPr>
              <a:lnSpc>
                <a:spcPct val="110000"/>
              </a:lnSpc>
              <a:buNone/>
              <a:defRPr sz="1702" b="0">
                <a:solidFill>
                  <a:srgbClr val="506579"/>
                </a:solidFill>
                <a:latin typeface="Meiryo UI"/>
                <a:ea typeface="Meiryo UI"/>
                <a:cs typeface="Meiryo UI"/>
              </a:defRPr>
            </a:pPr>
            <a:r>
              <a:rPr sz="1702" b="0">
                <a:solidFill>
                  <a:srgbClr val="506579"/>
                </a:solidFill>
                <a:latin typeface="Meiryo UI"/>
                <a:ea typeface="Meiryo UI"/>
                <a:cs typeface="Meiryo UI"/>
              </a:rPr>
              <a:t>Alert番号 112–116　根拠欄の文字はリンク</a:t>
            </a:r>
          </a:p>
        </p:txBody>
      </p:sp>
      <p:sp>
        <p:nvSpPr>
          <p:cNvPr id="3" name="text-3">
            <a:extLst xmlns:a="http://schemas.openxmlformats.org/drawingml/2006/main">
              <a:ext uri="{FF2B5EF4-FFF2-40B4-BE49-F238E27FC236}">
                <a16:creationId xmlns:a16="http://schemas.microsoft.com/office/drawing/2014/main" id="{22E02BEC-CAC0-4169-83E5-37004D1A1CA4}"/>
              </a:ext>
            </a:extLst>
          </p:cNvPr>
          <p:cNvSpPr>
            <a:spLocks xmlns:a="http://schemas.openxmlformats.org/drawingml/2006/main" noGrp="1"/>
          </p:cNvSpPr>
          <p:nvPr/>
        </p:nvSpPr>
        <p:spPr>
          <a:xfrm xmlns:a="http://schemas.openxmlformats.org/drawingml/2006/main">
            <a:off x="11049000" y="644842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06579"/>
                </a:solidFill>
                <a:latin typeface="Meiryo UI"/>
                <a:ea typeface="Meiryo UI"/>
                <a:cs typeface="Meiryo UI"/>
              </a:defRPr>
            </a:defPPr>
          </a:lstStyle>
          <a:p xmlns:a="http://schemas.openxmlformats.org/drawingml/2006/main">
            <a:pPr>
              <a:lnSpc>
                <a:spcPct val="110000"/>
              </a:lnSpc>
              <a:buNone/>
              <a:defRPr sz="1275" b="0">
                <a:solidFill>
                  <a:srgbClr val="506579"/>
                </a:solidFill>
                <a:latin typeface="Meiryo UI"/>
                <a:ea typeface="Meiryo UI"/>
                <a:cs typeface="Meiryo UI"/>
              </a:defRPr>
            </a:pPr>
            <a:r>
              <a:rPr sz="1275" b="0">
                <a:solidFill>
                  <a:srgbClr val="506579"/>
                </a:solidFill>
                <a:latin typeface="Meiryo UI"/>
                <a:ea typeface="Meiryo UI"/>
                <a:cs typeface="Meiryo UI"/>
              </a:rPr>
              <a:t>10</a:t>
            </a:r>
          </a:p>
        </p:txBody>
      </p:sp>
      <p:graphicFrame>
        <p:nvGraphicFramePr>
          <p:cNvPr id="4" name="">
            <a:extLst xmlns:a="http://schemas.openxmlformats.org/drawingml/2006/main">
              <a:ext uri="{FF2B5EF4-FFF2-40B4-BE49-F238E27FC236}">
                <a16:creationId xmlns:a16="http://schemas.microsoft.com/office/drawing/2014/main" id="{F3C316F1-6A16-4DDA-B563-709BCF814FCD}"/>
              </a:ext>
            </a:extLst>
          </p:cNvPr>
          <p:cNvGraphicFramePr/>
          <p:nvPr/>
        </p:nvGraphicFramePr>
        <p:xfrm>
          <a:off xmlns:a="http://schemas.openxmlformats.org/drawingml/2006/main" x="609600" y="1504950"/>
          <a:ext xmlns:a="http://schemas.openxmlformats.org/drawingml/2006/main" cx="10972800" cy="4724400"/>
        </p:xfrm>
        <a:graphic xmlns:a="http://schemas.openxmlformats.org/drawingml/2006/main">
          <a:graphicData uri="http://schemas.openxmlformats.org/drawingml/2006/table">
            <a:tbl>
              <a:tblPr firstRow="0" bandRow="0"/>
              <a:tblGrid>
                <a:gridCol w="2724150"/>
                <a:gridCol w="2324100"/>
                <a:gridCol w="4667250"/>
                <a:gridCol w="1257300"/>
              </a:tblGrid>
              <a:tr h="457200">
                <a:tc>
                  <a:txBody>
                    <a:bodyPr wrap="square" lIns="114300" tIns="85725" rIns="114300" bIns="85725">
                      <a:noAutofit/>
                    </a:bodyPr>
                    <a:lstStyle/>
                    <a:p>
                      <a:pPr>
                        <a:lnSpc>
                          <a:spcPct val="105000"/>
                        </a:lnSpc>
                        <a:buNone/>
                      </a:pPr>
                      <a:r>
                        <a:rPr sz="1725" b="1">
                          <a:solidFill>
                            <a:srgbClr val="FFFFFF"/>
                          </a:solidFill>
                          <a:latin typeface="Meiryo UI"/>
                          <a:ea typeface="Meiryo UI"/>
                          <a:cs typeface="Meiryo UI"/>
                        </a:rPr>
                        <a:t>番号・Alert</a:t>
                      </a:r>
                    </a:p>
                  </a:txBody>
                  <a:tcPr marL="91440" marR="91440" marT="45720" marB="45720" anchor="ctr">
                    <a:lnL w="6668">
                      <a:solidFill>
                        <a:srgbClr val="D7E0E8"/>
                      </a:solidFill>
                      <a:prstDash val="solid"/>
                    </a:lnL>
                    <a:lnR w="6668">
                      <a:solidFill>
                        <a:srgbClr val="D7E0E8"/>
                      </a:solidFill>
                      <a:prstDash val="solid"/>
                    </a:lnR>
                    <a:lnT w="6668">
                      <a:solidFill>
                        <a:srgbClr val="D7E0E8"/>
                      </a:solidFill>
                      <a:prstDash val="solid"/>
                    </a:lnT>
                    <a:lnB w="6668">
                      <a:solidFill>
                        <a:srgbClr val="D7E0E8"/>
                      </a:solidFill>
                      <a:prstDash val="solid"/>
                    </a:lnB>
                    <a:solidFill>
                      <a:srgbClr val="152D48"/>
                    </a:solidFill>
                  </a:tcPr>
                </a:tc>
                <a:tc>
                  <a:txBody>
                    <a:bodyPr wrap="square" lIns="114300" tIns="85725" rIns="114300" bIns="85725">
                      <a:noAutofit/>
                    </a:bodyPr>
                    <a:lstStyle/>
                    <a:p>
                      <a:pPr>
                        <a:lnSpc>
                          <a:spcPct val="105000"/>
                        </a:lnSpc>
                        <a:buNone/>
                      </a:pPr>
                      <a:r>
                        <a:rPr sz="1725" b="1">
                          <a:solidFill>
                            <a:srgbClr val="FFFFFF"/>
                          </a:solidFill>
                          <a:latin typeface="Meiryo UI"/>
                          <a:ea typeface="Meiryo UI"/>
                          <a:cs typeface="Meiryo UI"/>
                        </a:rPr>
                        <a:t>RFC違反の判定</a:t>
                      </a:r>
                    </a:p>
                  </a:txBody>
                  <a:tcPr marL="91440" marR="91440" marT="45720" marB="45720" anchor="ctr">
                    <a:lnR w="6668">
                      <a:solidFill>
                        <a:srgbClr val="D7E0E8"/>
                      </a:solidFill>
                      <a:prstDash val="solid"/>
                    </a:lnR>
                    <a:lnT w="6668">
                      <a:solidFill>
                        <a:srgbClr val="D7E0E8"/>
                      </a:solidFill>
                      <a:prstDash val="solid"/>
                    </a:lnT>
                    <a:lnB w="6668">
                      <a:solidFill>
                        <a:srgbClr val="D7E0E8"/>
                      </a:solidFill>
                      <a:prstDash val="solid"/>
                    </a:lnB>
                    <a:solidFill>
                      <a:srgbClr val="152D48"/>
                    </a:solidFill>
                  </a:tcPr>
                </a:tc>
                <a:tc>
                  <a:txBody>
                    <a:bodyPr wrap="square" lIns="114300" tIns="85725" rIns="114300" bIns="85725">
                      <a:noAutofit/>
                    </a:bodyPr>
                    <a:lstStyle/>
                    <a:p>
                      <a:pPr>
                        <a:lnSpc>
                          <a:spcPct val="105000"/>
                        </a:lnSpc>
                        <a:buNone/>
                      </a:pPr>
                      <a:r>
                        <a:rPr sz="1725" b="1">
                          <a:solidFill>
                            <a:srgbClr val="FFFFFF"/>
                          </a:solidFill>
                          <a:latin typeface="Meiryo UI"/>
                          <a:ea typeface="Meiryo UI"/>
                          <a:cs typeface="Meiryo UI"/>
                        </a:rPr>
                        <a:t>確認した条件と判定理由</a:t>
                      </a:r>
                    </a:p>
                  </a:txBody>
                  <a:tcPr marL="91440" marR="91440" marT="45720" marB="45720" anchor="ctr">
                    <a:lnR w="6668">
                      <a:solidFill>
                        <a:srgbClr val="D7E0E8"/>
                      </a:solidFill>
                      <a:prstDash val="solid"/>
                    </a:lnR>
                    <a:lnT w="6668">
                      <a:solidFill>
                        <a:srgbClr val="D7E0E8"/>
                      </a:solidFill>
                      <a:prstDash val="solid"/>
                    </a:lnT>
                    <a:lnB w="6668">
                      <a:solidFill>
                        <a:srgbClr val="D7E0E8"/>
                      </a:solidFill>
                      <a:prstDash val="solid"/>
                    </a:lnB>
                    <a:solidFill>
                      <a:srgbClr val="152D48"/>
                    </a:solidFill>
                  </a:tcPr>
                </a:tc>
                <a:tc>
                  <a:txBody>
                    <a:bodyPr wrap="square" lIns="114300" tIns="85725" rIns="114300" bIns="85725">
                      <a:noAutofit/>
                    </a:bodyPr>
                    <a:lstStyle/>
                    <a:p>
                      <a:pPr>
                        <a:lnSpc>
                          <a:spcPct val="105000"/>
                        </a:lnSpc>
                        <a:buNone/>
                      </a:pPr>
                      <a:r>
                        <a:rPr sz="1725" b="1">
                          <a:solidFill>
                            <a:srgbClr val="FFFFFF"/>
                          </a:solidFill>
                          <a:latin typeface="Meiryo UI"/>
                          <a:ea typeface="Meiryo UI"/>
                          <a:cs typeface="Meiryo UI"/>
                        </a:rPr>
                        <a:t>根拠</a:t>
                      </a:r>
                    </a:p>
                  </a:txBody>
                  <a:tcPr marL="91440" marR="91440" marT="45720" marB="45720" anchor="ctr">
                    <a:lnR w="6668">
                      <a:solidFill>
                        <a:srgbClr val="D7E0E8"/>
                      </a:solidFill>
                      <a:prstDash val="solid"/>
                    </a:lnR>
                    <a:lnT w="6668">
                      <a:solidFill>
                        <a:srgbClr val="D7E0E8"/>
                      </a:solidFill>
                      <a:prstDash val="solid"/>
                    </a:lnT>
                    <a:lnB w="6668">
                      <a:solidFill>
                        <a:srgbClr val="D7E0E8"/>
                      </a:solidFill>
                      <a:prstDash val="solid"/>
                    </a:lnB>
                    <a:solidFill>
                      <a:srgbClr val="152D48"/>
                    </a:solidFill>
                  </a:tcPr>
                </a:tc>
              </a:tr>
              <a:tr h="1066800">
                <a:tc>
                  <a:txBody>
                    <a:bodyPr wrap="square" lIns="114300" tIns="95250" rIns="114300" bIns="95250">
                      <a:noAutofit/>
                    </a:bodyPr>
                    <a:lstStyle/>
                    <a:p>
                      <a:pPr>
                        <a:lnSpc>
                          <a:spcPct val="100000"/>
                        </a:lnSpc>
                        <a:buNone/>
                      </a:pPr>
                      <a:r>
                        <a:rPr sz="1725" b="1">
                          <a:solidFill>
                            <a:srgbClr val="152D48"/>
                          </a:solidFill>
                          <a:latin typeface="Meiryo UI"/>
                          <a:ea typeface="Meiryo UI"/>
                          <a:cs typeface="Meiryo UI"/>
                        </a:rPr>
                        <a:t>112</a:t>
                      </a:r>
                    </a:p>
                    <a:p>
                      <a:pPr>
                        <a:lnSpc>
                          <a:spcPct val="100000"/>
                        </a:lnSpc>
                        <a:buNone/>
                      </a:pPr>
                      <a:r>
                        <a:rPr sz="1725" b="1">
                          <a:solidFill>
                            <a:srgbClr val="152D48"/>
                          </a:solidFill>
                          <a:latin typeface="Meiryo UI"/>
                          <a:ea typeface="Meiryo UI"/>
                          <a:cs typeface="Meiryo UI"/>
                        </a:rPr>
                        <a:t>unrecognized_name</a:t>
                      </a:r>
                    </a:p>
                  </a:txBody>
                  <a:tcPr marL="91440" marR="91440" marT="45720" marB="45720" anchor="ctr">
                    <a:lnL w="6668">
                      <a:solidFill>
                        <a:srgbClr val="D7E0E8"/>
                      </a:solidFill>
                      <a:prstDash val="solid"/>
                    </a:lnL>
                    <a:lnR w="6668">
                      <a:solidFill>
                        <a:srgbClr val="D7E0E8"/>
                      </a:solidFill>
                      <a:prstDash val="solid"/>
                    </a:lnR>
                    <a:lnB w="6668">
                      <a:solidFill>
                        <a:srgbClr val="D7E0E8"/>
                      </a:solidFill>
                      <a:prstDash val="solid"/>
                    </a:lnB>
                    <a:solidFill>
                      <a:srgbClr val="FFFFFF"/>
                    </a:solidFill>
                  </a:tcPr>
                </a:tc>
                <a:tc>
                  <a:txBody>
                    <a:bodyPr wrap="square" lIns="114300" tIns="95250" rIns="114300" bIns="95250">
                      <a:noAutofit/>
                    </a:bodyPr>
                    <a:lstStyle/>
                    <a:p>
                      <a:pPr>
                        <a:lnSpc>
                          <a:spcPct val="108000"/>
                        </a:lnSpc>
                        <a:buNone/>
                      </a:pPr>
                      <a:r>
                        <a:rPr sz="1725" b="1">
                          <a:solidFill>
                            <a:srgbClr val="506579"/>
                          </a:solidFill>
                          <a:latin typeface="Meiryo UI"/>
                          <a:ea typeface="Meiryo UI"/>
                          <a:cs typeface="Meiryo UI"/>
                        </a:rPr>
                        <a:t>違反未確認</a:t>
                      </a:r>
                    </a:p>
                    <a:p>
                      <a:pPr>
                        <a:lnSpc>
                          <a:spcPct val="108000"/>
                        </a:lnSpc>
                        <a:buNone/>
                      </a:pPr>
                      <a:r>
                        <a:rPr sz="1725" b="1">
                          <a:solidFill>
                            <a:srgbClr val="506579"/>
                          </a:solidFill>
                          <a:latin typeface="Meiryo UI"/>
                          <a:ea typeface="Meiryo UI"/>
                          <a:cs typeface="Meiryo UI"/>
                        </a:rPr>
                        <a:t>確認した経路の範囲</a:t>
                      </a:r>
                    </a:p>
                  </a:txBody>
                  <a:tcPr marL="91440" marR="91440" marT="45720" marB="45720" anchor="ctr">
                    <a:lnR w="6668">
                      <a:solidFill>
                        <a:srgbClr val="D7E0E8"/>
                      </a:solidFill>
                      <a:prstDash val="solid"/>
                    </a:lnR>
                    <a:lnB w="6668">
                      <a:solidFill>
                        <a:srgbClr val="D7E0E8"/>
                      </a:solidFill>
                      <a:prstDash val="solid"/>
                    </a:lnB>
                    <a:solidFill>
                      <a:srgbClr val="FFFFFF"/>
                    </a:solidFill>
                  </a:tcPr>
                </a:tc>
                <a:tc>
                  <a:txBody>
                    <a:bodyPr wrap="square" lIns="114300" tIns="85725" rIns="114300" bIns="85725">
                      <a:noAutofit/>
                    </a:bodyPr>
                    <a:lstStyle/>
                    <a:p>
                      <a:pPr>
                        <a:lnSpc>
                          <a:spcPct val="105000"/>
                        </a:lnSpc>
                        <a:buNone/>
                      </a:pPr>
                      <a:r>
                        <a:rPr sz="1725" b="0">
                          <a:solidFill>
                            <a:srgbClr val="1B2E43"/>
                          </a:solidFill>
                          <a:latin typeface="Meiryo UI"/>
                          <a:ea typeface="Meiryo UI"/>
                          <a:cs typeface="Meiryo UI"/>
                        </a:rPr>
                        <a:t>設定されたSNIMatcherの不一致で112。</a:t>
                      </a:r>
                    </a:p>
                    <a:p>
                      <a:pPr>
                        <a:lnSpc>
                          <a:spcPct val="105000"/>
                        </a:lnSpc>
                        <a:buNone/>
                      </a:pPr>
                      <a:r>
                        <a:rPr sz="1725" b="0">
                          <a:solidFill>
                            <a:srgbClr val="1B2E43"/>
                          </a:solidFill>
                          <a:latin typeface="Meiryo UI"/>
                          <a:ea typeface="Meiryo UI"/>
                          <a:cs typeface="Meiryo UI"/>
                        </a:rPr>
                        <a:t>確認した経路はRFC条件と整合する。</a:t>
                      </a:r>
                    </a:p>
                  </a:txBody>
                  <a:tcPr marL="91440" marR="91440" marT="45720" marB="45720" anchor="ctr">
                    <a:lnR w="6668">
                      <a:solidFill>
                        <a:srgbClr val="D7E0E8"/>
                      </a:solidFill>
                      <a:prstDash val="solid"/>
                    </a:lnR>
                    <a:lnB w="6668">
                      <a:solidFill>
                        <a:srgbClr val="D7E0E8"/>
                      </a:solidFill>
                      <a:prstDash val="solid"/>
                    </a:lnB>
                    <a:solidFill>
                      <a:srgbClr val="FFFFFF"/>
                    </a:solidFill>
                  </a:tcPr>
                </a:tc>
                <a:tc>
                  <a:txBody>
                    <a:bodyPr wrap="square" lIns="95250" tIns="76200" rIns="95250" bIns="76200">
                      <a:noAutofit/>
                    </a:bodyPr>
                    <a:lstStyle/>
                    <a:p>
                      <a:r>
                        <a:rPr sz="1725" b="0" u="sng">
                          <a:solidFill>
                            <a:srgbClr val="176DA5"/>
                          </a:solidFill>
                          <a:latin typeface="Meiryo UI"/>
                          <a:ea typeface="Meiryo UI"/>
                          <a:cs typeface="Meiryo UI"/>
                          <a:hlinkClick xmlns:r="http://schemas.openxmlformats.org/officeDocument/2006/relationships" r:id="Rb3951f57f6a24c76"/>
                        </a:rPr>
                        <a:t>§6.2</a:t>
                      </a:r>
                    </a:p>
                    <a:p>
                      <a:r>
                        <a:rPr sz="1725" b="0" u="sng">
                          <a:solidFill>
                            <a:srgbClr val="176DA5"/>
                          </a:solidFill>
                          <a:latin typeface="Meiryo UI"/>
                          <a:ea typeface="Meiryo UI"/>
                          <a:cs typeface="Meiryo UI"/>
                          <a:hlinkClick xmlns:r="http://schemas.openxmlformats.org/officeDocument/2006/relationships" r:id="R1d3782b9201343a3"/>
                        </a:rPr>
                        <a:t>ソース</a:t>
                      </a:r>
                    </a:p>
                    <a:p>
                      <a:r>
                        <a:rPr sz="1725" b="0" u="sng">
                          <a:solidFill>
                            <a:srgbClr val="176DA5"/>
                          </a:solidFill>
                          <a:latin typeface="Meiryo UI"/>
                          <a:ea typeface="Meiryo UI"/>
                          <a:cs typeface="Meiryo UI"/>
                          <a:hlinkClick xmlns:r="http://schemas.openxmlformats.org/officeDocument/2006/relationships" r:id="R668e70ec71934bd4"/>
                        </a:rPr>
                        <a:t>定義</a:t>
                      </a:r>
                    </a:p>
                  </a:txBody>
                  <a:tcPr marL="91440" marR="91440" marT="45720" marB="45720" anchor="ctr">
                    <a:lnR w="6668">
                      <a:solidFill>
                        <a:srgbClr val="D7E0E8"/>
                      </a:solidFill>
                      <a:prstDash val="solid"/>
                    </a:lnR>
                    <a:lnB w="6668">
                      <a:solidFill>
                        <a:srgbClr val="D7E0E8"/>
                      </a:solidFill>
                      <a:prstDash val="solid"/>
                    </a:lnB>
                    <a:solidFill>
                      <a:srgbClr val="FFFFFF"/>
                    </a:solidFill>
                  </a:tcPr>
                </a:tc>
              </a:tr>
              <a:tr h="1066800">
                <a:tc>
                  <a:txBody>
                    <a:bodyPr wrap="square" lIns="114300" tIns="95250" rIns="114300" bIns="95250">
                      <a:noAutofit/>
                    </a:bodyPr>
                    <a:lstStyle/>
                    <a:p>
                      <a:pPr>
                        <a:lnSpc>
                          <a:spcPct val="100000"/>
                        </a:lnSpc>
                        <a:buNone/>
                      </a:pPr>
                      <a:r>
                        <a:rPr sz="1725" b="1">
                          <a:solidFill>
                            <a:srgbClr val="152D48"/>
                          </a:solidFill>
                          <a:latin typeface="Meiryo UI"/>
                          <a:ea typeface="Meiryo UI"/>
                          <a:cs typeface="Meiryo UI"/>
                        </a:rPr>
                        <a:t>113</a:t>
                      </a:r>
                    </a:p>
                    <a:p>
                      <a:pPr>
                        <a:lnSpc>
                          <a:spcPct val="100000"/>
                        </a:lnSpc>
                        <a:buNone/>
                      </a:pPr>
                      <a:r>
                        <a:rPr sz="1725" b="1">
                          <a:solidFill>
                            <a:srgbClr val="152D48"/>
                          </a:solidFill>
                          <a:latin typeface="Meiryo UI"/>
                          <a:ea typeface="Meiryo UI"/>
                          <a:cs typeface="Meiryo UI"/>
                        </a:rPr>
                        <a:t>bad_certificate_</a:t>
                      </a:r>
                    </a:p>
                    <a:p>
                      <a:pPr>
                        <a:lnSpc>
                          <a:spcPct val="100000"/>
                        </a:lnSpc>
                        <a:buNone/>
                      </a:pPr>
                      <a:r>
                        <a:rPr sz="1725" b="1">
                          <a:solidFill>
                            <a:srgbClr val="152D48"/>
                          </a:solidFill>
                          <a:latin typeface="Meiryo UI"/>
                          <a:ea typeface="Meiryo UI"/>
                          <a:cs typeface="Meiryo UI"/>
                        </a:rPr>
                        <a:t>status_response</a:t>
                      </a:r>
                    </a:p>
                  </a:txBody>
                  <a:tcPr marL="91440" marR="91440" marT="45720" marB="45720" anchor="ctr">
                    <a:lnL w="6668">
                      <a:solidFill>
                        <a:srgbClr val="D7E0E8"/>
                      </a:solidFill>
                      <a:prstDash val="solid"/>
                    </a:lnL>
                    <a:lnR w="6668">
                      <a:solidFill>
                        <a:srgbClr val="D7E0E8"/>
                      </a:solidFill>
                      <a:prstDash val="solid"/>
                    </a:lnR>
                    <a:lnB w="6668">
                      <a:solidFill>
                        <a:srgbClr val="D7E0E8"/>
                      </a:solidFill>
                      <a:prstDash val="solid"/>
                    </a:lnB>
                    <a:solidFill>
                      <a:srgbClr val="F4F7FA"/>
                    </a:solidFill>
                  </a:tcPr>
                </a:tc>
                <a:tc>
                  <a:txBody>
                    <a:bodyPr wrap="square" lIns="114300" tIns="95250" rIns="114300" bIns="95250">
                      <a:noAutofit/>
                    </a:bodyPr>
                    <a:lstStyle/>
                    <a:p>
                      <a:pPr>
                        <a:lnSpc>
                          <a:spcPct val="108000"/>
                        </a:lnSpc>
                        <a:buNone/>
                      </a:pPr>
                      <a:r>
                        <a:rPr sz="1725" b="1">
                          <a:solidFill>
                            <a:srgbClr val="93641B"/>
                          </a:solidFill>
                          <a:latin typeface="Meiryo UI"/>
                          <a:ea typeface="Meiryo UI"/>
                          <a:cs typeface="Meiryo UI"/>
                        </a:rPr>
                        <a:t>断定保留</a:t>
                      </a:r>
                    </a:p>
                    <a:p>
                      <a:pPr>
                        <a:lnSpc>
                          <a:spcPct val="108000"/>
                        </a:lnSpc>
                        <a:buNone/>
                      </a:pPr>
                      <a:r>
                        <a:rPr sz="1725" b="1">
                          <a:solidFill>
                            <a:srgbClr val="93641B"/>
                          </a:solidFill>
                          <a:latin typeface="Meiryo UI"/>
                          <a:ea typeface="Meiryo UI"/>
                          <a:cs typeface="Meiryo UI"/>
                        </a:rPr>
                        <a:t>SHOULDとの差</a:t>
                      </a:r>
                    </a:p>
                  </a:txBody>
                  <a:tcPr marL="91440" marR="91440" marT="45720" marB="45720" anchor="ctr">
                    <a:lnR w="6668">
                      <a:solidFill>
                        <a:srgbClr val="D7E0E8"/>
                      </a:solidFill>
                      <a:prstDash val="solid"/>
                    </a:lnR>
                    <a:lnB w="6668">
                      <a:solidFill>
                        <a:srgbClr val="D7E0E8"/>
                      </a:solidFill>
                      <a:prstDash val="solid"/>
                    </a:lnB>
                    <a:solidFill>
                      <a:srgbClr val="F4F7FA"/>
                    </a:solidFill>
                  </a:tcPr>
                </a:tc>
                <a:tc>
                  <a:txBody>
                    <a:bodyPr wrap="square" lIns="114300" tIns="85725" rIns="114300" bIns="85725">
                      <a:noAutofit/>
                    </a:bodyPr>
                    <a:lstStyle/>
                    <a:p>
                      <a:pPr>
                        <a:lnSpc>
                          <a:spcPct val="105000"/>
                        </a:lnSpc>
                        <a:buNone/>
                      </a:pPr>
                      <a:r>
                        <a:rPr sz="1725" b="0">
                          <a:solidFill>
                            <a:srgbClr val="1B2E43"/>
                          </a:solidFill>
                          <a:latin typeface="Meiryo UI"/>
                          <a:ea typeface="Meiryo UI"/>
                          <a:cs typeface="Meiryo UI"/>
                        </a:rPr>
                        <a:t>サーバーの応答生成失敗にも113を使用。</a:t>
                      </a:r>
                    </a:p>
                    <a:p>
                      <a:pPr>
                        <a:lnSpc>
                          <a:spcPct val="105000"/>
                        </a:lnSpc>
                        <a:buNone/>
                      </a:pPr>
                      <a:r>
                        <a:rPr sz="1725" b="0">
                          <a:solidFill>
                            <a:srgbClr val="1B2E43"/>
                          </a:solidFill>
                          <a:latin typeface="Meiryo UI"/>
                          <a:ea typeface="Meiryo UI"/>
                          <a:cs typeface="Meiryo UI"/>
                        </a:rPr>
                        <a:t>受信OCSPをクライアントが拒否する</a:t>
                      </a:r>
                    </a:p>
                    <a:p>
                      <a:pPr>
                        <a:lnSpc>
                          <a:spcPct val="105000"/>
                        </a:lnSpc>
                        <a:buNone/>
                      </a:pPr>
                      <a:r>
                        <a:rPr sz="1725" b="0">
                          <a:solidFill>
                            <a:srgbClr val="1B2E43"/>
                          </a:solidFill>
                          <a:latin typeface="Meiryo UI"/>
                          <a:ea typeface="Meiryo UI"/>
                          <a:cs typeface="Meiryo UI"/>
                        </a:rPr>
                        <a:t>RFC §6.2の条件・役割と異なる。</a:t>
                      </a:r>
                    </a:p>
                  </a:txBody>
                  <a:tcPr marL="91440" marR="91440" marT="45720" marB="45720" anchor="ctr">
                    <a:lnR w="6668">
                      <a:solidFill>
                        <a:srgbClr val="D7E0E8"/>
                      </a:solidFill>
                      <a:prstDash val="solid"/>
                    </a:lnR>
                    <a:lnB w="6668">
                      <a:solidFill>
                        <a:srgbClr val="D7E0E8"/>
                      </a:solidFill>
                      <a:prstDash val="solid"/>
                    </a:lnB>
                    <a:solidFill>
                      <a:srgbClr val="F4F7FA"/>
                    </a:solidFill>
                  </a:tcPr>
                </a:tc>
                <a:tc>
                  <a:txBody>
                    <a:bodyPr wrap="square" lIns="95250" tIns="76200" rIns="95250" bIns="76200">
                      <a:noAutofit/>
                    </a:bodyPr>
                    <a:lstStyle/>
                    <a:p>
                      <a:r>
                        <a:rPr sz="1725" b="0" u="sng">
                          <a:solidFill>
                            <a:srgbClr val="176DA5"/>
                          </a:solidFill>
                          <a:latin typeface="Meiryo UI"/>
                          <a:ea typeface="Meiryo UI"/>
                          <a:cs typeface="Meiryo UI"/>
                          <a:hlinkClick xmlns:r="http://schemas.openxmlformats.org/officeDocument/2006/relationships" r:id="R7bfecb54f9064b64"/>
                        </a:rPr>
                        <a:t>§6.2</a:t>
                      </a:r>
                    </a:p>
                    <a:p>
                      <a:r>
                        <a:rPr sz="1725" b="0" u="sng">
                          <a:solidFill>
                            <a:srgbClr val="176DA5"/>
                          </a:solidFill>
                          <a:latin typeface="Meiryo UI"/>
                          <a:ea typeface="Meiryo UI"/>
                          <a:cs typeface="Meiryo UI"/>
                          <a:hlinkClick xmlns:r="http://schemas.openxmlformats.org/officeDocument/2006/relationships" r:id="Rfebc63f962c64de0"/>
                        </a:rPr>
                        <a:t>ソース</a:t>
                      </a:r>
                    </a:p>
                    <a:p>
                      <a:r>
                        <a:rPr sz="1725" b="0" u="sng">
                          <a:solidFill>
                            <a:srgbClr val="176DA5"/>
                          </a:solidFill>
                          <a:latin typeface="Meiryo UI"/>
                          <a:ea typeface="Meiryo UI"/>
                          <a:cs typeface="Meiryo UI"/>
                          <a:hlinkClick xmlns:r="http://schemas.openxmlformats.org/officeDocument/2006/relationships" r:id="Raadf9bbcd2a54d97"/>
                        </a:rPr>
                        <a:t>定義</a:t>
                      </a:r>
                    </a:p>
                  </a:txBody>
                  <a:tcPr marL="91440" marR="91440" marT="45720" marB="45720" anchor="ctr">
                    <a:lnR w="6668">
                      <a:solidFill>
                        <a:srgbClr val="D7E0E8"/>
                      </a:solidFill>
                      <a:prstDash val="solid"/>
                    </a:lnR>
                    <a:lnB w="6668">
                      <a:solidFill>
                        <a:srgbClr val="D7E0E8"/>
                      </a:solidFill>
                      <a:prstDash val="solid"/>
                    </a:lnB>
                    <a:solidFill>
                      <a:srgbClr val="F4F7FA"/>
                    </a:solidFill>
                  </a:tcPr>
                </a:tc>
              </a:tr>
              <a:tr h="1066800">
                <a:tc>
                  <a:txBody>
                    <a:bodyPr wrap="square" lIns="114300" tIns="95250" rIns="114300" bIns="95250">
                      <a:noAutofit/>
                    </a:bodyPr>
                    <a:lstStyle/>
                    <a:p>
                      <a:pPr>
                        <a:lnSpc>
                          <a:spcPct val="100000"/>
                        </a:lnSpc>
                        <a:buNone/>
                      </a:pPr>
                      <a:r>
                        <a:rPr sz="1725" b="1">
                          <a:solidFill>
                            <a:srgbClr val="152D48"/>
                          </a:solidFill>
                          <a:latin typeface="Meiryo UI"/>
                          <a:ea typeface="Meiryo UI"/>
                          <a:cs typeface="Meiryo UI"/>
                        </a:rPr>
                        <a:t>115</a:t>
                      </a:r>
                    </a:p>
                    <a:p>
                      <a:pPr>
                        <a:lnSpc>
                          <a:spcPct val="100000"/>
                        </a:lnSpc>
                        <a:buNone/>
                      </a:pPr>
                      <a:r>
                        <a:rPr sz="1725" b="1">
                          <a:solidFill>
                            <a:srgbClr val="152D48"/>
                          </a:solidFill>
                          <a:latin typeface="Meiryo UI"/>
                          <a:ea typeface="Meiryo UI"/>
                          <a:cs typeface="Meiryo UI"/>
                        </a:rPr>
                        <a:t>unknown_psk_</a:t>
                      </a:r>
                    </a:p>
                    <a:p>
                      <a:pPr>
                        <a:lnSpc>
                          <a:spcPct val="100000"/>
                        </a:lnSpc>
                        <a:buNone/>
                      </a:pPr>
                      <a:r>
                        <a:rPr sz="1725" b="1">
                          <a:solidFill>
                            <a:srgbClr val="152D48"/>
                          </a:solidFill>
                          <a:latin typeface="Meiryo UI"/>
                          <a:ea typeface="Meiryo UI"/>
                          <a:cs typeface="Meiryo UI"/>
                        </a:rPr>
                        <a:t>identity</a:t>
                      </a:r>
                    </a:p>
                  </a:txBody>
                  <a:tcPr marL="91440" marR="91440" marT="45720" marB="45720" anchor="ctr">
                    <a:lnL w="6668">
                      <a:solidFill>
                        <a:srgbClr val="D7E0E8"/>
                      </a:solidFill>
                      <a:prstDash val="solid"/>
                    </a:lnL>
                    <a:lnR w="6668">
                      <a:solidFill>
                        <a:srgbClr val="D7E0E8"/>
                      </a:solidFill>
                      <a:prstDash val="solid"/>
                    </a:lnR>
                    <a:lnB w="6668">
                      <a:solidFill>
                        <a:srgbClr val="D7E0E8"/>
                      </a:solidFill>
                      <a:prstDash val="solid"/>
                    </a:lnB>
                    <a:solidFill>
                      <a:srgbClr val="FFFFFF"/>
                    </a:solidFill>
                  </a:tcPr>
                </a:tc>
                <a:tc>
                  <a:txBody>
                    <a:bodyPr wrap="square" lIns="114300" tIns="95250" rIns="114300" bIns="95250">
                      <a:noAutofit/>
                    </a:bodyPr>
                    <a:lstStyle/>
                    <a:p>
                      <a:pPr>
                        <a:lnSpc>
                          <a:spcPct val="108000"/>
                        </a:lnSpc>
                        <a:buNone/>
                      </a:pPr>
                      <a:r>
                        <a:rPr sz="1725" b="1">
                          <a:solidFill>
                            <a:srgbClr val="24665D"/>
                          </a:solidFill>
                          <a:latin typeface="Meiryo UI"/>
                          <a:ea typeface="Meiryo UI"/>
                          <a:cs typeface="Meiryo UI"/>
                        </a:rPr>
                        <a:t>省略は違反でない</a:t>
                      </a:r>
                    </a:p>
                    <a:p>
                      <a:pPr>
                        <a:lnSpc>
                          <a:spcPct val="108000"/>
                        </a:lnSpc>
                        <a:buNone/>
                      </a:pPr>
                      <a:r>
                        <a:rPr sz="1725" b="1">
                          <a:solidFill>
                            <a:srgbClr val="24665D"/>
                          </a:solidFill>
                          <a:latin typeface="Meiryo UI"/>
                          <a:ea typeface="Meiryo UI"/>
                          <a:cs typeface="Meiryo UI"/>
                        </a:rPr>
                        <a:t>OPTIONAL</a:t>
                      </a:r>
                    </a:p>
                  </a:txBody>
                  <a:tcPr marL="91440" marR="91440" marT="45720" marB="45720" anchor="ctr">
                    <a:lnR w="6668">
                      <a:solidFill>
                        <a:srgbClr val="D7E0E8"/>
                      </a:solidFill>
                      <a:prstDash val="solid"/>
                    </a:lnR>
                    <a:lnB w="6668">
                      <a:solidFill>
                        <a:srgbClr val="D7E0E8"/>
                      </a:solidFill>
                      <a:prstDash val="solid"/>
                    </a:lnB>
                    <a:solidFill>
                      <a:srgbClr val="FFFFFF"/>
                    </a:solidFill>
                  </a:tcPr>
                </a:tc>
                <a:tc>
                  <a:txBody>
                    <a:bodyPr wrap="square" lIns="114300" tIns="85725" rIns="114300" bIns="85725">
                      <a:noAutofit/>
                    </a:bodyPr>
                    <a:lstStyle/>
                    <a:p>
                      <a:pPr>
                        <a:lnSpc>
                          <a:spcPct val="105000"/>
                        </a:lnSpc>
                        <a:buNone/>
                      </a:pPr>
                      <a:r>
                        <a:rPr sz="1725" b="0">
                          <a:solidFill>
                            <a:srgbClr val="1B2E43"/>
                          </a:solidFill>
                          <a:latin typeface="Meiryo UI"/>
                          <a:ea typeface="Meiryo UI"/>
                          <a:cs typeface="Meiryo UI"/>
                        </a:rPr>
                        <a:t>RFC §6.2は115の送信をOPTIONALと</a:t>
                      </a:r>
                    </a:p>
                    <a:p>
                      <a:pPr>
                        <a:lnSpc>
                          <a:spcPct val="105000"/>
                        </a:lnSpc>
                        <a:buNone/>
                      </a:pPr>
                      <a:r>
                        <a:rPr sz="1725" b="0">
                          <a:solidFill>
                            <a:srgbClr val="1B2E43"/>
                          </a:solidFill>
                          <a:latin typeface="Meiryo UI"/>
                          <a:ea typeface="Meiryo UI"/>
                          <a:cs typeface="Meiryo UI"/>
                        </a:rPr>
                        <a:t>明記しているため、省略自体は違反でない。</a:t>
                      </a:r>
                    </a:p>
                    <a:p>
                      <a:pPr>
                        <a:lnSpc>
                          <a:spcPct val="105000"/>
                        </a:lnSpc>
                        <a:buNone/>
                      </a:pPr>
                      <a:r>
                        <a:rPr sz="1725" b="0">
                          <a:solidFill>
                            <a:srgbClr val="1B2E43"/>
                          </a:solidFill>
                          <a:latin typeface="Meiryo UI"/>
                          <a:ea typeface="Meiryo UI"/>
                          <a:cs typeface="Meiryo UI"/>
                        </a:rPr>
                        <a:t>既知PSKのbinder不正とは別問題。</a:t>
                      </a:r>
                    </a:p>
                  </a:txBody>
                  <a:tcPr marL="91440" marR="91440" marT="45720" marB="45720" anchor="ctr">
                    <a:lnR w="6668">
                      <a:solidFill>
                        <a:srgbClr val="D7E0E8"/>
                      </a:solidFill>
                      <a:prstDash val="solid"/>
                    </a:lnR>
                    <a:lnB w="6668">
                      <a:solidFill>
                        <a:srgbClr val="D7E0E8"/>
                      </a:solidFill>
                      <a:prstDash val="solid"/>
                    </a:lnB>
                    <a:solidFill>
                      <a:srgbClr val="FFFFFF"/>
                    </a:solidFill>
                  </a:tcPr>
                </a:tc>
                <a:tc>
                  <a:txBody>
                    <a:bodyPr wrap="square" lIns="95250" tIns="76200" rIns="95250" bIns="76200">
                      <a:noAutofit/>
                    </a:bodyPr>
                    <a:lstStyle/>
                    <a:p>
                      <a:r>
                        <a:rPr sz="1725" b="0" u="sng">
                          <a:solidFill>
                            <a:srgbClr val="176DA5"/>
                          </a:solidFill>
                          <a:latin typeface="Meiryo UI"/>
                          <a:ea typeface="Meiryo UI"/>
                          <a:cs typeface="Meiryo UI"/>
                          <a:hlinkClick xmlns:r="http://schemas.openxmlformats.org/officeDocument/2006/relationships" r:id="Reefe03277f564be6"/>
                        </a:rPr>
                        <a:t>§6.2</a:t>
                      </a:r>
                    </a:p>
                    <a:p>
                      <a:r>
                        <a:rPr sz="1725" b="0" u="sng">
                          <a:solidFill>
                            <a:srgbClr val="176DA5"/>
                          </a:solidFill>
                          <a:latin typeface="Meiryo UI"/>
                          <a:ea typeface="Meiryo UI"/>
                          <a:cs typeface="Meiryo UI"/>
                          <a:hlinkClick xmlns:r="http://schemas.openxmlformats.org/officeDocument/2006/relationships" r:id="R14edaf440e4f4d33"/>
                        </a:rPr>
                        <a:t>ソース</a:t>
                      </a:r>
                    </a:p>
                    <a:p>
                      <a:r>
                        <a:rPr sz="1725" b="0" u="sng">
                          <a:solidFill>
                            <a:srgbClr val="176DA5"/>
                          </a:solidFill>
                          <a:latin typeface="Meiryo UI"/>
                          <a:ea typeface="Meiryo UI"/>
                          <a:cs typeface="Meiryo UI"/>
                          <a:hlinkClick xmlns:r="http://schemas.openxmlformats.org/officeDocument/2006/relationships" r:id="Ra26ec5b8b897488c"/>
                        </a:rPr>
                        <a:t>定義</a:t>
                      </a:r>
                    </a:p>
                  </a:txBody>
                  <a:tcPr marL="91440" marR="91440" marT="45720" marB="45720" anchor="ctr">
                    <a:lnR w="6668">
                      <a:solidFill>
                        <a:srgbClr val="D7E0E8"/>
                      </a:solidFill>
                      <a:prstDash val="solid"/>
                    </a:lnR>
                    <a:lnB w="6668">
                      <a:solidFill>
                        <a:srgbClr val="D7E0E8"/>
                      </a:solidFill>
                      <a:prstDash val="solid"/>
                    </a:lnB>
                    <a:solidFill>
                      <a:srgbClr val="FFFFFF"/>
                    </a:solidFill>
                  </a:tcPr>
                </a:tc>
              </a:tr>
              <a:tr h="1066800">
                <a:tc>
                  <a:txBody>
                    <a:bodyPr wrap="square" lIns="114300" tIns="95250" rIns="114300" bIns="95250">
                      <a:noAutofit/>
                    </a:bodyPr>
                    <a:lstStyle/>
                    <a:p>
                      <a:pPr>
                        <a:lnSpc>
                          <a:spcPct val="100000"/>
                        </a:lnSpc>
                        <a:buNone/>
                      </a:pPr>
                      <a:r>
                        <a:rPr sz="1725" b="1">
                          <a:solidFill>
                            <a:srgbClr val="152D48"/>
                          </a:solidFill>
                          <a:latin typeface="Meiryo UI"/>
                          <a:ea typeface="Meiryo UI"/>
                          <a:cs typeface="Meiryo UI"/>
                        </a:rPr>
                        <a:t>116</a:t>
                      </a:r>
                    </a:p>
                    <a:p>
                      <a:pPr>
                        <a:lnSpc>
                          <a:spcPct val="100000"/>
                        </a:lnSpc>
                        <a:buNone/>
                      </a:pPr>
                      <a:r>
                        <a:rPr sz="1725" b="1">
                          <a:solidFill>
                            <a:srgbClr val="152D48"/>
                          </a:solidFill>
                          <a:latin typeface="Meiryo UI"/>
                          <a:ea typeface="Meiryo UI"/>
                          <a:cs typeface="Meiryo UI"/>
                        </a:rPr>
                        <a:t>certificate_</a:t>
                      </a:r>
                    </a:p>
                    <a:p>
                      <a:pPr>
                        <a:lnSpc>
                          <a:spcPct val="100000"/>
                        </a:lnSpc>
                        <a:buNone/>
                      </a:pPr>
                      <a:r>
                        <a:rPr sz="1725" b="1">
                          <a:solidFill>
                            <a:srgbClr val="152D48"/>
                          </a:solidFill>
                          <a:latin typeface="Meiryo UI"/>
                          <a:ea typeface="Meiryo UI"/>
                          <a:cs typeface="Meiryo UI"/>
                        </a:rPr>
                        <a:t>required</a:t>
                      </a:r>
                    </a:p>
                  </a:txBody>
                  <a:tcPr marL="91440" marR="91440" marT="45720" marB="45720" anchor="ctr">
                    <a:lnL w="6668">
                      <a:solidFill>
                        <a:srgbClr val="D7E0E8"/>
                      </a:solidFill>
                      <a:prstDash val="solid"/>
                    </a:lnL>
                    <a:lnR w="6668">
                      <a:solidFill>
                        <a:srgbClr val="D7E0E8"/>
                      </a:solidFill>
                      <a:prstDash val="solid"/>
                    </a:lnR>
                    <a:lnB w="6668">
                      <a:solidFill>
                        <a:srgbClr val="D7E0E8"/>
                      </a:solidFill>
                      <a:prstDash val="solid"/>
                    </a:lnB>
                    <a:solidFill>
                      <a:srgbClr val="F4F7FA"/>
                    </a:solidFill>
                  </a:tcPr>
                </a:tc>
                <a:tc>
                  <a:txBody>
                    <a:bodyPr wrap="square" lIns="114300" tIns="95250" rIns="114300" bIns="95250">
                      <a:noAutofit/>
                    </a:bodyPr>
                    <a:lstStyle/>
                    <a:p>
                      <a:pPr>
                        <a:lnSpc>
                          <a:spcPct val="108000"/>
                        </a:lnSpc>
                        <a:buNone/>
                      </a:pPr>
                      <a:r>
                        <a:rPr sz="1725" b="1">
                          <a:solidFill>
                            <a:srgbClr val="506579"/>
                          </a:solidFill>
                          <a:latin typeface="Meiryo UI"/>
                          <a:ea typeface="Meiryo UI"/>
                          <a:cs typeface="Meiryo UI"/>
                        </a:rPr>
                        <a:t>違反未確認</a:t>
                      </a:r>
                    </a:p>
                    <a:p>
                      <a:pPr>
                        <a:lnSpc>
                          <a:spcPct val="108000"/>
                        </a:lnSpc>
                        <a:buNone/>
                      </a:pPr>
                      <a:r>
                        <a:rPr sz="1725" b="1">
                          <a:solidFill>
                            <a:srgbClr val="506579"/>
                          </a:solidFill>
                          <a:latin typeface="Meiryo UI"/>
                          <a:ea typeface="Meiryo UI"/>
                          <a:cs typeface="Meiryo UI"/>
                        </a:rPr>
                        <a:t>確認した経路の範囲</a:t>
                      </a:r>
                    </a:p>
                  </a:txBody>
                  <a:tcPr marL="91440" marR="91440" marT="45720" marB="45720" anchor="ctr">
                    <a:lnR w="6668">
                      <a:solidFill>
                        <a:srgbClr val="D7E0E8"/>
                      </a:solidFill>
                      <a:prstDash val="solid"/>
                    </a:lnR>
                    <a:lnB w="6668">
                      <a:solidFill>
                        <a:srgbClr val="D7E0E8"/>
                      </a:solidFill>
                      <a:prstDash val="solid"/>
                    </a:lnB>
                    <a:solidFill>
                      <a:srgbClr val="F4F7FA"/>
                    </a:solidFill>
                  </a:tcPr>
                </a:tc>
                <a:tc>
                  <a:txBody>
                    <a:bodyPr wrap="square" lIns="114300" tIns="85725" rIns="114300" bIns="85725">
                      <a:noAutofit/>
                    </a:bodyPr>
                    <a:lstStyle/>
                    <a:p>
                      <a:pPr>
                        <a:lnSpc>
                          <a:spcPct val="105000"/>
                        </a:lnSpc>
                        <a:buNone/>
                      </a:pPr>
                      <a:r>
                        <a:rPr sz="1725" b="0">
                          <a:solidFill>
                            <a:srgbClr val="1B2E43"/>
                          </a:solidFill>
                          <a:latin typeface="Meiryo UI"/>
                          <a:ea typeface="Meiryo UI"/>
                          <a:cs typeface="Meiryo UI"/>
                        </a:rPr>
                        <a:t>21.0.12は空のクライアント証明書を</a:t>
                      </a:r>
                    </a:p>
                    <a:p>
                      <a:pPr>
                        <a:lnSpc>
                          <a:spcPct val="105000"/>
                        </a:lnSpc>
                        <a:buNone/>
                      </a:pPr>
                      <a:r>
                        <a:rPr sz="1725" b="0">
                          <a:solidFill>
                            <a:srgbClr val="1B2E43"/>
                          </a:solidFill>
                          <a:latin typeface="Meiryo UI"/>
                          <a:ea typeface="Meiryo UI"/>
                          <a:cs typeface="Meiryo UI"/>
                        </a:rPr>
                        <a:t>認証必須設定で拒否すると116で整合。</a:t>
                      </a:r>
                    </a:p>
                    <a:p>
                      <a:pPr>
                        <a:lnSpc>
                          <a:spcPct val="105000"/>
                        </a:lnSpc>
                        <a:buNone/>
                      </a:pPr>
                      <a:r>
                        <a:rPr sz="1725" b="0">
                          <a:solidFill>
                            <a:srgbClr val="1B2E43"/>
                          </a:solidFill>
                          <a:latin typeface="Meiryo UI"/>
                          <a:ea typeface="Meiryo UI"/>
                          <a:cs typeface="Meiryo UI"/>
                        </a:rPr>
                        <a:t>21 GAの同じ分岐の42は違反。</a:t>
                      </a:r>
                    </a:p>
                  </a:txBody>
                  <a:tcPr marL="91440" marR="91440" marT="45720" marB="45720" anchor="ctr">
                    <a:lnR w="6668">
                      <a:solidFill>
                        <a:srgbClr val="D7E0E8"/>
                      </a:solidFill>
                      <a:prstDash val="solid"/>
                    </a:lnR>
                    <a:lnB w="6668">
                      <a:solidFill>
                        <a:srgbClr val="D7E0E8"/>
                      </a:solidFill>
                      <a:prstDash val="solid"/>
                    </a:lnB>
                    <a:solidFill>
                      <a:srgbClr val="F4F7FA"/>
                    </a:solidFill>
                  </a:tcPr>
                </a:tc>
                <a:tc>
                  <a:txBody>
                    <a:bodyPr wrap="square" lIns="95250" tIns="76200" rIns="95250" bIns="76200">
                      <a:noAutofit/>
                    </a:bodyPr>
                    <a:lstStyle/>
                    <a:p>
                      <a:r>
                        <a:rPr sz="1725" b="0" u="sng">
                          <a:solidFill>
                            <a:srgbClr val="176DA5"/>
                          </a:solidFill>
                          <a:latin typeface="Meiryo UI"/>
                          <a:ea typeface="Meiryo UI"/>
                          <a:cs typeface="Meiryo UI"/>
                          <a:hlinkClick xmlns:r="http://schemas.openxmlformats.org/officeDocument/2006/relationships" r:id="R56a7c5b5304e4050"/>
                        </a:rPr>
                        <a:t>§4.5.1.3</a:t>
                      </a:r>
                    </a:p>
                    <a:p>
                      <a:r>
                        <a:rPr sz="1725" b="0" u="sng">
                          <a:solidFill>
                            <a:srgbClr val="176DA5"/>
                          </a:solidFill>
                          <a:latin typeface="Meiryo UI"/>
                          <a:ea typeface="Meiryo UI"/>
                          <a:cs typeface="Meiryo UI"/>
                          <a:hlinkClick xmlns:r="http://schemas.openxmlformats.org/officeDocument/2006/relationships" r:id="Ra157ff2135f348d7"/>
                        </a:rPr>
                        <a:t>ソース</a:t>
                      </a:r>
                    </a:p>
                    <a:p>
                      <a:r>
                        <a:rPr sz="1725" b="0" u="sng">
                          <a:solidFill>
                            <a:srgbClr val="176DA5"/>
                          </a:solidFill>
                          <a:latin typeface="Meiryo UI"/>
                          <a:ea typeface="Meiryo UI"/>
                          <a:cs typeface="Meiryo UI"/>
                          <a:hlinkClick xmlns:r="http://schemas.openxmlformats.org/officeDocument/2006/relationships" r:id="R21b0f9a29f554408"/>
                        </a:rPr>
                        <a:t>定義</a:t>
                      </a:r>
                    </a:p>
                  </a:txBody>
                  <a:tcPr marL="91440" marR="91440" marT="45720" marB="45720" anchor="ctr">
                    <a:lnR w="6668">
                      <a:solidFill>
                        <a:srgbClr val="D7E0E8"/>
                      </a:solidFill>
                      <a:prstDash val="solid"/>
                    </a:lnR>
                    <a:lnB w="6668">
                      <a:solidFill>
                        <a:srgbClr val="D7E0E8"/>
                      </a:solidFill>
                      <a:prstDash val="solid"/>
                    </a:lnB>
                    <a:solidFill>
                      <a:srgbClr val="F4F7FA"/>
                    </a:solidFill>
                  </a:tcPr>
                </a:tc>
              </a:tr>
            </a:tbl>
          </a:graphicData>
        </a:graphic>
      </p:graphicFrame>
      <p:sp>
        <p:nvSpPr>
          <p:cNvPr id="5" name="text-4">
            <a:extLst xmlns:a="http://schemas.openxmlformats.org/drawingml/2006/main">
              <a:ext uri="{FF2B5EF4-FFF2-40B4-BE49-F238E27FC236}">
                <a16:creationId xmlns:a16="http://schemas.microsoft.com/office/drawing/2014/main" id="{4CF7FB22-AC1D-404B-86CB-64713B32B5FF}"/>
              </a:ext>
            </a:extLst>
          </p:cNvPr>
          <p:cNvSpPr>
            <a:spLocks xmlns:a="http://schemas.openxmlformats.org/drawingml/2006/main" noGrp="1"/>
          </p:cNvSpPr>
          <p:nvPr/>
        </p:nvSpPr>
        <p:spPr>
          <a:xfrm xmlns:a="http://schemas.openxmlformats.org/drawingml/2006/main">
            <a:off x="609600" y="63722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06579"/>
                </a:solidFill>
                <a:latin typeface="Meiryo UI"/>
                <a:ea typeface="Meiryo UI"/>
                <a:cs typeface="Meiryo UI"/>
              </a:defRPr>
            </a:defPPr>
          </a:lstStyle>
          <a:p xmlns:a="http://schemas.openxmlformats.org/drawingml/2006/main">
            <a:pPr>
              <a:lnSpc>
                <a:spcPct val="110000"/>
              </a:lnSpc>
              <a:buNone/>
              <a:defRPr sz="1425" b="0">
                <a:solidFill>
                  <a:srgbClr val="506579"/>
                </a:solidFill>
                <a:latin typeface="Meiryo UI"/>
                <a:ea typeface="Meiryo UI"/>
                <a:cs typeface="Meiryo UI"/>
              </a:defRPr>
            </a:pPr>
            <a:r>
              <a:rPr sz="1425" b="0">
                <a:solidFill>
                  <a:srgbClr val="506579"/>
                </a:solidFill>
                <a:latin typeface="Meiryo UI"/>
                <a:ea typeface="Meiryo UI"/>
                <a:cs typeface="Meiryo UI"/>
              </a:rPr>
              <a:t>静的調査。違反未確認は、全条件での適合認定を意味しない。</a:t>
            </a:r>
          </a:p>
        </p:txBody>
      </p:sp>
    </p:spTree>
    <p:extLst>
      <p:ext uri="{BB962C8B-B14F-4D97-AF65-F5344CB8AC3E}">
        <p14:creationId xmlns:p14="http://schemas.microsoft.com/office/powerpoint/2010/main" val="193253515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1">
            <a:extLst xmlns:a="http://schemas.openxmlformats.org/drawingml/2006/main">
              <a:ext uri="{FF2B5EF4-FFF2-40B4-BE49-F238E27FC236}">
                <a16:creationId xmlns:a16="http://schemas.microsoft.com/office/drawing/2014/main" id="{C56CE4BB-05FA-45F4-8F2F-71B778C81AAB}"/>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D48"/>
                </a:solidFill>
                <a:latin typeface="Meiryo UI"/>
                <a:ea typeface="Meiryo UI"/>
                <a:cs typeface="Meiryo UI"/>
              </a:defRPr>
            </a:defPPr>
          </a:lstStyle>
          <a:p xmlns:a="http://schemas.openxmlformats.org/drawingml/2006/main">
            <a:pPr>
              <a:lnSpc>
                <a:spcPct val="110000"/>
              </a:lnSpc>
              <a:buNone/>
              <a:defRPr sz="3300" b="1">
                <a:solidFill>
                  <a:srgbClr val="152D48"/>
                </a:solidFill>
                <a:latin typeface="Meiryo UI"/>
                <a:ea typeface="Meiryo UI"/>
                <a:cs typeface="Meiryo UI"/>
              </a:defRPr>
            </a:pPr>
            <a:r>
              <a:rPr sz="3300" b="1">
                <a:solidFill>
                  <a:srgbClr val="152D48"/>
                </a:solidFill>
                <a:latin typeface="Meiryo UI"/>
                <a:ea typeface="Meiryo UI"/>
                <a:cs typeface="Meiryo UI"/>
              </a:rPr>
              <a:t>26種類の判定一覧 7/7</a:t>
            </a:r>
          </a:p>
        </p:txBody>
      </p:sp>
      <p:sp>
        <p:nvSpPr>
          <p:cNvPr id="2" name="text-2">
            <a:extLst xmlns:a="http://schemas.openxmlformats.org/drawingml/2006/main">
              <a:ext uri="{FF2B5EF4-FFF2-40B4-BE49-F238E27FC236}">
                <a16:creationId xmlns:a16="http://schemas.microsoft.com/office/drawing/2014/main" id="{901AC401-1EEF-4E2E-9615-31F96FAEE3C7}"/>
              </a:ext>
            </a:extLst>
          </p:cNvPr>
          <p:cNvSpPr>
            <a:spLocks xmlns:a="http://schemas.openxmlformats.org/drawingml/2006/main" noGrp="1"/>
          </p:cNvSpPr>
          <p:nvPr/>
        </p:nvSpPr>
        <p:spPr>
          <a:xfrm xmlns:a="http://schemas.openxmlformats.org/drawingml/2006/main">
            <a:off x="609600" y="10668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02" b="0">
                <a:solidFill>
                  <a:srgbClr val="506579"/>
                </a:solidFill>
                <a:latin typeface="Meiryo UI"/>
                <a:ea typeface="Meiryo UI"/>
                <a:cs typeface="Meiryo UI"/>
              </a:defRPr>
            </a:defPPr>
          </a:lstStyle>
          <a:p xmlns:a="http://schemas.openxmlformats.org/drawingml/2006/main">
            <a:pPr>
              <a:lnSpc>
                <a:spcPct val="110000"/>
              </a:lnSpc>
              <a:buNone/>
              <a:defRPr sz="1702" b="0">
                <a:solidFill>
                  <a:srgbClr val="506579"/>
                </a:solidFill>
                <a:latin typeface="Meiryo UI"/>
                <a:ea typeface="Meiryo UI"/>
                <a:cs typeface="Meiryo UI"/>
              </a:defRPr>
            </a:pPr>
            <a:r>
              <a:rPr sz="1702" b="0">
                <a:solidFill>
                  <a:srgbClr val="506579"/>
                </a:solidFill>
                <a:latin typeface="Meiryo UI"/>
                <a:ea typeface="Meiryo UI"/>
                <a:cs typeface="Meiryo UI"/>
              </a:rPr>
              <a:t>Alert番号 117–120　根拠欄の文字はリンク</a:t>
            </a:r>
          </a:p>
        </p:txBody>
      </p:sp>
      <p:sp>
        <p:nvSpPr>
          <p:cNvPr id="3" name="text-3">
            <a:extLst xmlns:a="http://schemas.openxmlformats.org/drawingml/2006/main">
              <a:ext uri="{FF2B5EF4-FFF2-40B4-BE49-F238E27FC236}">
                <a16:creationId xmlns:a16="http://schemas.microsoft.com/office/drawing/2014/main" id="{1BB9C29B-1260-4672-9A9E-EDD7AC2E4C11}"/>
              </a:ext>
            </a:extLst>
          </p:cNvPr>
          <p:cNvSpPr>
            <a:spLocks xmlns:a="http://schemas.openxmlformats.org/drawingml/2006/main" noGrp="1"/>
          </p:cNvSpPr>
          <p:nvPr/>
        </p:nvSpPr>
        <p:spPr>
          <a:xfrm xmlns:a="http://schemas.openxmlformats.org/drawingml/2006/main">
            <a:off x="11049000" y="644842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06579"/>
                </a:solidFill>
                <a:latin typeface="Meiryo UI"/>
                <a:ea typeface="Meiryo UI"/>
                <a:cs typeface="Meiryo UI"/>
              </a:defRPr>
            </a:defPPr>
          </a:lstStyle>
          <a:p xmlns:a="http://schemas.openxmlformats.org/drawingml/2006/main">
            <a:pPr>
              <a:lnSpc>
                <a:spcPct val="110000"/>
              </a:lnSpc>
              <a:buNone/>
              <a:defRPr sz="1275" b="0">
                <a:solidFill>
                  <a:srgbClr val="506579"/>
                </a:solidFill>
                <a:latin typeface="Meiryo UI"/>
                <a:ea typeface="Meiryo UI"/>
                <a:cs typeface="Meiryo UI"/>
              </a:defRPr>
            </a:pPr>
            <a:r>
              <a:rPr sz="1275" b="0">
                <a:solidFill>
                  <a:srgbClr val="506579"/>
                </a:solidFill>
                <a:latin typeface="Meiryo UI"/>
                <a:ea typeface="Meiryo UI"/>
                <a:cs typeface="Meiryo UI"/>
              </a:rPr>
              <a:t>11</a:t>
            </a:r>
          </a:p>
        </p:txBody>
      </p:sp>
      <p:graphicFrame>
        <p:nvGraphicFramePr>
          <p:cNvPr id="4" name="">
            <a:extLst xmlns:a="http://schemas.openxmlformats.org/drawingml/2006/main">
              <a:ext uri="{FF2B5EF4-FFF2-40B4-BE49-F238E27FC236}">
                <a16:creationId xmlns:a16="http://schemas.microsoft.com/office/drawing/2014/main" id="{B679CE23-EA33-4189-AE23-C27D8D0405DF}"/>
              </a:ext>
            </a:extLst>
          </p:cNvPr>
          <p:cNvGraphicFramePr/>
          <p:nvPr/>
        </p:nvGraphicFramePr>
        <p:xfrm>
          <a:off xmlns:a="http://schemas.openxmlformats.org/drawingml/2006/main" x="609600" y="1504950"/>
          <a:ext xmlns:a="http://schemas.openxmlformats.org/drawingml/2006/main" cx="10972800" cy="2590800"/>
        </p:xfrm>
        <a:graphic xmlns:a="http://schemas.openxmlformats.org/drawingml/2006/main">
          <a:graphicData uri="http://schemas.openxmlformats.org/drawingml/2006/table">
            <a:tbl>
              <a:tblPr firstRow="0" bandRow="0"/>
              <a:tblGrid>
                <a:gridCol w="2724150"/>
                <a:gridCol w="2324100"/>
                <a:gridCol w="4667250"/>
                <a:gridCol w="1257300"/>
              </a:tblGrid>
              <a:tr h="457200">
                <a:tc>
                  <a:txBody>
                    <a:bodyPr wrap="square" lIns="114300" tIns="85725" rIns="114300" bIns="85725">
                      <a:noAutofit/>
                    </a:bodyPr>
                    <a:lstStyle/>
                    <a:p>
                      <a:pPr>
                        <a:lnSpc>
                          <a:spcPct val="105000"/>
                        </a:lnSpc>
                        <a:buNone/>
                      </a:pPr>
                      <a:r>
                        <a:rPr sz="1725" b="1">
                          <a:solidFill>
                            <a:srgbClr val="FFFFFF"/>
                          </a:solidFill>
                          <a:latin typeface="Meiryo UI"/>
                          <a:ea typeface="Meiryo UI"/>
                          <a:cs typeface="Meiryo UI"/>
                        </a:rPr>
                        <a:t>番号・Alert</a:t>
                      </a:r>
                    </a:p>
                  </a:txBody>
                  <a:tcPr marL="91440" marR="91440" marT="45720" marB="45720" anchor="ctr">
                    <a:lnL w="6668">
                      <a:solidFill>
                        <a:srgbClr val="D7E0E8"/>
                      </a:solidFill>
                      <a:prstDash val="solid"/>
                    </a:lnL>
                    <a:lnR w="6668">
                      <a:solidFill>
                        <a:srgbClr val="D7E0E8"/>
                      </a:solidFill>
                      <a:prstDash val="solid"/>
                    </a:lnR>
                    <a:lnT w="6668">
                      <a:solidFill>
                        <a:srgbClr val="D7E0E8"/>
                      </a:solidFill>
                      <a:prstDash val="solid"/>
                    </a:lnT>
                    <a:lnB w="6668">
                      <a:solidFill>
                        <a:srgbClr val="D7E0E8"/>
                      </a:solidFill>
                      <a:prstDash val="solid"/>
                    </a:lnB>
                    <a:solidFill>
                      <a:srgbClr val="152D48"/>
                    </a:solidFill>
                  </a:tcPr>
                </a:tc>
                <a:tc>
                  <a:txBody>
                    <a:bodyPr wrap="square" lIns="114300" tIns="85725" rIns="114300" bIns="85725">
                      <a:noAutofit/>
                    </a:bodyPr>
                    <a:lstStyle/>
                    <a:p>
                      <a:pPr>
                        <a:lnSpc>
                          <a:spcPct val="105000"/>
                        </a:lnSpc>
                        <a:buNone/>
                      </a:pPr>
                      <a:r>
                        <a:rPr sz="1725" b="1">
                          <a:solidFill>
                            <a:srgbClr val="FFFFFF"/>
                          </a:solidFill>
                          <a:latin typeface="Meiryo UI"/>
                          <a:ea typeface="Meiryo UI"/>
                          <a:cs typeface="Meiryo UI"/>
                        </a:rPr>
                        <a:t>RFC違反の判定</a:t>
                      </a:r>
                    </a:p>
                  </a:txBody>
                  <a:tcPr marL="91440" marR="91440" marT="45720" marB="45720" anchor="ctr">
                    <a:lnR w="6668">
                      <a:solidFill>
                        <a:srgbClr val="D7E0E8"/>
                      </a:solidFill>
                      <a:prstDash val="solid"/>
                    </a:lnR>
                    <a:lnT w="6668">
                      <a:solidFill>
                        <a:srgbClr val="D7E0E8"/>
                      </a:solidFill>
                      <a:prstDash val="solid"/>
                    </a:lnT>
                    <a:lnB w="6668">
                      <a:solidFill>
                        <a:srgbClr val="D7E0E8"/>
                      </a:solidFill>
                      <a:prstDash val="solid"/>
                    </a:lnB>
                    <a:solidFill>
                      <a:srgbClr val="152D48"/>
                    </a:solidFill>
                  </a:tcPr>
                </a:tc>
                <a:tc>
                  <a:txBody>
                    <a:bodyPr wrap="square" lIns="114300" tIns="85725" rIns="114300" bIns="85725">
                      <a:noAutofit/>
                    </a:bodyPr>
                    <a:lstStyle/>
                    <a:p>
                      <a:pPr>
                        <a:lnSpc>
                          <a:spcPct val="105000"/>
                        </a:lnSpc>
                        <a:buNone/>
                      </a:pPr>
                      <a:r>
                        <a:rPr sz="1725" b="1">
                          <a:solidFill>
                            <a:srgbClr val="FFFFFF"/>
                          </a:solidFill>
                          <a:latin typeface="Meiryo UI"/>
                          <a:ea typeface="Meiryo UI"/>
                          <a:cs typeface="Meiryo UI"/>
                        </a:rPr>
                        <a:t>確認した条件と判定理由</a:t>
                      </a:r>
                    </a:p>
                  </a:txBody>
                  <a:tcPr marL="91440" marR="91440" marT="45720" marB="45720" anchor="ctr">
                    <a:lnR w="6668">
                      <a:solidFill>
                        <a:srgbClr val="D7E0E8"/>
                      </a:solidFill>
                      <a:prstDash val="solid"/>
                    </a:lnR>
                    <a:lnT w="6668">
                      <a:solidFill>
                        <a:srgbClr val="D7E0E8"/>
                      </a:solidFill>
                      <a:prstDash val="solid"/>
                    </a:lnT>
                    <a:lnB w="6668">
                      <a:solidFill>
                        <a:srgbClr val="D7E0E8"/>
                      </a:solidFill>
                      <a:prstDash val="solid"/>
                    </a:lnB>
                    <a:solidFill>
                      <a:srgbClr val="152D48"/>
                    </a:solidFill>
                  </a:tcPr>
                </a:tc>
                <a:tc>
                  <a:txBody>
                    <a:bodyPr wrap="square" lIns="114300" tIns="85725" rIns="114300" bIns="85725">
                      <a:noAutofit/>
                    </a:bodyPr>
                    <a:lstStyle/>
                    <a:p>
                      <a:pPr>
                        <a:lnSpc>
                          <a:spcPct val="105000"/>
                        </a:lnSpc>
                        <a:buNone/>
                      </a:pPr>
                      <a:r>
                        <a:rPr sz="1725" b="1">
                          <a:solidFill>
                            <a:srgbClr val="FFFFFF"/>
                          </a:solidFill>
                          <a:latin typeface="Meiryo UI"/>
                          <a:ea typeface="Meiryo UI"/>
                          <a:cs typeface="Meiryo UI"/>
                        </a:rPr>
                        <a:t>根拠</a:t>
                      </a:r>
                    </a:p>
                  </a:txBody>
                  <a:tcPr marL="91440" marR="91440" marT="45720" marB="45720" anchor="ctr">
                    <a:lnR w="6668">
                      <a:solidFill>
                        <a:srgbClr val="D7E0E8"/>
                      </a:solidFill>
                      <a:prstDash val="solid"/>
                    </a:lnR>
                    <a:lnT w="6668">
                      <a:solidFill>
                        <a:srgbClr val="D7E0E8"/>
                      </a:solidFill>
                      <a:prstDash val="solid"/>
                    </a:lnT>
                    <a:lnB w="6668">
                      <a:solidFill>
                        <a:srgbClr val="D7E0E8"/>
                      </a:solidFill>
                      <a:prstDash val="solid"/>
                    </a:lnB>
                    <a:solidFill>
                      <a:srgbClr val="152D48"/>
                    </a:solidFill>
                  </a:tcPr>
                </a:tc>
              </a:tr>
              <a:tr h="1066800">
                <a:tc>
                  <a:txBody>
                    <a:bodyPr wrap="square" lIns="114300" tIns="95250" rIns="114300" bIns="95250">
                      <a:noAutofit/>
                    </a:bodyPr>
                    <a:lstStyle/>
                    <a:p>
                      <a:pPr>
                        <a:lnSpc>
                          <a:spcPct val="100000"/>
                        </a:lnSpc>
                        <a:buNone/>
                      </a:pPr>
                      <a:r>
                        <a:rPr sz="1725" b="1">
                          <a:solidFill>
                            <a:srgbClr val="152D48"/>
                          </a:solidFill>
                          <a:latin typeface="Meiryo UI"/>
                          <a:ea typeface="Meiryo UI"/>
                          <a:cs typeface="Meiryo UI"/>
                        </a:rPr>
                        <a:t>117</a:t>
                      </a:r>
                    </a:p>
                    <a:p>
                      <a:pPr>
                        <a:lnSpc>
                          <a:spcPct val="100000"/>
                        </a:lnSpc>
                        <a:buNone/>
                      </a:pPr>
                      <a:r>
                        <a:rPr sz="1725" b="1">
                          <a:solidFill>
                            <a:srgbClr val="152D48"/>
                          </a:solidFill>
                          <a:latin typeface="Meiryo UI"/>
                          <a:ea typeface="Meiryo UI"/>
                          <a:cs typeface="Meiryo UI"/>
                        </a:rPr>
                        <a:t>general_error</a:t>
                      </a:r>
                    </a:p>
                  </a:txBody>
                  <a:tcPr marL="91440" marR="91440" marT="45720" marB="45720" anchor="ctr">
                    <a:lnL w="6668">
                      <a:solidFill>
                        <a:srgbClr val="D7E0E8"/>
                      </a:solidFill>
                      <a:prstDash val="solid"/>
                    </a:lnL>
                    <a:lnR w="6668">
                      <a:solidFill>
                        <a:srgbClr val="D7E0E8"/>
                      </a:solidFill>
                      <a:prstDash val="solid"/>
                    </a:lnR>
                    <a:lnB w="6668">
                      <a:solidFill>
                        <a:srgbClr val="D7E0E8"/>
                      </a:solidFill>
                      <a:prstDash val="solid"/>
                    </a:lnB>
                    <a:solidFill>
                      <a:srgbClr val="FFFFFF"/>
                    </a:solidFill>
                  </a:tcPr>
                </a:tc>
                <a:tc>
                  <a:txBody>
                    <a:bodyPr wrap="square" lIns="114300" tIns="95250" rIns="114300" bIns="95250">
                      <a:noAutofit/>
                    </a:bodyPr>
                    <a:lstStyle/>
                    <a:p>
                      <a:pPr>
                        <a:lnSpc>
                          <a:spcPct val="108000"/>
                        </a:lnSpc>
                        <a:buNone/>
                      </a:pPr>
                      <a:r>
                        <a:rPr sz="1725" b="1">
                          <a:solidFill>
                            <a:srgbClr val="506579"/>
                          </a:solidFill>
                          <a:latin typeface="Meiryo UI"/>
                          <a:ea typeface="Meiryo UI"/>
                          <a:cs typeface="Meiryo UI"/>
                        </a:rPr>
                        <a:t>未実装のみでは</a:t>
                      </a:r>
                    </a:p>
                    <a:p>
                      <a:pPr>
                        <a:lnSpc>
                          <a:spcPct val="108000"/>
                        </a:lnSpc>
                        <a:buNone/>
                      </a:pPr>
                      <a:r>
                        <a:rPr sz="1725" b="1">
                          <a:solidFill>
                            <a:srgbClr val="506579"/>
                          </a:solidFill>
                          <a:latin typeface="Meiryo UI"/>
                          <a:ea typeface="Meiryo UI"/>
                          <a:cs typeface="Meiryo UI"/>
                        </a:rPr>
                        <a:t>違反といえない</a:t>
                      </a:r>
                    </a:p>
                  </a:txBody>
                  <a:tcPr marL="91440" marR="91440" marT="45720" marB="45720" anchor="ctr">
                    <a:lnR w="6668">
                      <a:solidFill>
                        <a:srgbClr val="D7E0E8"/>
                      </a:solidFill>
                      <a:prstDash val="solid"/>
                    </a:lnR>
                    <a:lnB w="6668">
                      <a:solidFill>
                        <a:srgbClr val="D7E0E8"/>
                      </a:solidFill>
                      <a:prstDash val="solid"/>
                    </a:lnB>
                    <a:solidFill>
                      <a:srgbClr val="FFFFFF"/>
                    </a:solidFill>
                  </a:tcPr>
                </a:tc>
                <a:tc>
                  <a:txBody>
                    <a:bodyPr wrap="square" lIns="114300" tIns="85725" rIns="114300" bIns="85725">
                      <a:noAutofit/>
                    </a:bodyPr>
                    <a:lstStyle/>
                    <a:p>
                      <a:pPr>
                        <a:lnSpc>
                          <a:spcPct val="105000"/>
                        </a:lnSpc>
                        <a:buNone/>
                      </a:pPr>
                      <a:r>
                        <a:rPr sz="1725" b="0">
                          <a:solidFill>
                            <a:srgbClr val="1B2E43"/>
                          </a:solidFill>
                          <a:latin typeface="Meiryo UI"/>
                          <a:ea typeface="Meiryo UI"/>
                          <a:cs typeface="Meiryo UI"/>
                        </a:rPr>
                        <a:t>117は未定義だが、必ず実装・送信する</a:t>
                      </a:r>
                    </a:p>
                    <a:p>
                      <a:pPr>
                        <a:lnSpc>
                          <a:spcPct val="105000"/>
                        </a:lnSpc>
                        <a:buNone/>
                      </a:pPr>
                      <a:r>
                        <a:rPr sz="1725" b="0">
                          <a:solidFill>
                            <a:srgbClr val="1B2E43"/>
                          </a:solidFill>
                          <a:latin typeface="Meiryo UI"/>
                          <a:ea typeface="Meiryo UI"/>
                          <a:cs typeface="Meiryo UI"/>
                        </a:rPr>
                        <a:t>明示的な義務は確認していない。</a:t>
                      </a:r>
                    </a:p>
                    <a:p>
                      <a:pPr>
                        <a:lnSpc>
                          <a:spcPct val="105000"/>
                        </a:lnSpc>
                        <a:buNone/>
                      </a:pPr>
                      <a:r>
                        <a:rPr sz="1725" b="0">
                          <a:solidFill>
                            <a:srgbClr val="1B2E43"/>
                          </a:solidFill>
                          <a:latin typeface="Meiryo UI"/>
                          <a:ea typeface="Meiryo UI"/>
                          <a:cs typeface="Meiryo UI"/>
                        </a:rPr>
                        <a:t>未定義だけでは違反と断定しない。</a:t>
                      </a:r>
                    </a:p>
                  </a:txBody>
                  <a:tcPr marL="91440" marR="91440" marT="45720" marB="45720" anchor="ctr">
                    <a:lnR w="6668">
                      <a:solidFill>
                        <a:srgbClr val="D7E0E8"/>
                      </a:solidFill>
                      <a:prstDash val="solid"/>
                    </a:lnR>
                    <a:lnB w="6668">
                      <a:solidFill>
                        <a:srgbClr val="D7E0E8"/>
                      </a:solidFill>
                      <a:prstDash val="solid"/>
                    </a:lnB>
                    <a:solidFill>
                      <a:srgbClr val="FFFFFF"/>
                    </a:solidFill>
                  </a:tcPr>
                </a:tc>
                <a:tc>
                  <a:txBody>
                    <a:bodyPr wrap="square" lIns="95250" tIns="76200" rIns="95250" bIns="76200">
                      <a:noAutofit/>
                    </a:bodyPr>
                    <a:lstStyle/>
                    <a:p>
                      <a:r>
                        <a:rPr sz="1725" b="0" u="sng">
                          <a:solidFill>
                            <a:srgbClr val="176DA5"/>
                          </a:solidFill>
                          <a:latin typeface="Meiryo UI"/>
                          <a:ea typeface="Meiryo UI"/>
                          <a:cs typeface="Meiryo UI"/>
                          <a:hlinkClick xmlns:r="http://schemas.openxmlformats.org/officeDocument/2006/relationships" r:id="R7334e7fe6db14c7a"/>
                        </a:rPr>
                        <a:t>§6.2</a:t>
                      </a:r>
                    </a:p>
                    <a:p>
                      <a:r>
                        <a:rPr sz="1725" b="0" u="sng">
                          <a:solidFill>
                            <a:srgbClr val="176DA5"/>
                          </a:solidFill>
                          <a:latin typeface="Meiryo UI"/>
                          <a:ea typeface="Meiryo UI"/>
                          <a:cs typeface="Meiryo UI"/>
                          <a:hlinkClick xmlns:r="http://schemas.openxmlformats.org/officeDocument/2006/relationships" r:id="Re9394e3a2b974ec4"/>
                        </a:rPr>
                        <a:t>ソース</a:t>
                      </a:r>
                    </a:p>
                    <a:p>
                      <a:r>
                        <a:rPr sz="1725" b="0" u="sng">
                          <a:solidFill>
                            <a:srgbClr val="176DA5"/>
                          </a:solidFill>
                          <a:latin typeface="Meiryo UI"/>
                          <a:ea typeface="Meiryo UI"/>
                          <a:cs typeface="Meiryo UI"/>
                          <a:hlinkClick xmlns:r="http://schemas.openxmlformats.org/officeDocument/2006/relationships" r:id="Ref9e385a672f4c6c"/>
                        </a:rPr>
                        <a:t>定義</a:t>
                      </a:r>
                    </a:p>
                  </a:txBody>
                  <a:tcPr marL="91440" marR="91440" marT="45720" marB="45720" anchor="ctr">
                    <a:lnR w="6668">
                      <a:solidFill>
                        <a:srgbClr val="D7E0E8"/>
                      </a:solidFill>
                      <a:prstDash val="solid"/>
                    </a:lnR>
                    <a:lnB w="6668">
                      <a:solidFill>
                        <a:srgbClr val="D7E0E8"/>
                      </a:solidFill>
                      <a:prstDash val="solid"/>
                    </a:lnB>
                    <a:solidFill>
                      <a:srgbClr val="FFFFFF"/>
                    </a:solidFill>
                  </a:tcPr>
                </a:tc>
              </a:tr>
              <a:tr h="1066800">
                <a:tc>
                  <a:txBody>
                    <a:bodyPr wrap="square" lIns="114300" tIns="95250" rIns="114300" bIns="95250">
                      <a:noAutofit/>
                    </a:bodyPr>
                    <a:lstStyle/>
                    <a:p>
                      <a:pPr>
                        <a:lnSpc>
                          <a:spcPct val="100000"/>
                        </a:lnSpc>
                        <a:buNone/>
                      </a:pPr>
                      <a:r>
                        <a:rPr sz="1725" b="1">
                          <a:solidFill>
                            <a:srgbClr val="152D48"/>
                          </a:solidFill>
                          <a:latin typeface="Meiryo UI"/>
                          <a:ea typeface="Meiryo UI"/>
                          <a:cs typeface="Meiryo UI"/>
                        </a:rPr>
                        <a:t>120</a:t>
                      </a:r>
                    </a:p>
                    <a:p>
                      <a:pPr>
                        <a:lnSpc>
                          <a:spcPct val="100000"/>
                        </a:lnSpc>
                        <a:buNone/>
                      </a:pPr>
                      <a:r>
                        <a:rPr sz="1725" b="1">
                          <a:solidFill>
                            <a:srgbClr val="152D48"/>
                          </a:solidFill>
                          <a:latin typeface="Meiryo UI"/>
                          <a:ea typeface="Meiryo UI"/>
                          <a:cs typeface="Meiryo UI"/>
                        </a:rPr>
                        <a:t>no_application_</a:t>
                      </a:r>
                    </a:p>
                    <a:p>
                      <a:pPr>
                        <a:lnSpc>
                          <a:spcPct val="100000"/>
                        </a:lnSpc>
                        <a:buNone/>
                      </a:pPr>
                      <a:r>
                        <a:rPr sz="1725" b="1">
                          <a:solidFill>
                            <a:srgbClr val="152D48"/>
                          </a:solidFill>
                          <a:latin typeface="Meiryo UI"/>
                          <a:ea typeface="Meiryo UI"/>
                          <a:cs typeface="Meiryo UI"/>
                        </a:rPr>
                        <a:t>protocol</a:t>
                      </a:r>
                    </a:p>
                  </a:txBody>
                  <a:tcPr marL="91440" marR="91440" marT="45720" marB="45720" anchor="ctr">
                    <a:lnL w="6668">
                      <a:solidFill>
                        <a:srgbClr val="D7E0E8"/>
                      </a:solidFill>
                      <a:prstDash val="solid"/>
                    </a:lnL>
                    <a:lnR w="6668">
                      <a:solidFill>
                        <a:srgbClr val="D7E0E8"/>
                      </a:solidFill>
                      <a:prstDash val="solid"/>
                    </a:lnR>
                    <a:lnB w="6668">
                      <a:solidFill>
                        <a:srgbClr val="D7E0E8"/>
                      </a:solidFill>
                      <a:prstDash val="solid"/>
                    </a:lnB>
                    <a:solidFill>
                      <a:srgbClr val="F4F7FA"/>
                    </a:solidFill>
                  </a:tcPr>
                </a:tc>
                <a:tc>
                  <a:txBody>
                    <a:bodyPr wrap="square" lIns="114300" tIns="95250" rIns="114300" bIns="95250">
                      <a:noAutofit/>
                    </a:bodyPr>
                    <a:lstStyle/>
                    <a:p>
                      <a:pPr>
                        <a:lnSpc>
                          <a:spcPct val="108000"/>
                        </a:lnSpc>
                        <a:buNone/>
                      </a:pPr>
                      <a:r>
                        <a:rPr sz="1725" b="1">
                          <a:solidFill>
                            <a:srgbClr val="506579"/>
                          </a:solidFill>
                          <a:latin typeface="Meiryo UI"/>
                          <a:ea typeface="Meiryo UI"/>
                          <a:cs typeface="Meiryo UI"/>
                        </a:rPr>
                        <a:t>違反未確認</a:t>
                      </a:r>
                    </a:p>
                    <a:p>
                      <a:pPr>
                        <a:lnSpc>
                          <a:spcPct val="108000"/>
                        </a:lnSpc>
                        <a:buNone/>
                      </a:pPr>
                      <a:r>
                        <a:rPr sz="1725" b="1">
                          <a:solidFill>
                            <a:srgbClr val="506579"/>
                          </a:solidFill>
                          <a:latin typeface="Meiryo UI"/>
                          <a:ea typeface="Meiryo UI"/>
                          <a:cs typeface="Meiryo UI"/>
                        </a:rPr>
                        <a:t>確認した経路の範囲</a:t>
                      </a:r>
                    </a:p>
                  </a:txBody>
                  <a:tcPr marL="91440" marR="91440" marT="45720" marB="45720" anchor="ctr">
                    <a:lnR w="6668">
                      <a:solidFill>
                        <a:srgbClr val="D7E0E8"/>
                      </a:solidFill>
                      <a:prstDash val="solid"/>
                    </a:lnR>
                    <a:lnB w="6668">
                      <a:solidFill>
                        <a:srgbClr val="D7E0E8"/>
                      </a:solidFill>
                      <a:prstDash val="solid"/>
                    </a:lnB>
                    <a:solidFill>
                      <a:srgbClr val="F4F7FA"/>
                    </a:solidFill>
                  </a:tcPr>
                </a:tc>
                <a:tc>
                  <a:txBody>
                    <a:bodyPr wrap="square" lIns="114300" tIns="85725" rIns="114300" bIns="85725">
                      <a:noAutofit/>
                    </a:bodyPr>
                    <a:lstStyle/>
                    <a:p>
                      <a:pPr>
                        <a:lnSpc>
                          <a:spcPct val="105000"/>
                        </a:lnSpc>
                        <a:buNone/>
                      </a:pPr>
                      <a:r>
                        <a:rPr sz="1725" b="0">
                          <a:solidFill>
                            <a:srgbClr val="1B2E43"/>
                          </a:solidFill>
                          <a:latin typeface="Meiryo UI"/>
                          <a:ea typeface="Meiryo UI"/>
                          <a:cs typeface="Meiryo UI"/>
                        </a:rPr>
                        <a:t>確認したALPN交渉失敗時の120送信は</a:t>
                      </a:r>
                    </a:p>
                    <a:p>
                      <a:pPr>
                        <a:lnSpc>
                          <a:spcPct val="105000"/>
                        </a:lnSpc>
                        <a:buNone/>
                      </a:pPr>
                      <a:r>
                        <a:rPr sz="1725" b="0">
                          <a:solidFill>
                            <a:srgbClr val="1B2E43"/>
                          </a:solidFill>
                          <a:latin typeface="Meiryo UI"/>
                          <a:ea typeface="Meiryo UI"/>
                          <a:cs typeface="Meiryo UI"/>
                        </a:rPr>
                        <a:t>RFC条件と整合する。</a:t>
                      </a:r>
                    </a:p>
                    <a:p>
                      <a:pPr>
                        <a:lnSpc>
                          <a:spcPct val="105000"/>
                        </a:lnSpc>
                        <a:buNone/>
                      </a:pPr>
                      <a:r>
                        <a:rPr sz="1725" b="0">
                          <a:solidFill>
                            <a:srgbClr val="1B2E43"/>
                          </a:solidFill>
                          <a:latin typeface="Meiryo UI"/>
                          <a:ea typeface="Meiryo UI"/>
                          <a:cs typeface="Meiryo UI"/>
                        </a:rPr>
                        <a:t>全設定での適合を証明したものではない。</a:t>
                      </a:r>
                    </a:p>
                  </a:txBody>
                  <a:tcPr marL="91440" marR="91440" marT="45720" marB="45720" anchor="ctr">
                    <a:lnR w="6668">
                      <a:solidFill>
                        <a:srgbClr val="D7E0E8"/>
                      </a:solidFill>
                      <a:prstDash val="solid"/>
                    </a:lnR>
                    <a:lnB w="6668">
                      <a:solidFill>
                        <a:srgbClr val="D7E0E8"/>
                      </a:solidFill>
                      <a:prstDash val="solid"/>
                    </a:lnB>
                    <a:solidFill>
                      <a:srgbClr val="F4F7FA"/>
                    </a:solidFill>
                  </a:tcPr>
                </a:tc>
                <a:tc>
                  <a:txBody>
                    <a:bodyPr wrap="square" lIns="95250" tIns="76200" rIns="95250" bIns="76200">
                      <a:noAutofit/>
                    </a:bodyPr>
                    <a:lstStyle/>
                    <a:p>
                      <a:r>
                        <a:rPr sz="1725" b="0" u="sng">
                          <a:solidFill>
                            <a:srgbClr val="176DA5"/>
                          </a:solidFill>
                          <a:latin typeface="Meiryo UI"/>
                          <a:ea typeface="Meiryo UI"/>
                          <a:cs typeface="Meiryo UI"/>
                          <a:hlinkClick xmlns:r="http://schemas.openxmlformats.org/officeDocument/2006/relationships" r:id="R97fe46f0463e400d"/>
                        </a:rPr>
                        <a:t>§6.2</a:t>
                      </a:r>
                    </a:p>
                    <a:p>
                      <a:r>
                        <a:rPr sz="1725" b="0" u="sng">
                          <a:solidFill>
                            <a:srgbClr val="176DA5"/>
                          </a:solidFill>
                          <a:latin typeface="Meiryo UI"/>
                          <a:ea typeface="Meiryo UI"/>
                          <a:cs typeface="Meiryo UI"/>
                          <a:hlinkClick xmlns:r="http://schemas.openxmlformats.org/officeDocument/2006/relationships" r:id="R191562cc209f494d"/>
                        </a:rPr>
                        <a:t>ソース</a:t>
                      </a:r>
                    </a:p>
                    <a:p>
                      <a:r>
                        <a:rPr sz="1725" b="0" u="sng">
                          <a:solidFill>
                            <a:srgbClr val="176DA5"/>
                          </a:solidFill>
                          <a:latin typeface="Meiryo UI"/>
                          <a:ea typeface="Meiryo UI"/>
                          <a:cs typeface="Meiryo UI"/>
                          <a:hlinkClick xmlns:r="http://schemas.openxmlformats.org/officeDocument/2006/relationships" r:id="R63521ebfb92e420f"/>
                        </a:rPr>
                        <a:t>定義</a:t>
                      </a:r>
                    </a:p>
                  </a:txBody>
                  <a:tcPr marL="91440" marR="91440" marT="45720" marB="45720" anchor="ctr">
                    <a:lnR w="6668">
                      <a:solidFill>
                        <a:srgbClr val="D7E0E8"/>
                      </a:solidFill>
                      <a:prstDash val="solid"/>
                    </a:lnR>
                    <a:lnB w="6668">
                      <a:solidFill>
                        <a:srgbClr val="D7E0E8"/>
                      </a:solidFill>
                      <a:prstDash val="solid"/>
                    </a:lnB>
                    <a:solidFill>
                      <a:srgbClr val="F4F7FA"/>
                    </a:solidFill>
                  </a:tcPr>
                </a:tc>
              </a:tr>
            </a:tbl>
          </a:graphicData>
        </a:graphic>
      </p:graphicFrame>
      <p:sp>
        <p:nvSpPr>
          <p:cNvPr id="5" name="text-4">
            <a:extLst xmlns:a="http://schemas.openxmlformats.org/drawingml/2006/main">
              <a:ext uri="{FF2B5EF4-FFF2-40B4-BE49-F238E27FC236}">
                <a16:creationId xmlns:a16="http://schemas.microsoft.com/office/drawing/2014/main" id="{A16D700E-2142-4A24-BEEF-2B976D2D9918}"/>
              </a:ext>
            </a:extLst>
          </p:cNvPr>
          <p:cNvSpPr>
            <a:spLocks xmlns:a="http://schemas.openxmlformats.org/drawingml/2006/main" noGrp="1"/>
          </p:cNvSpPr>
          <p:nvPr/>
        </p:nvSpPr>
        <p:spPr>
          <a:xfrm xmlns:a="http://schemas.openxmlformats.org/drawingml/2006/main">
            <a:off x="609600" y="44291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06579"/>
                </a:solidFill>
                <a:latin typeface="Meiryo UI"/>
                <a:ea typeface="Meiryo UI"/>
                <a:cs typeface="Meiryo UI"/>
              </a:defRPr>
            </a:defPPr>
          </a:lstStyle>
          <a:p xmlns:a="http://schemas.openxmlformats.org/drawingml/2006/main">
            <a:pPr>
              <a:lnSpc>
                <a:spcPct val="110000"/>
              </a:lnSpc>
              <a:buNone/>
              <a:defRPr sz="1425" b="0">
                <a:solidFill>
                  <a:srgbClr val="506579"/>
                </a:solidFill>
                <a:latin typeface="Meiryo UI"/>
                <a:ea typeface="Meiryo UI"/>
                <a:cs typeface="Meiryo UI"/>
              </a:defRPr>
            </a:pPr>
            <a:r>
              <a:rPr sz="1425" b="0">
                <a:solidFill>
                  <a:srgbClr val="506579"/>
                </a:solidFill>
                <a:latin typeface="Meiryo UI"/>
                <a:ea typeface="Meiryo UI"/>
                <a:cs typeface="Meiryo UI"/>
              </a:rPr>
              <a:t>同じ事象を複数行に記載。違反行数を不具合件数として合算しない。</a:t>
            </a:r>
          </a:p>
        </p:txBody>
      </p:sp>
    </p:spTree>
    <p:extLst>
      <p:ext uri="{BB962C8B-B14F-4D97-AF65-F5344CB8AC3E}">
        <p14:creationId xmlns:p14="http://schemas.microsoft.com/office/powerpoint/2010/main" val="149896756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1">
            <a:extLst xmlns:a="http://schemas.openxmlformats.org/drawingml/2006/main">
              <a:ext uri="{FF2B5EF4-FFF2-40B4-BE49-F238E27FC236}">
                <a16:creationId xmlns:a16="http://schemas.microsoft.com/office/drawing/2014/main" id="{F908188B-4E88-4323-A5F3-7075059275E1}"/>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D48"/>
                </a:solidFill>
                <a:latin typeface="Meiryo UI"/>
                <a:ea typeface="Meiryo UI"/>
                <a:cs typeface="Meiryo UI"/>
              </a:defRPr>
            </a:defPPr>
          </a:lstStyle>
          <a:p xmlns:a="http://schemas.openxmlformats.org/drawingml/2006/main">
            <a:pPr>
              <a:lnSpc>
                <a:spcPct val="110000"/>
              </a:lnSpc>
              <a:buNone/>
              <a:defRPr sz="3300" b="1">
                <a:solidFill>
                  <a:srgbClr val="152D48"/>
                </a:solidFill>
                <a:latin typeface="Meiryo UI"/>
                <a:ea typeface="Meiryo UI"/>
                <a:cs typeface="Meiryo UI"/>
              </a:defRPr>
            </a:pPr>
            <a:r>
              <a:rPr sz="3300" b="1">
                <a:solidFill>
                  <a:srgbClr val="152D48"/>
                </a:solidFill>
                <a:latin typeface="Meiryo UI"/>
                <a:ea typeface="Meiryo UI"/>
                <a:cs typeface="Meiryo UI"/>
              </a:rPr>
              <a:t>21 GAと21.0.12の相違</a:t>
            </a:r>
          </a:p>
        </p:txBody>
      </p:sp>
      <p:sp>
        <p:nvSpPr>
          <p:cNvPr id="2" name="text-2">
            <a:extLst xmlns:a="http://schemas.openxmlformats.org/drawingml/2006/main">
              <a:ext uri="{FF2B5EF4-FFF2-40B4-BE49-F238E27FC236}">
                <a16:creationId xmlns:a16="http://schemas.microsoft.com/office/drawing/2014/main" id="{7CFE01F2-ADBD-4210-80F6-5C105A780597}"/>
              </a:ext>
            </a:extLst>
          </p:cNvPr>
          <p:cNvSpPr>
            <a:spLocks xmlns:a="http://schemas.openxmlformats.org/drawingml/2006/main" noGrp="1"/>
          </p:cNvSpPr>
          <p:nvPr/>
        </p:nvSpPr>
        <p:spPr>
          <a:xfrm xmlns:a="http://schemas.openxmlformats.org/drawingml/2006/main">
            <a:off x="609600" y="10668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02" b="0">
                <a:solidFill>
                  <a:srgbClr val="506579"/>
                </a:solidFill>
                <a:latin typeface="Meiryo UI"/>
                <a:ea typeface="Meiryo UI"/>
                <a:cs typeface="Meiryo UI"/>
              </a:defRPr>
            </a:defPPr>
          </a:lstStyle>
          <a:p xmlns:a="http://schemas.openxmlformats.org/drawingml/2006/main">
            <a:pPr>
              <a:lnSpc>
                <a:spcPct val="110000"/>
              </a:lnSpc>
              <a:buNone/>
              <a:defRPr sz="1702" b="0">
                <a:solidFill>
                  <a:srgbClr val="506579"/>
                </a:solidFill>
                <a:latin typeface="Meiryo UI"/>
                <a:ea typeface="Meiryo UI"/>
                <a:cs typeface="Meiryo UI"/>
              </a:defRPr>
            </a:pPr>
            <a:r>
              <a:rPr sz="1702" b="0">
                <a:solidFill>
                  <a:srgbClr val="506579"/>
                </a:solidFill>
                <a:latin typeface="Meiryo UI"/>
                <a:ea typeface="Meiryo UI"/>
                <a:cs typeface="Meiryo UI"/>
              </a:rPr>
              <a:t>同じOpenJDK 21でも、更新版によって番号選択が異なる</a:t>
            </a:r>
          </a:p>
        </p:txBody>
      </p:sp>
      <p:sp>
        <p:nvSpPr>
          <p:cNvPr id="3" name="text-3">
            <a:extLst xmlns:a="http://schemas.openxmlformats.org/drawingml/2006/main">
              <a:ext uri="{FF2B5EF4-FFF2-40B4-BE49-F238E27FC236}">
                <a16:creationId xmlns:a16="http://schemas.microsoft.com/office/drawing/2014/main" id="{FCAEAAD2-D72E-470F-B335-87417E748E0A}"/>
              </a:ext>
            </a:extLst>
          </p:cNvPr>
          <p:cNvSpPr>
            <a:spLocks xmlns:a="http://schemas.openxmlformats.org/drawingml/2006/main" noGrp="1"/>
          </p:cNvSpPr>
          <p:nvPr/>
        </p:nvSpPr>
        <p:spPr>
          <a:xfrm xmlns:a="http://schemas.openxmlformats.org/drawingml/2006/main">
            <a:off x="11049000" y="644842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06579"/>
                </a:solidFill>
                <a:latin typeface="Meiryo UI"/>
                <a:ea typeface="Meiryo UI"/>
                <a:cs typeface="Meiryo UI"/>
              </a:defRPr>
            </a:defPPr>
          </a:lstStyle>
          <a:p xmlns:a="http://schemas.openxmlformats.org/drawingml/2006/main">
            <a:pPr>
              <a:lnSpc>
                <a:spcPct val="110000"/>
              </a:lnSpc>
              <a:buNone/>
              <a:defRPr sz="1275" b="0">
                <a:solidFill>
                  <a:srgbClr val="506579"/>
                </a:solidFill>
                <a:latin typeface="Meiryo UI"/>
                <a:ea typeface="Meiryo UI"/>
                <a:cs typeface="Meiryo UI"/>
              </a:defRPr>
            </a:pPr>
            <a:r>
              <a:rPr sz="1275" b="0">
                <a:solidFill>
                  <a:srgbClr val="506579"/>
                </a:solidFill>
                <a:latin typeface="Meiryo UI"/>
                <a:ea typeface="Meiryo UI"/>
                <a:cs typeface="Meiryo UI"/>
              </a:rPr>
              <a:t>12</a:t>
            </a:r>
          </a:p>
        </p:txBody>
      </p:sp>
      <p:graphicFrame>
        <p:nvGraphicFramePr>
          <p:cNvPr id="4" name="">
            <a:extLst xmlns:a="http://schemas.openxmlformats.org/drawingml/2006/main">
              <a:ext uri="{FF2B5EF4-FFF2-40B4-BE49-F238E27FC236}">
                <a16:creationId xmlns:a16="http://schemas.microsoft.com/office/drawing/2014/main" id="{424DF3A6-8C77-4AE5-B45B-E0E34D128E8D}"/>
              </a:ext>
            </a:extLst>
          </p:cNvPr>
          <p:cNvGraphicFramePr/>
          <p:nvPr/>
        </p:nvGraphicFramePr>
        <p:xfrm>
          <a:off xmlns:a="http://schemas.openxmlformats.org/drawingml/2006/main" x="609600" y="1504950"/>
          <a:ext xmlns:a="http://schemas.openxmlformats.org/drawingml/2006/main" cx="10972800" cy="3886200"/>
        </p:xfrm>
        <a:graphic xmlns:a="http://schemas.openxmlformats.org/drawingml/2006/main">
          <a:graphicData uri="http://schemas.openxmlformats.org/drawingml/2006/table">
            <a:tbl>
              <a:tblPr firstRow="0" bandRow="0"/>
              <a:tblGrid>
                <a:gridCol w="4857750"/>
                <a:gridCol w="3057525"/>
                <a:gridCol w="3057525"/>
              </a:tblGrid>
              <a:tr h="457200">
                <a:tc>
                  <a:txBody>
                    <a:bodyPr wrap="square" lIns="114300" tIns="85725" rIns="114300" bIns="85725">
                      <a:noAutofit/>
                    </a:bodyPr>
                    <a:lstStyle/>
                    <a:p>
                      <a:pPr>
                        <a:lnSpc>
                          <a:spcPct val="105000"/>
                        </a:lnSpc>
                        <a:buNone/>
                      </a:pPr>
                      <a:r>
                        <a:rPr sz="1725" b="1">
                          <a:solidFill>
                            <a:srgbClr val="FFFFFF"/>
                          </a:solidFill>
                          <a:latin typeface="Meiryo UI"/>
                          <a:ea typeface="Meiryo UI"/>
                          <a:cs typeface="Meiryo UI"/>
                        </a:rPr>
                        <a:t>TLS 1.3での条件</a:t>
                      </a:r>
                    </a:p>
                  </a:txBody>
                  <a:tcPr marL="91440" marR="91440" marT="45720" marB="45720" anchor="ctr">
                    <a:lnL w="6668">
                      <a:solidFill>
                        <a:srgbClr val="D7E0E8"/>
                      </a:solidFill>
                      <a:prstDash val="solid"/>
                    </a:lnL>
                    <a:lnR w="6668">
                      <a:solidFill>
                        <a:srgbClr val="D7E0E8"/>
                      </a:solidFill>
                      <a:prstDash val="solid"/>
                    </a:lnR>
                    <a:lnT w="6668">
                      <a:solidFill>
                        <a:srgbClr val="D7E0E8"/>
                      </a:solidFill>
                      <a:prstDash val="solid"/>
                    </a:lnT>
                    <a:lnB w="6668">
                      <a:solidFill>
                        <a:srgbClr val="D7E0E8"/>
                      </a:solidFill>
                      <a:prstDash val="solid"/>
                    </a:lnB>
                    <a:solidFill>
                      <a:srgbClr val="152D48"/>
                    </a:solidFill>
                  </a:tcPr>
                </a:tc>
                <a:tc>
                  <a:txBody>
                    <a:bodyPr wrap="square" lIns="114300" tIns="85725" rIns="114300" bIns="85725">
                      <a:noAutofit/>
                    </a:bodyPr>
                    <a:lstStyle/>
                    <a:p>
                      <a:pPr>
                        <a:lnSpc>
                          <a:spcPct val="105000"/>
                        </a:lnSpc>
                        <a:buNone/>
                      </a:pPr>
                      <a:r>
                        <a:rPr sz="1725" b="1">
                          <a:solidFill>
                            <a:srgbClr val="FFFFFF"/>
                          </a:solidFill>
                          <a:latin typeface="Meiryo UI"/>
                          <a:ea typeface="Meiryo UI"/>
                          <a:cs typeface="Meiryo UI"/>
                        </a:rPr>
                        <a:t>21 GA</a:t>
                      </a:r>
                    </a:p>
                  </a:txBody>
                  <a:tcPr marL="91440" marR="91440" marT="45720" marB="45720" anchor="ctr">
                    <a:lnR w="6668">
                      <a:solidFill>
                        <a:srgbClr val="D7E0E8"/>
                      </a:solidFill>
                      <a:prstDash val="solid"/>
                    </a:lnR>
                    <a:lnT w="6668">
                      <a:solidFill>
                        <a:srgbClr val="D7E0E8"/>
                      </a:solidFill>
                      <a:prstDash val="solid"/>
                    </a:lnT>
                    <a:lnB w="6668">
                      <a:solidFill>
                        <a:srgbClr val="D7E0E8"/>
                      </a:solidFill>
                      <a:prstDash val="solid"/>
                    </a:lnB>
                    <a:solidFill>
                      <a:srgbClr val="152D48"/>
                    </a:solidFill>
                  </a:tcPr>
                </a:tc>
                <a:tc>
                  <a:txBody>
                    <a:bodyPr wrap="square" lIns="114300" tIns="85725" rIns="114300" bIns="85725">
                      <a:noAutofit/>
                    </a:bodyPr>
                    <a:lstStyle/>
                    <a:p>
                      <a:pPr>
                        <a:lnSpc>
                          <a:spcPct val="105000"/>
                        </a:lnSpc>
                        <a:buNone/>
                      </a:pPr>
                      <a:r>
                        <a:rPr sz="1725" b="1">
                          <a:solidFill>
                            <a:srgbClr val="FFFFFF"/>
                          </a:solidFill>
                          <a:latin typeface="Meiryo UI"/>
                          <a:ea typeface="Meiryo UI"/>
                          <a:cs typeface="Meiryo UI"/>
                        </a:rPr>
                        <a:t>21.0.12+8</a:t>
                      </a:r>
                    </a:p>
                  </a:txBody>
                  <a:tcPr marL="91440" marR="91440" marT="45720" marB="45720" anchor="ctr">
                    <a:lnR w="6668">
                      <a:solidFill>
                        <a:srgbClr val="D7E0E8"/>
                      </a:solidFill>
                      <a:prstDash val="solid"/>
                    </a:lnR>
                    <a:lnT w="6668">
                      <a:solidFill>
                        <a:srgbClr val="D7E0E8"/>
                      </a:solidFill>
                      <a:prstDash val="solid"/>
                    </a:lnT>
                    <a:lnB w="6668">
                      <a:solidFill>
                        <a:srgbClr val="D7E0E8"/>
                      </a:solidFill>
                      <a:prstDash val="solid"/>
                    </a:lnB>
                    <a:solidFill>
                      <a:srgbClr val="152D48"/>
                    </a:solidFill>
                  </a:tcPr>
                </a:tc>
              </a:tr>
              <a:tr h="1143000">
                <a:tc>
                  <a:txBody>
                    <a:bodyPr wrap="square" lIns="114300" tIns="85725" rIns="114300" bIns="85725">
                      <a:noAutofit/>
                    </a:bodyPr>
                    <a:lstStyle/>
                    <a:p>
                      <a:pPr>
                        <a:lnSpc>
                          <a:spcPct val="105000"/>
                        </a:lnSpc>
                        <a:buNone/>
                      </a:pPr>
                      <a:r>
                        <a:rPr sz="1800" b="0">
                          <a:solidFill>
                            <a:srgbClr val="1B2E43"/>
                          </a:solidFill>
                          <a:latin typeface="Meiryo UI"/>
                          <a:ea typeface="Meiryo UI"/>
                          <a:cs typeface="Meiryo UI"/>
                        </a:rPr>
                        <a:t>認証必須なのに空のクライアントCertificate</a:t>
                      </a:r>
                    </a:p>
                  </a:txBody>
                  <a:tcPr marL="91440" marR="91440" marT="45720" marB="45720" anchor="ctr">
                    <a:lnL w="6668">
                      <a:solidFill>
                        <a:srgbClr val="D7E0E8"/>
                      </a:solidFill>
                      <a:prstDash val="solid"/>
                    </a:lnL>
                    <a:lnR w="6668">
                      <a:solidFill>
                        <a:srgbClr val="D7E0E8"/>
                      </a:solidFill>
                      <a:prstDash val="solid"/>
                    </a:lnR>
                    <a:lnB w="6668">
                      <a:solidFill>
                        <a:srgbClr val="D7E0E8"/>
                      </a:solidFill>
                      <a:prstDash val="solid"/>
                    </a:lnB>
                    <a:solidFill>
                      <a:srgbClr val="FFFFFF"/>
                    </a:solidFill>
                  </a:tcPr>
                </a:tc>
                <a:tc>
                  <a:txBody>
                    <a:bodyPr wrap="square" lIns="114300" tIns="85725" rIns="114300" bIns="85725">
                      <a:noAutofit/>
                    </a:bodyPr>
                    <a:lstStyle/>
                    <a:p>
                      <a:pPr>
                        <a:lnSpc>
                          <a:spcPct val="105000"/>
                        </a:lnSpc>
                        <a:buNone/>
                      </a:pPr>
                      <a:r>
                        <a:rPr sz="1800" b="0">
                          <a:solidFill>
                            <a:srgbClr val="1B2E43"/>
                          </a:solidFill>
                          <a:latin typeface="Meiryo UI"/>
                          <a:ea typeface="Meiryo UI"/>
                          <a:cs typeface="Meiryo UI"/>
                          <a:hlinkClick xmlns:r="http://schemas.openxmlformats.org/officeDocument/2006/relationships" r:id="R2e98a9c07e86406c"/>
                        </a:rPr>
                        <a:t>42 bad_certificate</a:t>
                      </a:r>
                    </a:p>
                    <a:p>
                      <a:pPr>
                        <a:lnSpc>
                          <a:spcPct val="105000"/>
                        </a:lnSpc>
                        <a:buNone/>
                      </a:pPr>
                      <a:r>
                        <a:rPr sz="1800" b="0">
                          <a:solidFill>
                            <a:srgbClr val="1B2E43"/>
                          </a:solidFill>
                          <a:latin typeface="Meiryo UI"/>
                          <a:ea typeface="Meiryo UI"/>
                          <a:cs typeface="Meiryo UI"/>
                        </a:rPr>
                        <a:t>番号指定に違反</a:t>
                      </a:r>
                    </a:p>
                  </a:txBody>
                  <a:tcPr marL="91440" marR="91440" marT="45720" marB="45720" anchor="ctr">
                    <a:lnR w="6668">
                      <a:solidFill>
                        <a:srgbClr val="D7E0E8"/>
                      </a:solidFill>
                      <a:prstDash val="solid"/>
                    </a:lnR>
                    <a:lnB w="6668">
                      <a:solidFill>
                        <a:srgbClr val="D7E0E8"/>
                      </a:solidFill>
                      <a:prstDash val="solid"/>
                    </a:lnB>
                    <a:solidFill>
                      <a:srgbClr val="FFFFFF"/>
                    </a:solidFill>
                  </a:tcPr>
                </a:tc>
                <a:tc>
                  <a:txBody>
                    <a:bodyPr wrap="square" lIns="114300" tIns="85725" rIns="114300" bIns="85725">
                      <a:noAutofit/>
                    </a:bodyPr>
                    <a:lstStyle/>
                    <a:p>
                      <a:pPr>
                        <a:lnSpc>
                          <a:spcPct val="105000"/>
                        </a:lnSpc>
                        <a:buNone/>
                      </a:pPr>
                      <a:r>
                        <a:rPr sz="1800" b="0">
                          <a:solidFill>
                            <a:srgbClr val="1B2E43"/>
                          </a:solidFill>
                          <a:latin typeface="Meiryo UI"/>
                          <a:ea typeface="Meiryo UI"/>
                          <a:cs typeface="Meiryo UI"/>
                          <a:hlinkClick xmlns:r="http://schemas.openxmlformats.org/officeDocument/2006/relationships" r:id="Ree63f77d82ba4805"/>
                        </a:rPr>
                        <a:t>116 certificate_required</a:t>
                      </a:r>
                    </a:p>
                    <a:p>
                      <a:pPr>
                        <a:lnSpc>
                          <a:spcPct val="105000"/>
                        </a:lnSpc>
                        <a:buNone/>
                      </a:pPr>
                      <a:r>
                        <a:rPr sz="1800" b="0">
                          <a:solidFill>
                            <a:srgbClr val="1B2E43"/>
                          </a:solidFill>
                          <a:latin typeface="Meiryo UI"/>
                          <a:ea typeface="Meiryo UI"/>
                          <a:cs typeface="Meiryo UI"/>
                        </a:rPr>
                        <a:t>該当経路は整合</a:t>
                      </a:r>
                    </a:p>
                  </a:txBody>
                  <a:tcPr marL="91440" marR="91440" marT="45720" marB="45720" anchor="ctr">
                    <a:lnR w="6668">
                      <a:solidFill>
                        <a:srgbClr val="D7E0E8"/>
                      </a:solidFill>
                      <a:prstDash val="solid"/>
                    </a:lnR>
                    <a:lnB w="6668">
                      <a:solidFill>
                        <a:srgbClr val="D7E0E8"/>
                      </a:solidFill>
                      <a:prstDash val="solid"/>
                    </a:lnB>
                    <a:solidFill>
                      <a:srgbClr val="FFFFFF"/>
                    </a:solidFill>
                  </a:tcPr>
                </a:tc>
              </a:tr>
              <a:tr h="1143000">
                <a:tc>
                  <a:txBody>
                    <a:bodyPr wrap="square" lIns="114300" tIns="85725" rIns="114300" bIns="85725">
                      <a:noAutofit/>
                    </a:bodyPr>
                    <a:lstStyle/>
                    <a:p>
                      <a:pPr>
                        <a:lnSpc>
                          <a:spcPct val="105000"/>
                        </a:lnSpc>
                        <a:buNone/>
                      </a:pPr>
                      <a:r>
                        <a:rPr sz="1800" b="0">
                          <a:solidFill>
                            <a:srgbClr val="1B2E43"/>
                          </a:solidFill>
                          <a:latin typeface="Meiryo UI"/>
                          <a:ea typeface="Meiryo UI"/>
                          <a:cs typeface="Meiryo UI"/>
                        </a:rPr>
                        <a:t>空のサーバーCertificateを受信</a:t>
                      </a:r>
                    </a:p>
                  </a:txBody>
                  <a:tcPr marL="91440" marR="91440" marT="45720" marB="45720" anchor="ctr">
                    <a:lnL w="6668">
                      <a:solidFill>
                        <a:srgbClr val="D7E0E8"/>
                      </a:solidFill>
                      <a:prstDash val="solid"/>
                    </a:lnL>
                    <a:lnR w="6668">
                      <a:solidFill>
                        <a:srgbClr val="D7E0E8"/>
                      </a:solidFill>
                      <a:prstDash val="solid"/>
                    </a:lnR>
                    <a:lnB w="6668">
                      <a:solidFill>
                        <a:srgbClr val="D7E0E8"/>
                      </a:solidFill>
                      <a:prstDash val="solid"/>
                    </a:lnB>
                    <a:solidFill>
                      <a:srgbClr val="F4F7FA"/>
                    </a:solidFill>
                  </a:tcPr>
                </a:tc>
                <a:tc>
                  <a:txBody>
                    <a:bodyPr wrap="square" lIns="114300" tIns="85725" rIns="114300" bIns="85725">
                      <a:noAutofit/>
                    </a:bodyPr>
                    <a:lstStyle/>
                    <a:p>
                      <a:pPr>
                        <a:lnSpc>
                          <a:spcPct val="105000"/>
                        </a:lnSpc>
                        <a:buNone/>
                      </a:pPr>
                      <a:r>
                        <a:rPr sz="1800" b="0">
                          <a:solidFill>
                            <a:srgbClr val="1B2E43"/>
                          </a:solidFill>
                          <a:latin typeface="Meiryo UI"/>
                          <a:ea typeface="Meiryo UI"/>
                          <a:cs typeface="Meiryo UI"/>
                          <a:hlinkClick xmlns:r="http://schemas.openxmlformats.org/officeDocument/2006/relationships" r:id="R533807add1b84b28"/>
                        </a:rPr>
                        <a:t>42 bad_certificate</a:t>
                      </a:r>
                    </a:p>
                    <a:p>
                      <a:pPr>
                        <a:lnSpc>
                          <a:spcPct val="105000"/>
                        </a:lnSpc>
                        <a:buNone/>
                      </a:pPr>
                      <a:r>
                        <a:rPr sz="1800" b="0">
                          <a:solidFill>
                            <a:srgbClr val="1B2E43"/>
                          </a:solidFill>
                          <a:latin typeface="Meiryo UI"/>
                          <a:ea typeface="Meiryo UI"/>
                          <a:cs typeface="Meiryo UI"/>
                        </a:rPr>
                        <a:t>番号指定に違反</a:t>
                      </a:r>
                    </a:p>
                  </a:txBody>
                  <a:tcPr marL="91440" marR="91440" marT="45720" marB="45720" anchor="ctr">
                    <a:lnR w="6668">
                      <a:solidFill>
                        <a:srgbClr val="D7E0E8"/>
                      </a:solidFill>
                      <a:prstDash val="solid"/>
                    </a:lnR>
                    <a:lnB w="6668">
                      <a:solidFill>
                        <a:srgbClr val="D7E0E8"/>
                      </a:solidFill>
                      <a:prstDash val="solid"/>
                    </a:lnB>
                    <a:solidFill>
                      <a:srgbClr val="F4F7FA"/>
                    </a:solidFill>
                  </a:tcPr>
                </a:tc>
                <a:tc>
                  <a:txBody>
                    <a:bodyPr wrap="square" lIns="114300" tIns="85725" rIns="114300" bIns="85725">
                      <a:noAutofit/>
                    </a:bodyPr>
                    <a:lstStyle/>
                    <a:p>
                      <a:pPr>
                        <a:lnSpc>
                          <a:spcPct val="105000"/>
                        </a:lnSpc>
                        <a:buNone/>
                      </a:pPr>
                      <a:r>
                        <a:rPr sz="1800" b="0">
                          <a:solidFill>
                            <a:srgbClr val="1B2E43"/>
                          </a:solidFill>
                          <a:latin typeface="Meiryo UI"/>
                          <a:ea typeface="Meiryo UI"/>
                          <a:cs typeface="Meiryo UI"/>
                          <a:hlinkClick xmlns:r="http://schemas.openxmlformats.org/officeDocument/2006/relationships" r:id="R109cf0b58f3f49ea"/>
                        </a:rPr>
                        <a:t>50 decode_error</a:t>
                      </a:r>
                    </a:p>
                    <a:p>
                      <a:pPr>
                        <a:lnSpc>
                          <a:spcPct val="105000"/>
                        </a:lnSpc>
                        <a:buNone/>
                      </a:pPr>
                      <a:r>
                        <a:rPr sz="1800" b="0">
                          <a:solidFill>
                            <a:srgbClr val="1B2E43"/>
                          </a:solidFill>
                          <a:latin typeface="Meiryo UI"/>
                          <a:ea typeface="Meiryo UI"/>
                          <a:cs typeface="Meiryo UI"/>
                        </a:rPr>
                        <a:t>該当経路は整合</a:t>
                      </a:r>
                    </a:p>
                  </a:txBody>
                  <a:tcPr marL="91440" marR="91440" marT="45720" marB="45720" anchor="ctr">
                    <a:lnR w="6668">
                      <a:solidFill>
                        <a:srgbClr val="D7E0E8"/>
                      </a:solidFill>
                      <a:prstDash val="solid"/>
                    </a:lnR>
                    <a:lnB w="6668">
                      <a:solidFill>
                        <a:srgbClr val="D7E0E8"/>
                      </a:solidFill>
                      <a:prstDash val="solid"/>
                    </a:lnB>
                    <a:solidFill>
                      <a:srgbClr val="F4F7FA"/>
                    </a:solidFill>
                  </a:tcPr>
                </a:tc>
              </a:tr>
              <a:tr h="1143000">
                <a:tc>
                  <a:txBody>
                    <a:bodyPr wrap="square" lIns="114300" tIns="85725" rIns="114300" bIns="85725">
                      <a:noAutofit/>
                    </a:bodyPr>
                    <a:lstStyle/>
                    <a:p>
                      <a:pPr>
                        <a:lnSpc>
                          <a:spcPct val="105000"/>
                        </a:lnSpc>
                        <a:buNone/>
                      </a:pPr>
                      <a:r>
                        <a:rPr sz="1800" b="0">
                          <a:solidFill>
                            <a:srgbClr val="1B2E43"/>
                          </a:solidFill>
                          <a:latin typeface="Meiryo UI"/>
                          <a:ea typeface="Meiryo UI"/>
                          <a:cs typeface="Meiryo UI"/>
                        </a:rPr>
                        <a:t>general_error(117)の定義</a:t>
                      </a:r>
                    </a:p>
                  </a:txBody>
                  <a:tcPr marL="91440" marR="91440" marT="45720" marB="45720" anchor="ctr">
                    <a:lnL w="6668">
                      <a:solidFill>
                        <a:srgbClr val="D7E0E8"/>
                      </a:solidFill>
                      <a:prstDash val="solid"/>
                    </a:lnL>
                    <a:lnR w="6668">
                      <a:solidFill>
                        <a:srgbClr val="D7E0E8"/>
                      </a:solidFill>
                      <a:prstDash val="solid"/>
                    </a:lnR>
                    <a:lnB w="6668">
                      <a:solidFill>
                        <a:srgbClr val="D7E0E8"/>
                      </a:solidFill>
                      <a:prstDash val="solid"/>
                    </a:lnB>
                    <a:solidFill>
                      <a:srgbClr val="FFFFFF"/>
                    </a:solidFill>
                  </a:tcPr>
                </a:tc>
                <a:tc>
                  <a:txBody>
                    <a:bodyPr wrap="square" lIns="114300" tIns="85725" rIns="114300" bIns="85725">
                      <a:noAutofit/>
                    </a:bodyPr>
                    <a:lstStyle/>
                    <a:p>
                      <a:pPr>
                        <a:lnSpc>
                          <a:spcPct val="105000"/>
                        </a:lnSpc>
                        <a:buNone/>
                      </a:pPr>
                      <a:r>
                        <a:rPr sz="1800" b="0">
                          <a:solidFill>
                            <a:srgbClr val="1B2E43"/>
                          </a:solidFill>
                          <a:latin typeface="Meiryo UI"/>
                          <a:ea typeface="Meiryo UI"/>
                          <a:cs typeface="Meiryo UI"/>
                        </a:rPr>
                        <a:t>なし</a:t>
                      </a:r>
                    </a:p>
                  </a:txBody>
                  <a:tcPr marL="91440" marR="91440" marT="45720" marB="45720" anchor="ctr">
                    <a:lnR w="6668">
                      <a:solidFill>
                        <a:srgbClr val="D7E0E8"/>
                      </a:solidFill>
                      <a:prstDash val="solid"/>
                    </a:lnR>
                    <a:lnB w="6668">
                      <a:solidFill>
                        <a:srgbClr val="D7E0E8"/>
                      </a:solidFill>
                      <a:prstDash val="solid"/>
                    </a:lnB>
                    <a:solidFill>
                      <a:srgbClr val="FFFFFF"/>
                    </a:solidFill>
                  </a:tcPr>
                </a:tc>
                <a:tc>
                  <a:txBody>
                    <a:bodyPr wrap="square" lIns="114300" tIns="85725" rIns="114300" bIns="85725">
                      <a:noAutofit/>
                    </a:bodyPr>
                    <a:lstStyle/>
                    <a:p>
                      <a:pPr>
                        <a:lnSpc>
                          <a:spcPct val="105000"/>
                        </a:lnSpc>
                        <a:buNone/>
                      </a:pPr>
                      <a:r>
                        <a:rPr sz="1800" b="0">
                          <a:solidFill>
                            <a:srgbClr val="1B2E43"/>
                          </a:solidFill>
                          <a:latin typeface="Meiryo UI"/>
                          <a:ea typeface="Meiryo UI"/>
                          <a:cs typeface="Meiryo UI"/>
                        </a:rPr>
                        <a:t>なし</a:t>
                      </a:r>
                    </a:p>
                  </a:txBody>
                  <a:tcPr marL="91440" marR="91440" marT="45720" marB="45720" anchor="ctr">
                    <a:lnR w="6668">
                      <a:solidFill>
                        <a:srgbClr val="D7E0E8"/>
                      </a:solidFill>
                      <a:prstDash val="solid"/>
                    </a:lnR>
                    <a:lnB w="6668">
                      <a:solidFill>
                        <a:srgbClr val="D7E0E8"/>
                      </a:solidFill>
                      <a:prstDash val="solid"/>
                    </a:lnB>
                    <a:solidFill>
                      <a:srgbClr val="FFFFFF"/>
                    </a:solidFill>
                  </a:tcPr>
                </a:tc>
              </a:tr>
            </a:tbl>
          </a:graphicData>
        </a:graphic>
      </p:graphicFrame>
      <p:sp>
        <p:nvSpPr>
          <p:cNvPr id="5" name="text-4">
            <a:extLst xmlns:a="http://schemas.openxmlformats.org/drawingml/2006/main">
              <a:ext uri="{FF2B5EF4-FFF2-40B4-BE49-F238E27FC236}">
                <a16:creationId xmlns:a16="http://schemas.microsoft.com/office/drawing/2014/main" id="{8AB3436B-21D7-4A07-ACC1-F6D115ED585F}"/>
              </a:ext>
            </a:extLst>
          </p:cNvPr>
          <p:cNvSpPr>
            <a:spLocks xmlns:a="http://schemas.openxmlformats.org/drawingml/2006/main" noGrp="1"/>
          </p:cNvSpPr>
          <p:nvPr/>
        </p:nvSpPr>
        <p:spPr>
          <a:xfrm xmlns:a="http://schemas.openxmlformats.org/drawingml/2006/main">
            <a:off x="609600" y="57150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06579"/>
                </a:solidFill>
                <a:latin typeface="Meiryo UI"/>
                <a:ea typeface="Meiryo UI"/>
                <a:cs typeface="Meiryo UI"/>
              </a:defRPr>
            </a:defPPr>
          </a:lstStyle>
          <a:p xmlns:a="http://schemas.openxmlformats.org/drawingml/2006/main">
            <a:pPr>
              <a:lnSpc>
                <a:spcPct val="110000"/>
              </a:lnSpc>
              <a:buNone/>
              <a:defRPr sz="1725" b="0">
                <a:solidFill>
                  <a:srgbClr val="506579"/>
                </a:solidFill>
                <a:latin typeface="Meiryo UI"/>
                <a:ea typeface="Meiryo UI"/>
                <a:cs typeface="Meiryo UI"/>
              </a:defRPr>
            </a:pPr>
            <a:r>
              <a:rPr sz="1725" b="0">
                <a:solidFill>
                  <a:srgbClr val="506579"/>
                </a:solidFill>
                <a:latin typeface="Meiryo UI"/>
                <a:ea typeface="Meiryo UI"/>
                <a:cs typeface="Meiryo UI"/>
              </a:rPr>
              <a:t>本資料の主判定は21.0.12+8。各ベンダー配布物や他更新版への適用は別途確認が必要。</a:t>
            </a:r>
          </a:p>
        </p:txBody>
      </p:sp>
    </p:spTree>
    <p:extLst>
      <p:ext uri="{BB962C8B-B14F-4D97-AF65-F5344CB8AC3E}">
        <p14:creationId xmlns:p14="http://schemas.microsoft.com/office/powerpoint/2010/main" val="39184089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1">
            <a:extLst xmlns:a="http://schemas.openxmlformats.org/drawingml/2006/main">
              <a:ext uri="{FF2B5EF4-FFF2-40B4-BE49-F238E27FC236}">
                <a16:creationId xmlns:a16="http://schemas.microsoft.com/office/drawing/2014/main" id="{5800C3FD-D8DA-44D1-8B34-BABD7A24BFA0}"/>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D48"/>
                </a:solidFill>
                <a:latin typeface="Meiryo UI"/>
                <a:ea typeface="Meiryo UI"/>
                <a:cs typeface="Meiryo UI"/>
              </a:defRPr>
            </a:defPPr>
          </a:lstStyle>
          <a:p xmlns:a="http://schemas.openxmlformats.org/drawingml/2006/main">
            <a:pPr>
              <a:lnSpc>
                <a:spcPct val="110000"/>
              </a:lnSpc>
              <a:buNone/>
              <a:defRPr sz="3300" b="1">
                <a:solidFill>
                  <a:srgbClr val="152D48"/>
                </a:solidFill>
                <a:latin typeface="Meiryo UI"/>
                <a:ea typeface="Meiryo UI"/>
                <a:cs typeface="Meiryo UI"/>
              </a:defRPr>
            </a:pPr>
            <a:r>
              <a:rPr sz="3300" b="1">
                <a:solidFill>
                  <a:srgbClr val="152D48"/>
                </a:solidFill>
                <a:latin typeface="Meiryo UI"/>
                <a:ea typeface="Meiryo UI"/>
                <a:cs typeface="Meiryo UI"/>
              </a:rPr>
              <a:t>静的調査とテスト未実施の限界</a:t>
            </a:r>
          </a:p>
        </p:txBody>
      </p:sp>
      <p:sp>
        <p:nvSpPr>
          <p:cNvPr id="2" name="text-2">
            <a:extLst xmlns:a="http://schemas.openxmlformats.org/drawingml/2006/main">
              <a:ext uri="{FF2B5EF4-FFF2-40B4-BE49-F238E27FC236}">
                <a16:creationId xmlns:a16="http://schemas.microsoft.com/office/drawing/2014/main" id="{06032B8D-4298-48D4-9799-7E7DEFF22732}"/>
              </a:ext>
            </a:extLst>
          </p:cNvPr>
          <p:cNvSpPr>
            <a:spLocks xmlns:a="http://schemas.openxmlformats.org/drawingml/2006/main" noGrp="1"/>
          </p:cNvSpPr>
          <p:nvPr/>
        </p:nvSpPr>
        <p:spPr>
          <a:xfrm xmlns:a="http://schemas.openxmlformats.org/drawingml/2006/main">
            <a:off x="11049000" y="644842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06579"/>
                </a:solidFill>
                <a:latin typeface="Meiryo UI"/>
                <a:ea typeface="Meiryo UI"/>
                <a:cs typeface="Meiryo UI"/>
              </a:defRPr>
            </a:defPPr>
          </a:lstStyle>
          <a:p xmlns:a="http://schemas.openxmlformats.org/drawingml/2006/main">
            <a:pPr>
              <a:lnSpc>
                <a:spcPct val="110000"/>
              </a:lnSpc>
              <a:buNone/>
              <a:defRPr sz="1275" b="0">
                <a:solidFill>
                  <a:srgbClr val="506579"/>
                </a:solidFill>
                <a:latin typeface="Meiryo UI"/>
                <a:ea typeface="Meiryo UI"/>
                <a:cs typeface="Meiryo UI"/>
              </a:defRPr>
            </a:pPr>
            <a:r>
              <a:rPr sz="1275" b="0">
                <a:solidFill>
                  <a:srgbClr val="506579"/>
                </a:solidFill>
                <a:latin typeface="Meiryo UI"/>
                <a:ea typeface="Meiryo UI"/>
                <a:cs typeface="Meiryo UI"/>
              </a:rPr>
              <a:t>13</a:t>
            </a:r>
          </a:p>
        </p:txBody>
      </p:sp>
      <p:sp>
        <p:nvSpPr>
          <p:cNvPr id="3" name="text-3">
            <a:extLst xmlns:a="http://schemas.openxmlformats.org/drawingml/2006/main">
              <a:ext uri="{FF2B5EF4-FFF2-40B4-BE49-F238E27FC236}">
                <a16:creationId xmlns:a16="http://schemas.microsoft.com/office/drawing/2014/main" id="{3167CA25-DE20-457A-AE4E-DC2693D9EA73}"/>
              </a:ext>
            </a:extLst>
          </p:cNvPr>
          <p:cNvSpPr>
            <a:spLocks xmlns:a="http://schemas.openxmlformats.org/drawingml/2006/main" noGrp="1"/>
          </p:cNvSpPr>
          <p:nvPr/>
        </p:nvSpPr>
        <p:spPr>
          <a:xfrm xmlns:a="http://schemas.openxmlformats.org/drawingml/2006/main">
            <a:off x="609600" y="15049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52D48"/>
                </a:solidFill>
                <a:latin typeface="Meiryo UI"/>
                <a:ea typeface="Meiryo UI"/>
                <a:cs typeface="Meiryo UI"/>
              </a:defRPr>
            </a:defPPr>
          </a:lstStyle>
          <a:p xmlns:a="http://schemas.openxmlformats.org/drawingml/2006/main">
            <a:pPr>
              <a:lnSpc>
                <a:spcPct val="110000"/>
              </a:lnSpc>
              <a:buNone/>
              <a:defRPr sz="2175" b="1">
                <a:solidFill>
                  <a:srgbClr val="152D48"/>
                </a:solidFill>
                <a:latin typeface="Meiryo UI"/>
                <a:ea typeface="Meiryo UI"/>
                <a:cs typeface="Meiryo UI"/>
              </a:defRPr>
            </a:pPr>
            <a:r>
              <a:rPr sz="2175" b="1">
                <a:solidFill>
                  <a:srgbClr val="152D48"/>
                </a:solidFill>
                <a:latin typeface="Meiryo UI"/>
                <a:ea typeface="Meiryo UI"/>
                <a:cs typeface="Meiryo UI"/>
              </a:rPr>
              <a:t>全入力・全経路の適合は未証明</a:t>
            </a:r>
          </a:p>
        </p:txBody>
      </p:sp>
      <p:sp>
        <p:nvSpPr>
          <p:cNvPr id="4" name="text-4">
            <a:extLst xmlns:a="http://schemas.openxmlformats.org/drawingml/2006/main">
              <a:ext uri="{FF2B5EF4-FFF2-40B4-BE49-F238E27FC236}">
                <a16:creationId xmlns:a16="http://schemas.microsoft.com/office/drawing/2014/main" id="{8F8C5B07-15FF-43A1-8D33-AC34FEB3B4F7}"/>
              </a:ext>
            </a:extLst>
          </p:cNvPr>
          <p:cNvSpPr>
            <a:spLocks xmlns:a="http://schemas.openxmlformats.org/drawingml/2006/main" noGrp="1"/>
          </p:cNvSpPr>
          <p:nvPr/>
        </p:nvSpPr>
        <p:spPr>
          <a:xfrm xmlns:a="http://schemas.openxmlformats.org/drawingml/2006/main">
            <a:off x="609600" y="190500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B2E43"/>
                </a:solidFill>
                <a:latin typeface="Meiryo UI"/>
                <a:ea typeface="Meiryo UI"/>
                <a:cs typeface="Meiryo UI"/>
              </a:defRPr>
            </a:defPPr>
          </a:lstStyle>
          <a:p xmlns:a="http://schemas.openxmlformats.org/drawingml/2006/main">
            <a:pPr>
              <a:lnSpc>
                <a:spcPct val="110000"/>
              </a:lnSpc>
              <a:buNone/>
              <a:defRPr sz="1875" b="0">
                <a:solidFill>
                  <a:srgbClr val="1B2E43"/>
                </a:solidFill>
                <a:latin typeface="Meiryo UI"/>
                <a:ea typeface="Meiryo UI"/>
                <a:cs typeface="Meiryo UI"/>
              </a:defRPr>
            </a:pPr>
            <a:r>
              <a:rPr sz="1875" b="0">
                <a:solidFill>
                  <a:srgbClr val="1B2E43"/>
                </a:solidFill>
                <a:latin typeface="Meiryo UI"/>
                <a:ea typeface="Meiryo UI"/>
                <a:cs typeface="Meiryo UI"/>
              </a:rPr>
              <a:t>網羅対象は26種類と、指定ソース範囲の明示参照。</a:t>
            </a:r>
          </a:p>
          <a:p xmlns:a="http://schemas.openxmlformats.org/drawingml/2006/main">
            <a:pPr>
              <a:lnSpc>
                <a:spcPct val="110000"/>
              </a:lnSpc>
              <a:buNone/>
              <a:defRPr sz="1875" b="0">
                <a:solidFill>
                  <a:srgbClr val="1B2E43"/>
                </a:solidFill>
                <a:latin typeface="Meiryo UI"/>
                <a:ea typeface="Meiryo UI"/>
                <a:cs typeface="Meiryo UI"/>
              </a:defRPr>
            </a:pPr>
            <a:r>
              <a:rPr sz="1875" b="0">
                <a:solidFill>
                  <a:srgbClr val="1B2E43"/>
                </a:solidFill>
                <a:latin typeface="Meiryo UI"/>
                <a:ea typeface="Meiryo UI"/>
                <a:cs typeface="Meiryo UI"/>
              </a:rPr>
              <a:t>ビルド・異常入力・実接続・パケット確認は未実施。</a:t>
            </a:r>
          </a:p>
        </p:txBody>
      </p:sp>
      <p:sp>
        <p:nvSpPr>
          <p:cNvPr id="5" name="text-5">
            <a:extLst xmlns:a="http://schemas.openxmlformats.org/drawingml/2006/main">
              <a:ext uri="{FF2B5EF4-FFF2-40B4-BE49-F238E27FC236}">
                <a16:creationId xmlns:a16="http://schemas.microsoft.com/office/drawing/2014/main" id="{2D4E519C-9B3A-4455-AB66-F7BEF04BA7D3}"/>
              </a:ext>
            </a:extLst>
          </p:cNvPr>
          <p:cNvSpPr>
            <a:spLocks xmlns:a="http://schemas.openxmlformats.org/drawingml/2006/main" noGrp="1"/>
          </p:cNvSpPr>
          <p:nvPr/>
        </p:nvSpPr>
        <p:spPr>
          <a:xfrm xmlns:a="http://schemas.openxmlformats.org/drawingml/2006/main">
            <a:off x="609600" y="26289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52D48"/>
                </a:solidFill>
                <a:latin typeface="Meiryo UI"/>
                <a:ea typeface="Meiryo UI"/>
                <a:cs typeface="Meiryo UI"/>
              </a:defRPr>
            </a:defPPr>
          </a:lstStyle>
          <a:p xmlns:a="http://schemas.openxmlformats.org/drawingml/2006/main">
            <a:pPr>
              <a:lnSpc>
                <a:spcPct val="110000"/>
              </a:lnSpc>
              <a:buNone/>
              <a:defRPr sz="2175" b="1">
                <a:solidFill>
                  <a:srgbClr val="152D48"/>
                </a:solidFill>
                <a:latin typeface="Meiryo UI"/>
                <a:ea typeface="Meiryo UI"/>
                <a:cs typeface="Meiryo UI"/>
              </a:defRPr>
            </a:pPr>
            <a:r>
              <a:rPr sz="2175" b="1">
                <a:solidFill>
                  <a:srgbClr val="152D48"/>
                </a:solidFill>
                <a:latin typeface="Meiryo UI"/>
                <a:ea typeface="Meiryo UI"/>
                <a:cs typeface="Meiryo UI"/>
              </a:rPr>
              <a:t>番号選択と通信上の送信は別</a:t>
            </a:r>
          </a:p>
        </p:txBody>
      </p:sp>
      <p:sp>
        <p:nvSpPr>
          <p:cNvPr id="6" name="text-6">
            <a:extLst xmlns:a="http://schemas.openxmlformats.org/drawingml/2006/main">
              <a:ext uri="{FF2B5EF4-FFF2-40B4-BE49-F238E27FC236}">
                <a16:creationId xmlns:a16="http://schemas.microsoft.com/office/drawing/2014/main" id="{FC5723F6-5650-4F86-8F40-33FAB9B18B8A}"/>
              </a:ext>
            </a:extLst>
          </p:cNvPr>
          <p:cNvSpPr>
            <a:spLocks xmlns:a="http://schemas.openxmlformats.org/drawingml/2006/main" noGrp="1"/>
          </p:cNvSpPr>
          <p:nvPr/>
        </p:nvSpPr>
        <p:spPr>
          <a:xfrm xmlns:a="http://schemas.openxmlformats.org/drawingml/2006/main">
            <a:off x="609600" y="30289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B2E43"/>
                </a:solidFill>
                <a:latin typeface="Meiryo UI"/>
                <a:ea typeface="Meiryo UI"/>
                <a:cs typeface="Meiryo UI"/>
              </a:defRPr>
            </a:defPPr>
          </a:lstStyle>
          <a:p xmlns:a="http://schemas.openxmlformats.org/drawingml/2006/main">
            <a:pPr>
              <a:lnSpc>
                <a:spcPct val="110000"/>
              </a:lnSpc>
              <a:buNone/>
              <a:defRPr sz="1875" b="0">
                <a:solidFill>
                  <a:srgbClr val="1B2E43"/>
                </a:solidFill>
                <a:latin typeface="Meiryo UI"/>
                <a:ea typeface="Meiryo UI"/>
                <a:cs typeface="Meiryo UI"/>
              </a:defRPr>
            </a:pPr>
            <a:r>
              <a:rPr sz="1875" b="0">
                <a:solidFill>
                  <a:srgbClr val="1B2E43"/>
                </a:solidFill>
                <a:latin typeface="Meiryo UI"/>
                <a:ea typeface="Meiryo UI"/>
                <a:cs typeface="Meiryo UI"/>
              </a:rPr>
              <a:t>接続状態やI/Oエラーで送信を抑止する。</a:t>
            </a:r>
          </a:p>
          <a:p xmlns:a="http://schemas.openxmlformats.org/drawingml/2006/main">
            <a:pPr>
              <a:lnSpc>
                <a:spcPct val="110000"/>
              </a:lnSpc>
              <a:buNone/>
              <a:defRPr sz="1875" b="0">
                <a:solidFill>
                  <a:srgbClr val="1B2E43"/>
                </a:solidFill>
                <a:latin typeface="Meiryo UI"/>
                <a:ea typeface="Meiryo UI"/>
                <a:cs typeface="Meiryo UI"/>
              </a:defRPr>
            </a:pPr>
            <a:r>
              <a:rPr sz="1875" b="0">
                <a:solidFill>
                  <a:srgbClr val="1B2E43"/>
                </a:solidFill>
                <a:latin typeface="Meiryo UI"/>
                <a:ea typeface="Meiryo UI"/>
                <a:cs typeface="Meiryo UI"/>
              </a:rPr>
              <a:t>SSLEngineはキューへの格納後、アプリの出力転送が必要。</a:t>
            </a:r>
          </a:p>
        </p:txBody>
      </p:sp>
      <p:sp>
        <p:nvSpPr>
          <p:cNvPr id="7" name="text-7">
            <a:extLst xmlns:a="http://schemas.openxmlformats.org/drawingml/2006/main">
              <a:ext uri="{FF2B5EF4-FFF2-40B4-BE49-F238E27FC236}">
                <a16:creationId xmlns:a16="http://schemas.microsoft.com/office/drawing/2014/main" id="{76193D21-371F-493B-97E5-45153A059EBF}"/>
              </a:ext>
            </a:extLst>
          </p:cNvPr>
          <p:cNvSpPr>
            <a:spLocks xmlns:a="http://schemas.openxmlformats.org/drawingml/2006/main" noGrp="1"/>
          </p:cNvSpPr>
          <p:nvPr/>
        </p:nvSpPr>
        <p:spPr>
          <a:xfrm xmlns:a="http://schemas.openxmlformats.org/drawingml/2006/main">
            <a:off x="609600" y="37528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52D48"/>
                </a:solidFill>
                <a:latin typeface="Meiryo UI"/>
                <a:ea typeface="Meiryo UI"/>
                <a:cs typeface="Meiryo UI"/>
              </a:defRPr>
            </a:defPPr>
          </a:lstStyle>
          <a:p xmlns:a="http://schemas.openxmlformats.org/drawingml/2006/main">
            <a:pPr>
              <a:lnSpc>
                <a:spcPct val="110000"/>
              </a:lnSpc>
              <a:buNone/>
              <a:defRPr sz="2175" b="1">
                <a:solidFill>
                  <a:srgbClr val="152D48"/>
                </a:solidFill>
                <a:latin typeface="Meiryo UI"/>
                <a:ea typeface="Meiryo UI"/>
                <a:cs typeface="Meiryo UI"/>
              </a:defRPr>
            </a:pPr>
            <a:r>
              <a:rPr sz="2175" b="1">
                <a:solidFill>
                  <a:srgbClr val="152D48"/>
                </a:solidFill>
                <a:latin typeface="Meiryo UI"/>
                <a:ea typeface="Meiryo UI"/>
                <a:cs typeface="Meiryo UI"/>
              </a:rPr>
              <a:t>設定と例外構造に依存</a:t>
            </a:r>
          </a:p>
        </p:txBody>
      </p:sp>
      <p:sp>
        <p:nvSpPr>
          <p:cNvPr id="8" name="text-8">
            <a:extLst xmlns:a="http://schemas.openxmlformats.org/drawingml/2006/main">
              <a:ext uri="{FF2B5EF4-FFF2-40B4-BE49-F238E27FC236}">
                <a16:creationId xmlns:a16="http://schemas.microsoft.com/office/drawing/2014/main" id="{D1653E00-A049-4A23-A213-A7F93BC16CAA}"/>
              </a:ext>
            </a:extLst>
          </p:cNvPr>
          <p:cNvSpPr>
            <a:spLocks xmlns:a="http://schemas.openxmlformats.org/drawingml/2006/main" noGrp="1"/>
          </p:cNvSpPr>
          <p:nvPr/>
        </p:nvSpPr>
        <p:spPr>
          <a:xfrm xmlns:a="http://schemas.openxmlformats.org/drawingml/2006/main">
            <a:off x="609600" y="415290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B2E43"/>
                </a:solidFill>
                <a:latin typeface="Meiryo UI"/>
                <a:ea typeface="Meiryo UI"/>
                <a:cs typeface="Meiryo UI"/>
              </a:defRPr>
            </a:defPPr>
          </a:lstStyle>
          <a:p xmlns:a="http://schemas.openxmlformats.org/drawingml/2006/main">
            <a:pPr>
              <a:lnSpc>
                <a:spcPct val="110000"/>
              </a:lnSpc>
              <a:buNone/>
              <a:defRPr sz="1875" b="0">
                <a:solidFill>
                  <a:srgbClr val="1B2E43"/>
                </a:solidFill>
                <a:latin typeface="Meiryo UI"/>
                <a:ea typeface="Meiryo UI"/>
                <a:cs typeface="Meiryo UI"/>
              </a:defRPr>
            </a:pPr>
            <a:r>
              <a:rPr sz="1875" b="0">
                <a:solidFill>
                  <a:srgbClr val="1B2E43"/>
                </a:solidFill>
                <a:latin typeface="Meiryo UI"/>
                <a:ea typeface="Meiryo UI"/>
                <a:cs typeface="Meiryo UI"/>
              </a:rPr>
              <a:t>TrustManager、失効検査、OCSP、アルゴリズム制約、</a:t>
            </a:r>
          </a:p>
          <a:p xmlns:a="http://schemas.openxmlformats.org/drawingml/2006/main">
            <a:pPr>
              <a:lnSpc>
                <a:spcPct val="110000"/>
              </a:lnSpc>
              <a:buNone/>
              <a:defRPr sz="1875" b="0">
                <a:solidFill>
                  <a:srgbClr val="1B2E43"/>
                </a:solidFill>
                <a:latin typeface="Meiryo UI"/>
                <a:ea typeface="Meiryo UI"/>
                <a:cs typeface="Meiryo UI"/>
              </a:defRPr>
            </a:pPr>
            <a:r>
              <a:rPr sz="1875" b="0">
                <a:solidFill>
                  <a:srgbClr val="1B2E43"/>
                </a:solidFill>
                <a:latin typeface="Meiryo UI"/>
                <a:ea typeface="Meiryo UI"/>
                <a:cs typeface="Meiryo UI"/>
              </a:rPr>
              <a:t>SNI、ALPN、クライアント認証設定で到達分岐が変わる。</a:t>
            </a:r>
          </a:p>
        </p:txBody>
      </p:sp>
      <p:sp>
        <p:nvSpPr>
          <p:cNvPr id="9" name="text-9">
            <a:extLst xmlns:a="http://schemas.openxmlformats.org/drawingml/2006/main">
              <a:ext uri="{FF2B5EF4-FFF2-40B4-BE49-F238E27FC236}">
                <a16:creationId xmlns:a16="http://schemas.microsoft.com/office/drawing/2014/main" id="{91D52374-59CF-4DC0-B6B0-390A75A1BFF3}"/>
              </a:ext>
            </a:extLst>
          </p:cNvPr>
          <p:cNvSpPr>
            <a:spLocks xmlns:a="http://schemas.openxmlformats.org/drawingml/2006/main" noGrp="1"/>
          </p:cNvSpPr>
          <p:nvPr/>
        </p:nvSpPr>
        <p:spPr>
          <a:xfrm xmlns:a="http://schemas.openxmlformats.org/drawingml/2006/main">
            <a:off x="609600" y="48768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52D48"/>
                </a:solidFill>
                <a:latin typeface="Meiryo UI"/>
                <a:ea typeface="Meiryo UI"/>
                <a:cs typeface="Meiryo UI"/>
              </a:defRPr>
            </a:defPPr>
          </a:lstStyle>
          <a:p xmlns:a="http://schemas.openxmlformats.org/drawingml/2006/main">
            <a:pPr>
              <a:lnSpc>
                <a:spcPct val="110000"/>
              </a:lnSpc>
              <a:buNone/>
              <a:defRPr sz="2175" b="1">
                <a:solidFill>
                  <a:srgbClr val="152D48"/>
                </a:solidFill>
                <a:latin typeface="Meiryo UI"/>
                <a:ea typeface="Meiryo UI"/>
                <a:cs typeface="Meiryo UI"/>
              </a:defRPr>
            </a:pPr>
            <a:r>
              <a:rPr sz="2175" b="1">
                <a:solidFill>
                  <a:srgbClr val="152D48"/>
                </a:solidFill>
                <a:latin typeface="Meiryo UI"/>
                <a:ea typeface="Meiryo UI"/>
                <a:cs typeface="Meiryo UI"/>
              </a:rPr>
              <a:t>判定行数は不具合件数ではない</a:t>
            </a:r>
          </a:p>
        </p:txBody>
      </p:sp>
      <p:sp>
        <p:nvSpPr>
          <p:cNvPr id="10" name="text-10">
            <a:extLst xmlns:a="http://schemas.openxmlformats.org/drawingml/2006/main">
              <a:ext uri="{FF2B5EF4-FFF2-40B4-BE49-F238E27FC236}">
                <a16:creationId xmlns:a16="http://schemas.microsoft.com/office/drawing/2014/main" id="{9252E99B-6C57-4E49-B78A-8575BF49655B}"/>
              </a:ext>
            </a:extLst>
          </p:cNvPr>
          <p:cNvSpPr>
            <a:spLocks xmlns:a="http://schemas.openxmlformats.org/drawingml/2006/main" noGrp="1"/>
          </p:cNvSpPr>
          <p:nvPr/>
        </p:nvSpPr>
        <p:spPr>
          <a:xfrm xmlns:a="http://schemas.openxmlformats.org/drawingml/2006/main">
            <a:off x="609600" y="52768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B2E43"/>
                </a:solidFill>
                <a:latin typeface="Meiryo UI"/>
                <a:ea typeface="Meiryo UI"/>
                <a:cs typeface="Meiryo UI"/>
              </a:defRPr>
            </a:defPPr>
          </a:lstStyle>
          <a:p xmlns:a="http://schemas.openxmlformats.org/drawingml/2006/main">
            <a:pPr>
              <a:lnSpc>
                <a:spcPct val="110000"/>
              </a:lnSpc>
              <a:buNone/>
              <a:defRPr sz="1875" b="0">
                <a:solidFill>
                  <a:srgbClr val="1B2E43"/>
                </a:solidFill>
                <a:latin typeface="Meiryo UI"/>
                <a:ea typeface="Meiryo UI"/>
                <a:cs typeface="Meiryo UI"/>
              </a:defRPr>
            </a:pPr>
            <a:r>
              <a:rPr sz="1875" b="0">
                <a:solidFill>
                  <a:srgbClr val="1B2E43"/>
                </a:solidFill>
                <a:latin typeface="Meiryo UI"/>
                <a:ea typeface="Meiryo UI"/>
                <a:cs typeface="Meiryo UI"/>
              </a:rPr>
              <a:t>同じ事象を期待番号・実装番号の両行に記載する。</a:t>
            </a:r>
          </a:p>
          <a:p xmlns:a="http://schemas.openxmlformats.org/drawingml/2006/main">
            <a:pPr>
              <a:lnSpc>
                <a:spcPct val="110000"/>
              </a:lnSpc>
              <a:buNone/>
              <a:defRPr sz="1875" b="0">
                <a:solidFill>
                  <a:srgbClr val="1B2E43"/>
                </a:solidFill>
                <a:latin typeface="Meiryo UI"/>
                <a:ea typeface="Meiryo UI"/>
                <a:cs typeface="Meiryo UI"/>
              </a:defRPr>
            </a:pPr>
            <a:r>
              <a:rPr sz="1875" b="0">
                <a:solidFill>
                  <a:srgbClr val="1B2E43"/>
                </a:solidFill>
                <a:latin typeface="Meiryo UI"/>
                <a:ea typeface="Meiryo UI"/>
                <a:cs typeface="Meiryo UI"/>
              </a:rPr>
              <a:t>違反未確認も、全条件での適合を意味しない。</a:t>
            </a:r>
          </a:p>
        </p:txBody>
      </p:sp>
    </p:spTree>
    <p:extLst>
      <p:ext uri="{BB962C8B-B14F-4D97-AF65-F5344CB8AC3E}">
        <p14:creationId xmlns:p14="http://schemas.microsoft.com/office/powerpoint/2010/main" val="40952900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1">
            <a:extLst xmlns:a="http://schemas.openxmlformats.org/drawingml/2006/main">
              <a:ext uri="{FF2B5EF4-FFF2-40B4-BE49-F238E27FC236}">
                <a16:creationId xmlns:a16="http://schemas.microsoft.com/office/drawing/2014/main" id="{E03BAF3B-699B-4061-9FA0-A7AC9F7D58AB}"/>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D48"/>
                </a:solidFill>
                <a:latin typeface="Meiryo UI"/>
                <a:ea typeface="Meiryo UI"/>
                <a:cs typeface="Meiryo UI"/>
              </a:defRPr>
            </a:defPPr>
          </a:lstStyle>
          <a:p xmlns:a="http://schemas.openxmlformats.org/drawingml/2006/main">
            <a:pPr>
              <a:lnSpc>
                <a:spcPct val="110000"/>
              </a:lnSpc>
              <a:buNone/>
              <a:defRPr sz="3300" b="1">
                <a:solidFill>
                  <a:srgbClr val="152D48"/>
                </a:solidFill>
                <a:latin typeface="Meiryo UI"/>
                <a:ea typeface="Meiryo UI"/>
                <a:cs typeface="Meiryo UI"/>
              </a:defRPr>
            </a:pPr>
            <a:r>
              <a:rPr sz="3300" b="1">
                <a:solidFill>
                  <a:srgbClr val="152D48"/>
                </a:solidFill>
                <a:latin typeface="Meiryo UI"/>
                <a:ea typeface="Meiryo UI"/>
                <a:cs typeface="Meiryo UI"/>
              </a:rPr>
              <a:t>根拠資料と参照方法</a:t>
            </a:r>
          </a:p>
        </p:txBody>
      </p:sp>
      <p:sp>
        <p:nvSpPr>
          <p:cNvPr id="2" name="text-2">
            <a:extLst xmlns:a="http://schemas.openxmlformats.org/drawingml/2006/main">
              <a:ext uri="{FF2B5EF4-FFF2-40B4-BE49-F238E27FC236}">
                <a16:creationId xmlns:a16="http://schemas.microsoft.com/office/drawing/2014/main" id="{530A3C5F-8F1C-4B85-B7F2-14C62F896F74}"/>
              </a:ext>
            </a:extLst>
          </p:cNvPr>
          <p:cNvSpPr>
            <a:spLocks xmlns:a="http://schemas.openxmlformats.org/drawingml/2006/main" noGrp="1"/>
          </p:cNvSpPr>
          <p:nvPr/>
        </p:nvSpPr>
        <p:spPr>
          <a:xfrm xmlns:a="http://schemas.openxmlformats.org/drawingml/2006/main">
            <a:off x="11049000" y="644842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06579"/>
                </a:solidFill>
                <a:latin typeface="Meiryo UI"/>
                <a:ea typeface="Meiryo UI"/>
                <a:cs typeface="Meiryo UI"/>
              </a:defRPr>
            </a:defPPr>
          </a:lstStyle>
          <a:p xmlns:a="http://schemas.openxmlformats.org/drawingml/2006/main">
            <a:pPr>
              <a:lnSpc>
                <a:spcPct val="110000"/>
              </a:lnSpc>
              <a:buNone/>
              <a:defRPr sz="1275" b="0">
                <a:solidFill>
                  <a:srgbClr val="506579"/>
                </a:solidFill>
                <a:latin typeface="Meiryo UI"/>
                <a:ea typeface="Meiryo UI"/>
                <a:cs typeface="Meiryo UI"/>
              </a:defRPr>
            </a:pPr>
            <a:r>
              <a:rPr sz="1275" b="0">
                <a:solidFill>
                  <a:srgbClr val="506579"/>
                </a:solidFill>
                <a:latin typeface="Meiryo UI"/>
                <a:ea typeface="Meiryo UI"/>
                <a:cs typeface="Meiryo UI"/>
              </a:rPr>
              <a:t>14</a:t>
            </a:r>
          </a:p>
        </p:txBody>
      </p:sp>
      <p:sp>
        <p:nvSpPr>
          <p:cNvPr id="3" name="text-3">
            <a:extLst xmlns:a="http://schemas.openxmlformats.org/drawingml/2006/main">
              <a:ext uri="{FF2B5EF4-FFF2-40B4-BE49-F238E27FC236}">
                <a16:creationId xmlns:a16="http://schemas.microsoft.com/office/drawing/2014/main" id="{6799E99D-000C-4CEB-AF24-DC4A6FD99EF6}"/>
              </a:ext>
            </a:extLst>
          </p:cNvPr>
          <p:cNvSpPr>
            <a:spLocks xmlns:a="http://schemas.openxmlformats.org/drawingml/2006/main" noGrp="1"/>
          </p:cNvSpPr>
          <p:nvPr/>
        </p:nvSpPr>
        <p:spPr>
          <a:xfrm xmlns:a="http://schemas.openxmlformats.org/drawingml/2006/main">
            <a:off x="609600" y="14763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6DA5"/>
                </a:solidFill>
                <a:latin typeface="Meiryo UI"/>
                <a:ea typeface="Meiryo UI"/>
                <a:cs typeface="Meiryo UI"/>
              </a:defRPr>
            </a:defPPr>
          </a:lstStyle>
          <a:p xmlns:a="http://schemas.openxmlformats.org/drawingml/2006/main">
            <a:pPr>
              <a:defRPr sz="2025" b="0">
                <a:solidFill>
                  <a:srgbClr val="176DA5"/>
                </a:solidFill>
                <a:latin typeface="Meiryo UI"/>
                <a:ea typeface="Meiryo UI"/>
                <a:cs typeface="Meiryo UI"/>
              </a:defRPr>
            </a:pPr>
            <a:r>
              <a:rPr u="sng">
                <a:solidFill>
                  <a:srgbClr val="176DA5"/>
                </a:solidFill>
                <a:latin typeface="Meiryo UI"/>
                <a:ea typeface="Meiryo UI"/>
                <a:cs typeface="Meiryo UI"/>
                <a:hlinkClick xmlns:r="http://schemas.openxmlformats.org/officeDocument/2006/relationships" r:id="Rc94970394b8949d0"/>
              </a:rPr>
              <a:t>RFC 9846 §6.2 Error Alerts</a:t>
            </a:r>
          </a:p>
        </p:txBody>
      </p:sp>
      <p:sp>
        <p:nvSpPr>
          <p:cNvPr id="4" name="text-4">
            <a:extLst xmlns:a="http://schemas.openxmlformats.org/drawingml/2006/main">
              <a:ext uri="{FF2B5EF4-FFF2-40B4-BE49-F238E27FC236}">
                <a16:creationId xmlns:a16="http://schemas.microsoft.com/office/drawing/2014/main" id="{F9F83A6E-0439-4284-96C3-DA11DC5912BE}"/>
              </a:ext>
            </a:extLst>
          </p:cNvPr>
          <p:cNvSpPr>
            <a:spLocks xmlns:a="http://schemas.openxmlformats.org/drawingml/2006/main" noGrp="1"/>
          </p:cNvSpPr>
          <p:nvPr/>
        </p:nvSpPr>
        <p:spPr>
          <a:xfrm xmlns:a="http://schemas.openxmlformats.org/drawingml/2006/main">
            <a:off x="609600" y="20764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6DA5"/>
                </a:solidFill>
                <a:latin typeface="Meiryo UI"/>
                <a:ea typeface="Meiryo UI"/>
                <a:cs typeface="Meiryo UI"/>
              </a:defRPr>
            </a:defPPr>
          </a:lstStyle>
          <a:p xmlns:a="http://schemas.openxmlformats.org/drawingml/2006/main">
            <a:pPr>
              <a:defRPr sz="2025" b="0">
                <a:solidFill>
                  <a:srgbClr val="176DA5"/>
                </a:solidFill>
                <a:latin typeface="Meiryo UI"/>
                <a:ea typeface="Meiryo UI"/>
                <a:cs typeface="Meiryo UI"/>
              </a:defRPr>
            </a:pPr>
            <a:r>
              <a:rPr u="sng">
                <a:solidFill>
                  <a:srgbClr val="176DA5"/>
                </a:solidFill>
                <a:latin typeface="Meiryo UI"/>
                <a:ea typeface="Meiryo UI"/>
                <a:cs typeface="Meiryo UI"/>
                <a:hlinkClick xmlns:r="http://schemas.openxmlformats.org/officeDocument/2006/relationships" r:id="R5c32ddad20524128"/>
              </a:rPr>
              <a:t>OpenJDK公式ソース　固定コミット</a:t>
            </a:r>
          </a:p>
        </p:txBody>
      </p:sp>
      <p:sp>
        <p:nvSpPr>
          <p:cNvPr id="5" name="text-5">
            <a:extLst xmlns:a="http://schemas.openxmlformats.org/drawingml/2006/main">
              <a:ext uri="{FF2B5EF4-FFF2-40B4-BE49-F238E27FC236}">
                <a16:creationId xmlns:a16="http://schemas.microsoft.com/office/drawing/2014/main" id="{3E39AF7A-7531-4793-80E8-09A293ECE03D}"/>
              </a:ext>
            </a:extLst>
          </p:cNvPr>
          <p:cNvSpPr>
            <a:spLocks xmlns:a="http://schemas.openxmlformats.org/drawingml/2006/main" noGrp="1"/>
          </p:cNvSpPr>
          <p:nvPr/>
        </p:nvSpPr>
        <p:spPr>
          <a:xfrm xmlns:a="http://schemas.openxmlformats.org/drawingml/2006/main">
            <a:off x="609600" y="26765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6DA5"/>
                </a:solidFill>
                <a:latin typeface="Meiryo UI"/>
                <a:ea typeface="Meiryo UI"/>
                <a:cs typeface="Meiryo UI"/>
              </a:defRPr>
            </a:defPPr>
          </a:lstStyle>
          <a:p xmlns:a="http://schemas.openxmlformats.org/drawingml/2006/main">
            <a:pPr>
              <a:defRPr sz="2025" b="0">
                <a:solidFill>
                  <a:srgbClr val="176DA5"/>
                </a:solidFill>
                <a:latin typeface="Meiryo UI"/>
                <a:ea typeface="Meiryo UI"/>
                <a:cs typeface="Meiryo UI"/>
              </a:defRPr>
            </a:pPr>
            <a:r>
              <a:rPr u="sng">
                <a:solidFill>
                  <a:srgbClr val="176DA5"/>
                </a:solidFill>
                <a:latin typeface="Meiryo UI"/>
                <a:ea typeface="Meiryo UI"/>
                <a:cs typeface="Meiryo UI"/>
                <a:hlinkClick xmlns:r="http://schemas.openxmlformats.org/officeDocument/2006/relationships" r:id="R664bf7c23d2f4b89"/>
              </a:rPr>
              <a:t>Alert.java　番号定義</a:t>
            </a:r>
          </a:p>
        </p:txBody>
      </p:sp>
      <p:sp>
        <p:nvSpPr>
          <p:cNvPr id="6" name="text-6">
            <a:extLst xmlns:a="http://schemas.openxmlformats.org/drawingml/2006/main">
              <a:ext uri="{FF2B5EF4-FFF2-40B4-BE49-F238E27FC236}">
                <a16:creationId xmlns:a16="http://schemas.microsoft.com/office/drawing/2014/main" id="{B45A1D8D-3FF1-4197-884A-620DCEDAC772}"/>
              </a:ext>
            </a:extLst>
          </p:cNvPr>
          <p:cNvSpPr>
            <a:spLocks xmlns:a="http://schemas.openxmlformats.org/drawingml/2006/main" noGrp="1"/>
          </p:cNvSpPr>
          <p:nvPr/>
        </p:nvSpPr>
        <p:spPr>
          <a:xfrm xmlns:a="http://schemas.openxmlformats.org/drawingml/2006/main">
            <a:off x="609600" y="32766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6DA5"/>
                </a:solidFill>
                <a:latin typeface="Meiryo UI"/>
                <a:ea typeface="Meiryo UI"/>
                <a:cs typeface="Meiryo UI"/>
              </a:defRPr>
            </a:defPPr>
          </a:lstStyle>
          <a:p xmlns:a="http://schemas.openxmlformats.org/drawingml/2006/main">
            <a:pPr>
              <a:defRPr sz="2025" b="0">
                <a:solidFill>
                  <a:srgbClr val="176DA5"/>
                </a:solidFill>
                <a:latin typeface="Meiryo UI"/>
                <a:ea typeface="Meiryo UI"/>
                <a:cs typeface="Meiryo UI"/>
              </a:defRPr>
            </a:pPr>
            <a:r>
              <a:rPr u="sng">
                <a:solidFill>
                  <a:srgbClr val="176DA5"/>
                </a:solidFill>
                <a:latin typeface="Meiryo UI"/>
                <a:ea typeface="Meiryo UI"/>
                <a:cs typeface="Meiryo UI"/>
                <a:hlinkClick xmlns:r="http://schemas.openxmlformats.org/officeDocument/2006/relationships" r:id="Rc1e8be75500c4b3c"/>
              </a:rPr>
              <a:t>TransportContext.java　共通送信処理</a:t>
            </a:r>
          </a:p>
        </p:txBody>
      </p:sp>
      <p:sp>
        <p:nvSpPr>
          <p:cNvPr id="7" name="text-7">
            <a:extLst xmlns:a="http://schemas.openxmlformats.org/drawingml/2006/main">
              <a:ext uri="{FF2B5EF4-FFF2-40B4-BE49-F238E27FC236}">
                <a16:creationId xmlns:a16="http://schemas.microsoft.com/office/drawing/2014/main" id="{FEB918F8-E1EC-46AA-BB8A-E18D621C6526}"/>
              </a:ext>
            </a:extLst>
          </p:cNvPr>
          <p:cNvSpPr>
            <a:spLocks xmlns:a="http://schemas.openxmlformats.org/drawingml/2006/main" noGrp="1"/>
          </p:cNvSpPr>
          <p:nvPr/>
        </p:nvSpPr>
        <p:spPr>
          <a:xfrm xmlns:a="http://schemas.openxmlformats.org/drawingml/2006/main">
            <a:off x="609600" y="38766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6DA5"/>
                </a:solidFill>
                <a:latin typeface="Meiryo UI"/>
                <a:ea typeface="Meiryo UI"/>
                <a:cs typeface="Meiryo UI"/>
              </a:defRPr>
            </a:defPPr>
          </a:lstStyle>
          <a:p xmlns:a="http://schemas.openxmlformats.org/drawingml/2006/main">
            <a:pPr>
              <a:defRPr sz="2025" b="0">
                <a:solidFill>
                  <a:srgbClr val="176DA5"/>
                </a:solidFill>
                <a:latin typeface="Meiryo UI"/>
                <a:ea typeface="Meiryo UI"/>
                <a:cs typeface="Meiryo UI"/>
              </a:defRPr>
            </a:pPr>
            <a:r>
              <a:rPr u="sng">
                <a:solidFill>
                  <a:srgbClr val="176DA5"/>
                </a:solidFill>
                <a:latin typeface="Meiryo UI"/>
                <a:ea typeface="Meiryo UI"/>
                <a:cs typeface="Meiryo UI"/>
                <a:hlinkClick xmlns:r="http://schemas.openxmlformats.org/officeDocument/2006/relationships" r:id="R79c37171fd434bdd"/>
              </a:rPr>
              <a:t>RFC 2119　MUST／SHOULD／OPTIONAL</a:t>
            </a:r>
          </a:p>
        </p:txBody>
      </p:sp>
      <p:sp>
        <p:nvSpPr>
          <p:cNvPr id="8" name="text-8">
            <a:extLst xmlns:a="http://schemas.openxmlformats.org/drawingml/2006/main">
              <a:ext uri="{FF2B5EF4-FFF2-40B4-BE49-F238E27FC236}">
                <a16:creationId xmlns:a16="http://schemas.microsoft.com/office/drawing/2014/main" id="{956E7063-48F9-4CC8-ACE5-330C53BBA542}"/>
              </a:ext>
            </a:extLst>
          </p:cNvPr>
          <p:cNvSpPr>
            <a:spLocks xmlns:a="http://schemas.openxmlformats.org/drawingml/2006/main" noGrp="1"/>
          </p:cNvSpPr>
          <p:nvPr/>
        </p:nvSpPr>
        <p:spPr>
          <a:xfrm xmlns:a="http://schemas.openxmlformats.org/drawingml/2006/main">
            <a:off x="609600" y="44767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6DA5"/>
                </a:solidFill>
                <a:latin typeface="Meiryo UI"/>
                <a:ea typeface="Meiryo UI"/>
                <a:cs typeface="Meiryo UI"/>
              </a:defRPr>
            </a:defPPr>
          </a:lstStyle>
          <a:p xmlns:a="http://schemas.openxmlformats.org/drawingml/2006/main">
            <a:pPr>
              <a:defRPr sz="2025" b="0">
                <a:solidFill>
                  <a:srgbClr val="176DA5"/>
                </a:solidFill>
                <a:latin typeface="Meiryo UI"/>
                <a:ea typeface="Meiryo UI"/>
                <a:cs typeface="Meiryo UI"/>
              </a:defRPr>
            </a:pPr>
            <a:r>
              <a:rPr u="sng">
                <a:solidFill>
                  <a:srgbClr val="176DA5"/>
                </a:solidFill>
                <a:latin typeface="Meiryo UI"/>
                <a:ea typeface="Meiryo UI"/>
                <a:cs typeface="Meiryo UI"/>
                <a:hlinkClick xmlns:r="http://schemas.openxmlformats.org/officeDocument/2006/relationships" r:id="R8bdc2e3bb2e94ce9"/>
              </a:rPr>
              <a:t>RFC 7507 §3　Fallback SCSV</a:t>
            </a:r>
          </a:p>
        </p:txBody>
      </p:sp>
      <p:sp>
        <p:nvSpPr>
          <p:cNvPr id="9" name="text-9">
            <a:extLst xmlns:a="http://schemas.openxmlformats.org/drawingml/2006/main">
              <a:ext uri="{FF2B5EF4-FFF2-40B4-BE49-F238E27FC236}">
                <a16:creationId xmlns:a16="http://schemas.microsoft.com/office/drawing/2014/main" id="{0BC6B054-B4B8-4234-99B0-0360BB8D2EC2}"/>
              </a:ext>
            </a:extLst>
          </p:cNvPr>
          <p:cNvSpPr>
            <a:spLocks xmlns:a="http://schemas.openxmlformats.org/drawingml/2006/main" noGrp="1"/>
          </p:cNvSpPr>
          <p:nvPr/>
        </p:nvSpPr>
        <p:spPr>
          <a:xfrm xmlns:a="http://schemas.openxmlformats.org/drawingml/2006/main">
            <a:off x="609600" y="538162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B2E43"/>
                </a:solidFill>
                <a:latin typeface="Meiryo UI"/>
                <a:ea typeface="Meiryo UI"/>
                <a:cs typeface="Meiryo UI"/>
              </a:defRPr>
            </a:defPPr>
          </a:lstStyle>
          <a:p xmlns:a="http://schemas.openxmlformats.org/drawingml/2006/main">
            <a:pPr>
              <a:lnSpc>
                <a:spcPct val="110000"/>
              </a:lnSpc>
              <a:buNone/>
              <a:defRPr sz="1875" b="0">
                <a:solidFill>
                  <a:srgbClr val="1B2E43"/>
                </a:solidFill>
                <a:latin typeface="Meiryo UI"/>
                <a:ea typeface="Meiryo UI"/>
                <a:cs typeface="Meiryo UI"/>
              </a:defRPr>
            </a:pPr>
            <a:r>
              <a:rPr sz="1875" b="0">
                <a:solidFill>
                  <a:srgbClr val="1B2E43"/>
                </a:solidFill>
                <a:latin typeface="Meiryo UI"/>
                <a:ea typeface="Meiryo UI"/>
                <a:cs typeface="Meiryo UI"/>
              </a:rPr>
              <a:t>各一覧の根拠欄からRFC・ソース・定義を参照できる。</a:t>
            </a:r>
          </a:p>
          <a:p xmlns:a="http://schemas.openxmlformats.org/drawingml/2006/main">
            <a:pPr>
              <a:lnSpc>
                <a:spcPct val="110000"/>
              </a:lnSpc>
              <a:buNone/>
              <a:defRPr sz="1875" b="0">
                <a:solidFill>
                  <a:srgbClr val="1B2E43"/>
                </a:solidFill>
                <a:latin typeface="Meiryo UI"/>
                <a:ea typeface="Meiryo UI"/>
                <a:cs typeface="Meiryo UI"/>
              </a:defRPr>
            </a:pPr>
            <a:r>
              <a:rPr sz="1875" b="0">
                <a:solidFill>
                  <a:srgbClr val="1B2E43"/>
                </a:solidFill>
                <a:latin typeface="Meiryo UI"/>
                <a:ea typeface="Meiryo UI"/>
                <a:cs typeface="Meiryo UI"/>
              </a:rPr>
              <a:t>発表者ノートには詳細理由、完全な根拠URL、484件の参照索引を収録。</a:t>
            </a:r>
          </a:p>
        </p:txBody>
      </p:sp>
    </p:spTree>
    <p:extLst>
      <p:ext uri="{BB962C8B-B14F-4D97-AF65-F5344CB8AC3E}">
        <p14:creationId xmlns:p14="http://schemas.microsoft.com/office/powerpoint/2010/main" val="14671942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2026-10-14T14:04:56.2430000Z</dcterms:created>
  <dcterms:modified xsi:type="dcterms:W3CDTF">2026-10-14T14:04:56.2430000Z</dcterms:modified>
</coreProperties>
</file>